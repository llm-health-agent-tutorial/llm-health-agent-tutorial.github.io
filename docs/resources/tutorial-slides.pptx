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5875c33de974cb1" /><Relationship Type="http://schemas.openxmlformats.org/officeDocument/2006/relationships/extended-properties" Target="/docProps/app.xml" Id="Rae9c46cc38944f96" /><Relationship Type="http://schemas.openxmlformats.org/officeDocument/2006/relationships/officeDocument" Target="/ppt/presentation.xml" Id="Rad18cc13530c4602" /></Relationships>
</file>

<file path=ppt/presentation.xml><?xml version="1.0" encoding="utf-8"?>
<p:presentation xmlns:p="http://schemas.openxmlformats.org/presentationml/2006/main">
  <p:sldMasterIdLst>
    <p:sldMasterId xmlns:r="http://schemas.openxmlformats.org/officeDocument/2006/relationships" id="2147483648" r:id="R60f436e989fd4daf"/>
  </p:sldMasterIdLst>
  <p:notesMasterIdLst>
    <p:notesMasterId xmlns:r="http://schemas.openxmlformats.org/officeDocument/2006/relationships" r:id="R80a088a41e534d6b"/>
  </p:notesMasterIdLst>
  <p:sldIdLst>
    <p:sldId xmlns:r="http://schemas.openxmlformats.org/officeDocument/2006/relationships" id="256" r:id="Re100f15a4c654bae"/>
    <p:sldId xmlns:r="http://schemas.openxmlformats.org/officeDocument/2006/relationships" id="257" r:id="R56cff1429bb24dfc"/>
    <p:sldId xmlns:r="http://schemas.openxmlformats.org/officeDocument/2006/relationships" id="258" r:id="Rf6d455843672425a"/>
    <p:sldId xmlns:r="http://schemas.openxmlformats.org/officeDocument/2006/relationships" id="259" r:id="Ra727f5834e1c4993"/>
    <p:sldId xmlns:r="http://schemas.openxmlformats.org/officeDocument/2006/relationships" id="260" r:id="R7af163dcd94d4ac3"/>
    <p:sldId xmlns:r="http://schemas.openxmlformats.org/officeDocument/2006/relationships" id="261" r:id="R58fd139db74c456a"/>
    <p:sldId xmlns:r="http://schemas.openxmlformats.org/officeDocument/2006/relationships" id="262" r:id="R4dc34f3840254ce8"/>
    <p:sldId xmlns:r="http://schemas.openxmlformats.org/officeDocument/2006/relationships" id="263" r:id="R714203b417ba4a1e"/>
    <p:sldId xmlns:r="http://schemas.openxmlformats.org/officeDocument/2006/relationships" id="264" r:id="R4bb48f035d7743fa"/>
    <p:sldId xmlns:r="http://schemas.openxmlformats.org/officeDocument/2006/relationships" id="265" r:id="R39c041031aa04f46"/>
    <p:sldId xmlns:r="http://schemas.openxmlformats.org/officeDocument/2006/relationships" id="266" r:id="Re2b4e89d61664fc9"/>
    <p:sldId xmlns:r="http://schemas.openxmlformats.org/officeDocument/2006/relationships" id="267" r:id="R34c6e3a35c464113"/>
    <p:sldId xmlns:r="http://schemas.openxmlformats.org/officeDocument/2006/relationships" id="268" r:id="Rc3aa5f6198e44c37"/>
    <p:sldId xmlns:r="http://schemas.openxmlformats.org/officeDocument/2006/relationships" id="269" r:id="Re44237c965a74f6f"/>
    <p:sldId xmlns:r="http://schemas.openxmlformats.org/officeDocument/2006/relationships" id="270" r:id="R553a28e151ec4add"/>
    <p:sldId xmlns:r="http://schemas.openxmlformats.org/officeDocument/2006/relationships" id="271" r:id="R02fa128da53f48db"/>
    <p:sldId xmlns:r="http://schemas.openxmlformats.org/officeDocument/2006/relationships" id="272" r:id="R9e34b5ed958d4cce"/>
    <p:sldId xmlns:r="http://schemas.openxmlformats.org/officeDocument/2006/relationships" id="273" r:id="Rf5d44b5b2a5f47e9"/>
    <p:sldId xmlns:r="http://schemas.openxmlformats.org/officeDocument/2006/relationships" id="274" r:id="R82d29d21484142a1"/>
    <p:sldId xmlns:r="http://schemas.openxmlformats.org/officeDocument/2006/relationships" id="275" r:id="R52d30c9ee4ad4461"/>
    <p:sldId xmlns:r="http://schemas.openxmlformats.org/officeDocument/2006/relationships" id="276" r:id="Rdc8621058c754cd4"/>
    <p:sldId xmlns:r="http://schemas.openxmlformats.org/officeDocument/2006/relationships" id="277" r:id="R585e4ad3b4b64fc2"/>
    <p:sldId xmlns:r="http://schemas.openxmlformats.org/officeDocument/2006/relationships" id="278" r:id="R998c40c819d34832"/>
    <p:sldId xmlns:r="http://schemas.openxmlformats.org/officeDocument/2006/relationships" id="279" r:id="Re088c3a263b54828"/>
    <p:sldId xmlns:r="http://schemas.openxmlformats.org/officeDocument/2006/relationships" id="280" r:id="R290e859f52114f4a"/>
    <p:sldId xmlns:r="http://schemas.openxmlformats.org/officeDocument/2006/relationships" id="281" r:id="R6877142f0fa649b0"/>
    <p:sldId xmlns:r="http://schemas.openxmlformats.org/officeDocument/2006/relationships" id="282" r:id="R4dc6b58b873948b4"/>
    <p:sldId xmlns:r="http://schemas.openxmlformats.org/officeDocument/2006/relationships" id="283" r:id="R0da347f0f37741b3"/>
    <p:sldId xmlns:r="http://schemas.openxmlformats.org/officeDocument/2006/relationships" id="284" r:id="R0a1a04e4b2284819"/>
    <p:sldId xmlns:r="http://schemas.openxmlformats.org/officeDocument/2006/relationships" id="285" r:id="Rbdd38626386941d5"/>
    <p:sldId xmlns:r="http://schemas.openxmlformats.org/officeDocument/2006/relationships" id="286" r:id="R657c9f7572334a80"/>
    <p:sldId xmlns:r="http://schemas.openxmlformats.org/officeDocument/2006/relationships" id="287" r:id="R331426980b854591"/>
    <p:sldId xmlns:r="http://schemas.openxmlformats.org/officeDocument/2006/relationships" id="288" r:id="R97d331599c33402e"/>
    <p:sldId xmlns:r="http://schemas.openxmlformats.org/officeDocument/2006/relationships" id="289" r:id="R59b25bbdd65747cf"/>
    <p:sldId xmlns:r="http://schemas.openxmlformats.org/officeDocument/2006/relationships" id="290" r:id="Rf4da452177f44b17"/>
    <p:sldId xmlns:r="http://schemas.openxmlformats.org/officeDocument/2006/relationships" id="291" r:id="Rc9f12a1c34e3491f"/>
    <p:sldId xmlns:r="http://schemas.openxmlformats.org/officeDocument/2006/relationships" id="292" r:id="R7ac3df5a73764dd9"/>
    <p:sldId xmlns:r="http://schemas.openxmlformats.org/officeDocument/2006/relationships" id="293" r:id="R16c1022a0fe44318"/>
    <p:sldId xmlns:r="http://schemas.openxmlformats.org/officeDocument/2006/relationships" id="294" r:id="R2a020db9917741c3"/>
    <p:sldId xmlns:r="http://schemas.openxmlformats.org/officeDocument/2006/relationships" id="295" r:id="Rd1632808bfb648c1"/>
    <p:sldId xmlns:r="http://schemas.openxmlformats.org/officeDocument/2006/relationships" id="296" r:id="R396a8ba204da42d4"/>
    <p:sldId xmlns:r="http://schemas.openxmlformats.org/officeDocument/2006/relationships" id="297" r:id="Re946369912124bed"/>
    <p:sldId xmlns:r="http://schemas.openxmlformats.org/officeDocument/2006/relationships" id="298" r:id="Ra24de027db3346a3"/>
    <p:sldId xmlns:r="http://schemas.openxmlformats.org/officeDocument/2006/relationships" id="299" r:id="Rdc0e2597d93d4e3f"/>
    <p:sldId xmlns:r="http://schemas.openxmlformats.org/officeDocument/2006/relationships" id="300" r:id="R1d116c0defea4346"/>
    <p:sldId xmlns:r="http://schemas.openxmlformats.org/officeDocument/2006/relationships" id="301" r:id="R5d627679969c4425"/>
    <p:sldId xmlns:r="http://schemas.openxmlformats.org/officeDocument/2006/relationships" id="302" r:id="R15d5782aadbc497b"/>
    <p:sldId xmlns:r="http://schemas.openxmlformats.org/officeDocument/2006/relationships" id="303" r:id="R44c35273a7804bfe"/>
    <p:sldId xmlns:r="http://schemas.openxmlformats.org/officeDocument/2006/relationships" id="304" r:id="R9a2a1df7a825490a"/>
    <p:sldId xmlns:r="http://schemas.openxmlformats.org/officeDocument/2006/relationships" id="305" r:id="R9d351d0baa6246d4"/>
    <p:sldId xmlns:r="http://schemas.openxmlformats.org/officeDocument/2006/relationships" id="306" r:id="Rab389126d8ed42a0"/>
    <p:sldId xmlns:r="http://schemas.openxmlformats.org/officeDocument/2006/relationships" id="307" r:id="R4b179dc422854c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2fe63b40aa44a9" /><Relationship Type="http://schemas.openxmlformats.org/officeDocument/2006/relationships/slideMaster" Target="/ppt/slideMasters/slideMaster1.xml" Id="R60f436e989fd4daf" /><Relationship Type="http://schemas.openxmlformats.org/officeDocument/2006/relationships/notesMaster" Target="/ppt/notesMasters/notesMaster1.xml" Id="R80a088a41e534d6b" /><Relationship Type="http://schemas.openxmlformats.org/officeDocument/2006/relationships/presProps" Target="/ppt/presProps.xml" Id="Rfc0a8b5dee6e467c" /><Relationship Type="http://schemas.openxmlformats.org/officeDocument/2006/relationships/tableStyles" Target="/ppt/tableStyles.xml" Id="Ra0fa322a4c844cfe" /><Relationship Type="http://schemas.openxmlformats.org/officeDocument/2006/relationships/slide" Target="/ppt/slides/slide1.xml" Id="Re100f15a4c654bae" /><Relationship Type="http://schemas.openxmlformats.org/officeDocument/2006/relationships/slide" Target="/ppt/slides/slide2.xml" Id="R56cff1429bb24dfc" /><Relationship Type="http://schemas.openxmlformats.org/officeDocument/2006/relationships/slide" Target="/ppt/slides/slide3.xml" Id="Rf6d455843672425a" /><Relationship Type="http://schemas.openxmlformats.org/officeDocument/2006/relationships/slide" Target="/ppt/slides/slide4.xml" Id="Ra727f5834e1c4993" /><Relationship Type="http://schemas.openxmlformats.org/officeDocument/2006/relationships/slide" Target="/ppt/slides/slide5.xml" Id="R7af163dcd94d4ac3" /><Relationship Type="http://schemas.openxmlformats.org/officeDocument/2006/relationships/slide" Target="/ppt/slides/slide6.xml" Id="R58fd139db74c456a" /><Relationship Type="http://schemas.openxmlformats.org/officeDocument/2006/relationships/slide" Target="/ppt/slides/slide7.xml" Id="R4dc34f3840254ce8" /><Relationship Type="http://schemas.openxmlformats.org/officeDocument/2006/relationships/slide" Target="/ppt/slides/slide8.xml" Id="R714203b417ba4a1e" /><Relationship Type="http://schemas.openxmlformats.org/officeDocument/2006/relationships/slide" Target="/ppt/slides/slide9.xml" Id="R4bb48f035d7743fa" /><Relationship Type="http://schemas.openxmlformats.org/officeDocument/2006/relationships/slide" Target="/ppt/slides/slide10.xml" Id="R39c041031aa04f46" /><Relationship Type="http://schemas.openxmlformats.org/officeDocument/2006/relationships/slide" Target="/ppt/slides/slide11.xml" Id="Re2b4e89d61664fc9" /><Relationship Type="http://schemas.openxmlformats.org/officeDocument/2006/relationships/slide" Target="/ppt/slides/slide12.xml" Id="R34c6e3a35c464113" /><Relationship Type="http://schemas.openxmlformats.org/officeDocument/2006/relationships/slide" Target="/ppt/slides/slide13.xml" Id="Rc3aa5f6198e44c37" /><Relationship Type="http://schemas.openxmlformats.org/officeDocument/2006/relationships/slide" Target="/ppt/slides/slide14.xml" Id="Re44237c965a74f6f" /><Relationship Type="http://schemas.openxmlformats.org/officeDocument/2006/relationships/slide" Target="/ppt/slides/slide15.xml" Id="R553a28e151ec4add" /><Relationship Type="http://schemas.openxmlformats.org/officeDocument/2006/relationships/slide" Target="/ppt/slides/slide16.xml" Id="R02fa128da53f48db" /><Relationship Type="http://schemas.openxmlformats.org/officeDocument/2006/relationships/slide" Target="/ppt/slides/slide17.xml" Id="R9e34b5ed958d4cce" /><Relationship Type="http://schemas.openxmlformats.org/officeDocument/2006/relationships/slide" Target="/ppt/slides/slide18.xml" Id="Rf5d44b5b2a5f47e9" /><Relationship Type="http://schemas.openxmlformats.org/officeDocument/2006/relationships/slide" Target="/ppt/slides/slide19.xml" Id="R82d29d21484142a1" /><Relationship Type="http://schemas.openxmlformats.org/officeDocument/2006/relationships/slide" Target="/ppt/slides/slide20.xml" Id="R52d30c9ee4ad4461" /><Relationship Type="http://schemas.openxmlformats.org/officeDocument/2006/relationships/slide" Target="/ppt/slides/slide21.xml" Id="Rdc8621058c754cd4" /><Relationship Type="http://schemas.openxmlformats.org/officeDocument/2006/relationships/slide" Target="/ppt/slides/slide22.xml" Id="R585e4ad3b4b64fc2" /><Relationship Type="http://schemas.openxmlformats.org/officeDocument/2006/relationships/slide" Target="/ppt/slides/slide23.xml" Id="R998c40c819d34832" /><Relationship Type="http://schemas.openxmlformats.org/officeDocument/2006/relationships/slide" Target="/ppt/slides/slide24.xml" Id="Re088c3a263b54828" /><Relationship Type="http://schemas.openxmlformats.org/officeDocument/2006/relationships/slide" Target="/ppt/slides/slide25.xml" Id="R290e859f52114f4a" /><Relationship Type="http://schemas.openxmlformats.org/officeDocument/2006/relationships/slide" Target="/ppt/slides/slide26.xml" Id="R6877142f0fa649b0" /><Relationship Type="http://schemas.openxmlformats.org/officeDocument/2006/relationships/slide" Target="/ppt/slides/slide27.xml" Id="R4dc6b58b873948b4" /><Relationship Type="http://schemas.openxmlformats.org/officeDocument/2006/relationships/slide" Target="/ppt/slides/slide28.xml" Id="R0da347f0f37741b3" /><Relationship Type="http://schemas.openxmlformats.org/officeDocument/2006/relationships/slide" Target="/ppt/slides/slide29.xml" Id="R0a1a04e4b2284819" /><Relationship Type="http://schemas.openxmlformats.org/officeDocument/2006/relationships/slide" Target="/ppt/slides/slide30.xml" Id="Rbdd38626386941d5" /><Relationship Type="http://schemas.openxmlformats.org/officeDocument/2006/relationships/slide" Target="/ppt/slides/slide31.xml" Id="R657c9f7572334a80" /><Relationship Type="http://schemas.openxmlformats.org/officeDocument/2006/relationships/slide" Target="/ppt/slides/slide32.xml" Id="R331426980b854591" /><Relationship Type="http://schemas.openxmlformats.org/officeDocument/2006/relationships/slide" Target="/ppt/slides/slide33.xml" Id="R97d331599c33402e" /><Relationship Type="http://schemas.openxmlformats.org/officeDocument/2006/relationships/slide" Target="/ppt/slides/slide34.xml" Id="R59b25bbdd65747cf" /><Relationship Type="http://schemas.openxmlformats.org/officeDocument/2006/relationships/slide" Target="/ppt/slides/slide35.xml" Id="Rf4da452177f44b17" /><Relationship Type="http://schemas.openxmlformats.org/officeDocument/2006/relationships/slide" Target="/ppt/slides/slide36.xml" Id="Rc9f12a1c34e3491f" /><Relationship Type="http://schemas.openxmlformats.org/officeDocument/2006/relationships/slide" Target="/ppt/slides/slide37.xml" Id="R7ac3df5a73764dd9" /><Relationship Type="http://schemas.openxmlformats.org/officeDocument/2006/relationships/slide" Target="/ppt/slides/slide38.xml" Id="R16c1022a0fe44318" /><Relationship Type="http://schemas.openxmlformats.org/officeDocument/2006/relationships/slide" Target="/ppt/slides/slide39.xml" Id="R2a020db9917741c3" /><Relationship Type="http://schemas.openxmlformats.org/officeDocument/2006/relationships/slide" Target="/ppt/slides/slide40.xml" Id="Rd1632808bfb648c1" /><Relationship Type="http://schemas.openxmlformats.org/officeDocument/2006/relationships/slide" Target="/ppt/slides/slide41.xml" Id="R396a8ba204da42d4" /><Relationship Type="http://schemas.openxmlformats.org/officeDocument/2006/relationships/slide" Target="/ppt/slides/slide42.xml" Id="Re946369912124bed" /><Relationship Type="http://schemas.openxmlformats.org/officeDocument/2006/relationships/slide" Target="/ppt/slides/slide43.xml" Id="Ra24de027db3346a3" /><Relationship Type="http://schemas.openxmlformats.org/officeDocument/2006/relationships/slide" Target="/ppt/slides/slide44.xml" Id="Rdc0e2597d93d4e3f" /><Relationship Type="http://schemas.openxmlformats.org/officeDocument/2006/relationships/slide" Target="/ppt/slides/slide45.xml" Id="R1d116c0defea4346" /><Relationship Type="http://schemas.openxmlformats.org/officeDocument/2006/relationships/slide" Target="/ppt/slides/slide46.xml" Id="R5d627679969c4425" /><Relationship Type="http://schemas.openxmlformats.org/officeDocument/2006/relationships/slide" Target="/ppt/slides/slide47.xml" Id="R15d5782aadbc497b" /><Relationship Type="http://schemas.openxmlformats.org/officeDocument/2006/relationships/slide" Target="/ppt/slides/slide48.xml" Id="R44c35273a7804bfe" /><Relationship Type="http://schemas.openxmlformats.org/officeDocument/2006/relationships/slide" Target="/ppt/slides/slide49.xml" Id="R9a2a1df7a825490a" /><Relationship Type="http://schemas.openxmlformats.org/officeDocument/2006/relationships/slide" Target="/ppt/slides/slide50.xml" Id="R9d351d0baa6246d4" /><Relationship Type="http://schemas.openxmlformats.org/officeDocument/2006/relationships/slide" Target="/ppt/slides/slide51.xml" Id="Rab389126d8ed42a0" /><Relationship Type="http://schemas.openxmlformats.org/officeDocument/2006/relationships/slide" Target="/ppt/slides/slide52.xml" Id="R4b179dc422854c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bfb80f212b4b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fa31bb4a3241c4" /><Relationship Type="http://schemas.openxmlformats.org/officeDocument/2006/relationships/notesMaster" Target="/ppt/notesMasters/notesMaster1.xml" Id="R9d69d6dd8b8845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d0137d61114168" /><Relationship Type="http://schemas.openxmlformats.org/officeDocument/2006/relationships/notesMaster" Target="/ppt/notesMasters/notesMaster1.xml" Id="Rf8dbbf34580945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a6d813967c4a11" /><Relationship Type="http://schemas.openxmlformats.org/officeDocument/2006/relationships/notesMaster" Target="/ppt/notesMasters/notesMaster1.xml" Id="R89f79be8bc6541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68ed0495f34870" /><Relationship Type="http://schemas.openxmlformats.org/officeDocument/2006/relationships/notesMaster" Target="/ppt/notesMasters/notesMaster1.xml" Id="Re9adc05f1fa945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34bce9e83f45df" /><Relationship Type="http://schemas.openxmlformats.org/officeDocument/2006/relationships/notesMaster" Target="/ppt/notesMasters/notesMaster1.xml" Id="R6a60c551c39848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bad231d1a04a84" /><Relationship Type="http://schemas.openxmlformats.org/officeDocument/2006/relationships/notesMaster" Target="/ppt/notesMasters/notesMaster1.xml" Id="Rff283655137b44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7066d0a38a45e9" /><Relationship Type="http://schemas.openxmlformats.org/officeDocument/2006/relationships/notesMaster" Target="/ppt/notesMasters/notesMaster1.xml" Id="Rea03f0b11d4a45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ca3c6f4e454c19" /><Relationship Type="http://schemas.openxmlformats.org/officeDocument/2006/relationships/notesMaster" Target="/ppt/notesMasters/notesMaster1.xml" Id="R1a2f4fb844f14b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bef6a4fc894d5e" /><Relationship Type="http://schemas.openxmlformats.org/officeDocument/2006/relationships/notesMaster" Target="/ppt/notesMasters/notesMaster1.xml" Id="R464b494cb74e4f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26347ec00344d4" /><Relationship Type="http://schemas.openxmlformats.org/officeDocument/2006/relationships/notesMaster" Target="/ppt/notesMasters/notesMaster1.xml" Id="R6507548352b840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30f42749ad42c2" /><Relationship Type="http://schemas.openxmlformats.org/officeDocument/2006/relationships/notesMaster" Target="/ppt/notesMasters/notesMaster1.xml" Id="R0186c522bfe347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775ae3cb7f4fef" /><Relationship Type="http://schemas.openxmlformats.org/officeDocument/2006/relationships/notesMaster" Target="/ppt/notesMasters/notesMaster1.xml" Id="Rf19328e1e95a4c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db620e1f1c4598" /><Relationship Type="http://schemas.openxmlformats.org/officeDocument/2006/relationships/notesMaster" Target="/ppt/notesMasters/notesMaster1.xml" Id="R074813a84d9546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3868e20ad4223" /><Relationship Type="http://schemas.openxmlformats.org/officeDocument/2006/relationships/notesMaster" Target="/ppt/notesMasters/notesMaster1.xml" Id="R66b1f2c8a0ff4a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ab512022f94540" /><Relationship Type="http://schemas.openxmlformats.org/officeDocument/2006/relationships/notesMaster" Target="/ppt/notesMasters/notesMaster1.xml" Id="R0afc9b835f5b4b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3e880a37de4afd" /><Relationship Type="http://schemas.openxmlformats.org/officeDocument/2006/relationships/notesMaster" Target="/ppt/notesMasters/notesMaster1.xml" Id="R175ce09de2fd40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44d2e0a94746b2" /><Relationship Type="http://schemas.openxmlformats.org/officeDocument/2006/relationships/notesMaster" Target="/ppt/notesMasters/notesMaster1.xml" Id="R1e90e7a5afb54c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fa2d0a35944c9d" /><Relationship Type="http://schemas.openxmlformats.org/officeDocument/2006/relationships/notesMaster" Target="/ppt/notesMasters/notesMaster1.xml" Id="R3ec580dc02044d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f8f061725a4c95" /><Relationship Type="http://schemas.openxmlformats.org/officeDocument/2006/relationships/notesMaster" Target="/ppt/notesMasters/notesMaster1.xml" Id="R7690f92b12ed45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95b1d29cec4728" /><Relationship Type="http://schemas.openxmlformats.org/officeDocument/2006/relationships/notesMaster" Target="/ppt/notesMasters/notesMaster1.xml" Id="Red56aedd6d6b45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aa1441b5e4418e" /><Relationship Type="http://schemas.openxmlformats.org/officeDocument/2006/relationships/notesMaster" Target="/ppt/notesMasters/notesMaster1.xml" Id="Re5461d74dad645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ced9b4051c452e" /><Relationship Type="http://schemas.openxmlformats.org/officeDocument/2006/relationships/notesMaster" Target="/ppt/notesMasters/notesMaster1.xml" Id="Ra3588ba7be164f9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1a7bd0e982348ec" /><Relationship Type="http://schemas.openxmlformats.org/officeDocument/2006/relationships/notesMaster" Target="/ppt/notesMasters/notesMaster1.xml" Id="R9ac03cc950a34d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5c1ab189c94ca0" /><Relationship Type="http://schemas.openxmlformats.org/officeDocument/2006/relationships/notesMaster" Target="/ppt/notesMasters/notesMaster1.xml" Id="R0d42c1dd6b434ec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1cfd467c664831" /><Relationship Type="http://schemas.openxmlformats.org/officeDocument/2006/relationships/notesMaster" Target="/ppt/notesMasters/notesMaster1.xml" Id="R6c4d1067d89f46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d9adcd9ef54ff1" /><Relationship Type="http://schemas.openxmlformats.org/officeDocument/2006/relationships/notesMaster" Target="/ppt/notesMasters/notesMaster1.xml" Id="R674ce866f0964aa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5607e2909ea469e" /><Relationship Type="http://schemas.openxmlformats.org/officeDocument/2006/relationships/notesMaster" Target="/ppt/notesMasters/notesMaster1.xml" Id="R49d28711e00b49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5b3b51cea64976" /><Relationship Type="http://schemas.openxmlformats.org/officeDocument/2006/relationships/notesMaster" Target="/ppt/notesMasters/notesMaster1.xml" Id="R631d671585f14e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1202a816064c21" /><Relationship Type="http://schemas.openxmlformats.org/officeDocument/2006/relationships/notesMaster" Target="/ppt/notesMasters/notesMaster1.xml" Id="R98a8da910934413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1b5964d19049f8" /><Relationship Type="http://schemas.openxmlformats.org/officeDocument/2006/relationships/notesMaster" Target="/ppt/notesMasters/notesMaster1.xml" Id="R6cbab9605d0f436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501741f0c3f4631" /><Relationship Type="http://schemas.openxmlformats.org/officeDocument/2006/relationships/notesMaster" Target="/ppt/notesMasters/notesMaster1.xml" Id="R8a2f8c04c4da4ca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321c7fe10284559" /><Relationship Type="http://schemas.openxmlformats.org/officeDocument/2006/relationships/notesMaster" Target="/ppt/notesMasters/notesMaster1.xml" Id="R2882a3d0e1f847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12068ad26264fb9" /><Relationship Type="http://schemas.openxmlformats.org/officeDocument/2006/relationships/notesMaster" Target="/ppt/notesMasters/notesMaster1.xml" Id="R0e3f3750306f42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a43c36997e54089" /><Relationship Type="http://schemas.openxmlformats.org/officeDocument/2006/relationships/notesMaster" Target="/ppt/notesMasters/notesMaster1.xml" Id="Rabce37d418d444c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c721d2636447c9" /><Relationship Type="http://schemas.openxmlformats.org/officeDocument/2006/relationships/notesMaster" Target="/ppt/notesMasters/notesMaster1.xml" Id="R46c9a8709ef04e2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7b7de3b67604557" /><Relationship Type="http://schemas.openxmlformats.org/officeDocument/2006/relationships/notesMaster" Target="/ppt/notesMasters/notesMaster1.xml" Id="R5668cf163a8e4d5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7ea7b76c9ac465f" /><Relationship Type="http://schemas.openxmlformats.org/officeDocument/2006/relationships/notesMaster" Target="/ppt/notesMasters/notesMaster1.xml" Id="Rf0226d369f79466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26726b6c294b86" /><Relationship Type="http://schemas.openxmlformats.org/officeDocument/2006/relationships/notesMaster" Target="/ppt/notesMasters/notesMaster1.xml" Id="R7e6309ee3d3d464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9081ee15c5480e" /><Relationship Type="http://schemas.openxmlformats.org/officeDocument/2006/relationships/notesMaster" Target="/ppt/notesMasters/notesMaster1.xml" Id="R91ef0a8673ad420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8bddd04908b440b" /><Relationship Type="http://schemas.openxmlformats.org/officeDocument/2006/relationships/notesMaster" Target="/ppt/notesMasters/notesMaster1.xml" Id="Ra477afe631424c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c521fa55b2d4d46" /><Relationship Type="http://schemas.openxmlformats.org/officeDocument/2006/relationships/notesMaster" Target="/ppt/notesMasters/notesMaster1.xml" Id="R09e6b1a7b4e74dd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ea34aed2c64238" /><Relationship Type="http://schemas.openxmlformats.org/officeDocument/2006/relationships/notesMaster" Target="/ppt/notesMasters/notesMaster1.xml" Id="R305658a53f65419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11589ad23394b06" /><Relationship Type="http://schemas.openxmlformats.org/officeDocument/2006/relationships/notesMaster" Target="/ppt/notesMasters/notesMaster1.xml" Id="R076ca99d0187490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0b7837519a54d99" /><Relationship Type="http://schemas.openxmlformats.org/officeDocument/2006/relationships/notesMaster" Target="/ppt/notesMasters/notesMaster1.xml" Id="R4b2fe85e2b154ad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a702af0dd7e47ac" /><Relationship Type="http://schemas.openxmlformats.org/officeDocument/2006/relationships/notesMaster" Target="/ppt/notesMasters/notesMaster1.xml" Id="R5ab03a3a133c431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e5ba94c7f2b445d" /><Relationship Type="http://schemas.openxmlformats.org/officeDocument/2006/relationships/notesMaster" Target="/ppt/notesMasters/notesMaster1.xml" Id="R9bd17fa1082c4ad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588dd23e6cf41c3" /><Relationship Type="http://schemas.openxmlformats.org/officeDocument/2006/relationships/notesMaster" Target="/ppt/notesMasters/notesMaster1.xml" Id="R1e74025ece03452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409bb0992d7431a" /><Relationship Type="http://schemas.openxmlformats.org/officeDocument/2006/relationships/notesMaster" Target="/ppt/notesMasters/notesMaster1.xml" Id="R3a0daf668b5a408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6a130ccea02478f" /><Relationship Type="http://schemas.openxmlformats.org/officeDocument/2006/relationships/notesMaster" Target="/ppt/notesMasters/notesMaster1.xml" Id="R72b4f8bbde3b4cc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e1ac81379db435f" /><Relationship Type="http://schemas.openxmlformats.org/officeDocument/2006/relationships/notesMaster" Target="/ppt/notesMasters/notesMaster1.xml" Id="R3757a78eeae44af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de5f91608ce4480" /><Relationship Type="http://schemas.openxmlformats.org/officeDocument/2006/relationships/notesMaster" Target="/ppt/notesMasters/notesMaster1.xml" Id="R97a65cbd777f4b7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4fdd8faf8f44de2" /><Relationship Type="http://schemas.openxmlformats.org/officeDocument/2006/relationships/notesMaster" Target="/ppt/notesMasters/notesMaster1.xml" Id="R7c0a9609e1c849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and introduce the central question. The session builds a research prototype for exploring sensing data. Invited speakers present their own talks. The session is scheduled for the afternoon of October 12, 2026. Exact start and end times are pending.</a:t>
            </a:r>
          </a:p>
          <a:p xmlns:a="http://schemas.openxmlformats.org/drawingml/2006/main">
            <a:r>
              <a:t/>
            </a:r>
          </a:p>
          <a:p xmlns:a="http://schemas.openxmlformats.org/drawingml/2006/main">
            <a:r>
              <a:t>Sources</a:t>
            </a:r>
          </a:p>
          <a:p xmlns:a="http://schemas.openxmlformats.org/drawingml/2006/main">
            <a:r>
              <a:t>https://llm-health-agent-tutorial.github.io/</a:t>
            </a:r>
          </a:p>
          <a:p xmlns:a="http://schemas.openxmlformats.org/drawingml/2006/main">
            <a:r>
              <a:t>Date and afternoon session: organizer update, September 14, 2026. Exact hours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five organizers briefly and invite participants to flag any instructor during exercises. Pair participants who have different levels of Python experience. The roles and institutions here follow the tutorial website. Do not infer individual lecture assignments from this deck.</a:t>
            </a:r>
          </a:p>
          <a:p xmlns:a="http://schemas.openxmlformats.org/drawingml/2006/main">
            <a:r>
              <a:t/>
            </a:r>
          </a:p>
          <a:p xmlns:a="http://schemas.openxmlformats.org/drawingml/2006/main">
            <a:r>
              <a:t>Sources</a:t>
            </a:r>
          </a:p>
          <a:p xmlns:a="http://schemas.openxmlformats.org/drawingml/2006/main">
            <a:r>
              <a:t>https://llm-health-agent-tutorial.github.io/#organizers</a:t>
            </a:r>
          </a:p>
          <a:p xmlns:a="http://schemas.openxmlformats.org/drawingml/2006/main">
            <a:r>
              <a:t>Portraits: tutorial website docs/img/.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invited speakers, listed alphabetically by family name as on the website. They contribute to the tutorial and the evaluation and safety panel. These slides provide common teaching material and moderator questions, not drafts of the guests’ talks. Leave space in the live run-of-show for their confirmed contributions.</a:t>
            </a:r>
          </a:p>
          <a:p xmlns:a="http://schemas.openxmlformats.org/drawingml/2006/main">
            <a:r>
              <a:t/>
            </a:r>
          </a:p>
          <a:p xmlns:a="http://schemas.openxmlformats.org/drawingml/2006/main">
            <a:r>
              <a:t>Sources</a:t>
            </a:r>
          </a:p>
          <a:p xmlns:a="http://schemas.openxmlformats.org/drawingml/2006/main">
            <a:r>
              <a:t>https://llm-health-agent-tutorial.github.io/#speakers</a:t>
            </a:r>
          </a:p>
          <a:p xmlns:a="http://schemas.openxmlformats.org/drawingml/2006/main">
            <a:r>
              <a:t>Portraits: tutorial website docs/img/.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session lasts 210 minutes including the 30-minute break. Module 1 includes the welcome and introductions. Keep Module 2 to verification because the installation is pre-work. Most coding time belongs to Modules 3 and 4. The panel is a discussion with a short live probe demonstration. Protect the final ten minutes for participants to record one next step.</a:t>
            </a:r>
          </a:p>
          <a:p xmlns:a="http://schemas.openxmlformats.org/drawingml/2006/main">
            <a:r>
              <a:t/>
            </a:r>
          </a:p>
          <a:p xmlns:a="http://schemas.openxmlformats.org/drawingml/2006/main">
            <a:r>
              <a:t>Sources</a:t>
            </a:r>
          </a:p>
          <a:p xmlns:a="http://schemas.openxmlformats.org/drawingml/2006/main">
            <a:r>
              <a:t>https://llm-health-agent-tutorial.github.io/#schedule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opening question, 3 minutes. The main exercise uses observed GLOBEM features for g10. Establish whether sleep changed before asking why. Elicit the recent and baseline windows, available observations and missing values. Later questions can compare source-day screen features, but the join does not establish same-night timing or a cause. The separate synthetic case in Module 5 teaches a known confound without attributing invented context to a GLOBEM participant.</a:t>
            </a:r>
          </a:p>
          <a:p xmlns:a="http://schemas.openxmlformats.org/drawingml/2006/main">
            <a:r>
              <a:t/>
            </a:r>
          </a:p>
          <a:p xmlns:a="http://schemas.openxmlformats.org/drawingml/2006/main">
            <a:r>
              <a:t>Sources</a:t>
            </a:r>
          </a:p>
          <a:p xmlns:a="http://schemas.openxmlformats.org/drawingml/2006/main">
            <a:r>
              <a:t>Starter repository: README.md</a:t>
            </a:r>
          </a:p>
          <a:p xmlns:a="http://schemas.openxmlformats.org/drawingml/2006/main">
            <a:r>
              <a:t>Starter repository: data/globem_hybrid/DATA_CARD.md</a:t>
            </a:r>
          </a:p>
          <a:p xmlns:a="http://schemas.openxmlformats.org/drawingml/2006/main">
            <a:r>
              <a:t>Starter repository: templates/design_map.md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capabilities without claiming one approach is universally better. Prompt-only interaction can reason about values that a person supplies, but it does not automatically obtain fresh data. A fixed pipeline can be reliable for a defined task. A tool-using agent selects among exposed operations and may address varied questions, while introducing tool-selection and interpretation errors. Ask which approach they would choose for a simple daily sleep summary.</a:t>
            </a:r>
          </a:p>
          <a:p xmlns:a="http://schemas.openxmlformats.org/drawingml/2006/main">
            <a:r>
              <a:t/>
            </a:r>
          </a:p>
          <a:p xmlns:a="http://schemas.openxmlformats.org/drawingml/2006/main">
            <a:r>
              <a:t>Sources</a:t>
            </a:r>
          </a:p>
          <a:p xmlns:a="http://schemas.openxmlformats.org/drawingml/2006/main">
            <a:r>
              <a:t>Starter repository: README.md</a:t>
            </a:r>
          </a:p>
          <a:p xmlns:a="http://schemas.openxmlformats.org/drawingml/2006/main">
            <a:r>
              <a:t>Starter repository: healthagent/agent/loop.py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4 minutes on vocabulary. The model proposes tool names and arguments. The registry validates and executes those calls. The observation function serializes the result back into the model conversation. The response step should use the evidence gathered. The full implementation includes step limits, completion checks and deterministic safety handling. Participants configure three seams rather than rewriting the loop.</a:t>
            </a:r>
          </a:p>
          <a:p xmlns:a="http://schemas.openxmlformats.org/drawingml/2006/main">
            <a:r>
              <a:t/>
            </a:r>
          </a:p>
          <a:p xmlns:a="http://schemas.openxmlformats.org/drawingml/2006/main">
            <a:r>
              <a:t>Sources</a:t>
            </a:r>
          </a:p>
          <a:p xmlns:a="http://schemas.openxmlformats.org/drawingml/2006/main">
            <a:r>
              <a:t>Starter repository: healthagent/agent/loop.py</a:t>
            </a:r>
          </a:p>
          <a:p xmlns:a="http://schemas.openxmlformats.org/drawingml/2006/main">
            <a:r>
              <a:t>Starter repository: ha_workshop/agent_config.py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exercise, 4 minutes. Open templates/design_map.md. Each pair names one user question, the data needed, a useful tool, and one condition under which the agent should withhold a conclusion. Invite one example that needs only retrieval and another that needs analysis. Use the distinction between summarizing and explaining to prepare the baseline exercise. Record uncertainty as part of the output.</a:t>
            </a:r>
          </a:p>
          <a:p xmlns:a="http://schemas.openxmlformats.org/drawingml/2006/main">
            <a:r>
              <a:t/>
            </a:r>
          </a:p>
          <a:p xmlns:a="http://schemas.openxmlformats.org/drawingml/2006/main">
            <a:r>
              <a:t>Sources</a:t>
            </a:r>
          </a:p>
          <a:p xmlns:a="http://schemas.openxmlformats.org/drawingml/2006/main">
            <a:r>
              <a:t>Starter repository: templates/design_map.md</a:t>
            </a:r>
          </a:p>
          <a:p xmlns:a="http://schemas.openxmlformats.org/drawingml/2006/main">
            <a:r>
              <a:t>Starter repository: SACI_SCAFFOLD.md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GLOBEM hybrid is the default profile and the main dataset for Modules 1–4 and 6. It combines the official public sample INS-W-sample_1 with explicitly labeled synthetic supplements. Main sleep and screen analyses use observed fields. The fully synthetic u01 scenario appears separately in Module 5, where its planted deadline and screen effects support discussion of a known confound. Never pool the profiles or transfer the synthetic explanation to a source participant.</a:t>
            </a:r>
          </a:p>
          <a:p xmlns:a="http://schemas.openxmlformats.org/drawingml/2006/main">
            <a:r>
              <a:t/>
            </a:r>
          </a:p>
          <a:p xmlns:a="http://schemas.openxmlformats.org/drawingml/2006/main">
            <a:r>
              <a:t>Sources</a:t>
            </a:r>
          </a:p>
          <a:p xmlns:a="http://schemas.openxmlformats.org/drawingml/2006/main">
            <a:r>
              <a:t>Starter repository: healthagent/config.py</a:t>
            </a:r>
          </a:p>
          <a:p xmlns:a="http://schemas.openxmlformats.org/drawingml/2006/main">
            <a:r>
              <a:t>Starter repository: data/globem_hybrid/DATA_CARD.md</a:t>
            </a:r>
          </a:p>
          <a:p xmlns:a="http://schemas.openxmlformats.org/drawingml/2006/main">
            <a:r>
              <a:t>Starter repository: data/DATA_CARD.md</a:t>
            </a:r>
          </a:p>
          <a:p xmlns:a="http://schemas.openxmlformats.org/drawingml/2006/main">
            <a:r>
              <a:t>https://github.com/UW-EXP/GLOBEM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whenever someone proposes joining synthetic records to observed records. A real source feature remains an observation only after its meaning, unit and transformations are documented. A synthetic extension may be useful for testing the software, but it cannot support a factual claim about an actual participant. A seeded teaching scenario lets an instructor explain the mechanism used by the generator. It does not grant the agent causal identification from observations. In the GLOBEM hybrid profile, sleep_efficiency is the Fitbit average efficiency score divided by 100. It is not a recalculated ratio of asleep minutes to in-bed minutes. The profile-specific codebook records its unit as score_0_1.</a:t>
            </a:r>
          </a:p>
          <a:p xmlns:a="http://schemas.openxmlformats.org/drawingml/2006/main">
            <a:r>
              <a:t/>
            </a:r>
          </a:p>
          <a:p xmlns:a="http://schemas.openxmlformats.org/drawingml/2006/main">
            <a:r>
              <a:t>Sources</a:t>
            </a:r>
          </a:p>
          <a:p xmlns:a="http://schemas.openxmlformats.org/drawingml/2006/main">
            <a:r>
              <a:t>Starter repository: data/DATA_CARD.md</a:t>
            </a:r>
          </a:p>
          <a:p xmlns:a="http://schemas.openxmlformats.org/drawingml/2006/main">
            <a:r>
              <a:t>Starter repository: data/codebook.csv</a:t>
            </a:r>
          </a:p>
          <a:p xmlns:a="http://schemas.openxmlformats.org/drawingml/2006/main">
            <a:r>
              <a:t>Starter repository: data/globem_hybrid/codebook.csv</a:t>
            </a:r>
          </a:p>
          <a:p xmlns:a="http://schemas.openxmlformats.org/drawingml/2006/main">
            <a:r>
              <a:t>Starter repository: data/globem_hybrid/DATA_CARD.md</a:t>
            </a:r>
          </a:p>
          <a:p xmlns:a="http://schemas.openxmlformats.org/drawingml/2006/main">
            <a:r>
              <a:t>Starter repository: BRING_YOUR_OWN_DATA.md</a:t>
            </a:r>
          </a:p>
          <a:p xmlns:a="http://schemas.openxmlformats.org/drawingml/2006/main">
            <a:r>
              <a:t>https://www.rapids.science/1.6/features/fitbit-sleep-summary/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profile has ten participants and 481 feature-days from the official public sample, not the full multi-cohort release. Nine tables provide the common tutorial interface. The main exercise uses g10. Observed sleep duration is present in 355 of 481 rows and night-screen unlock duration in 341 of 481 rows. Missing values stay missing. Heart-rate and most teaching EMA/context fields are synthetic supplements. Source-derived location estimates reflect upstream processing and are not raw GPS.</a:t>
            </a:r>
          </a:p>
          <a:p xmlns:a="http://schemas.openxmlformats.org/drawingml/2006/main">
            <a:r>
              <a:t/>
            </a:r>
          </a:p>
          <a:p xmlns:a="http://schemas.openxmlformats.org/drawingml/2006/main">
            <a:r>
              <a:t>Sources</a:t>
            </a:r>
          </a:p>
          <a:p xmlns:a="http://schemas.openxmlformats.org/drawingml/2006/main">
            <a:r>
              <a:t>Starter repository: data/globem_hybrid/DATA_CARD.md</a:t>
            </a:r>
          </a:p>
          <a:p xmlns:a="http://schemas.openxmlformats.org/drawingml/2006/main">
            <a:r>
              <a:t>Starter repository: data/globem_hybrid/dataset_metadata.json</a:t>
            </a:r>
          </a:p>
          <a:p xmlns:a="http://schemas.openxmlformats.org/drawingml/2006/main">
            <a:r>
              <a:t>Starter repository: data/globem_hybrid/field_provenance.csv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GLOBEM demo epoch is June 8, 2018. The source study dates are privacy-shifted and are not the conference date or the present day. The recent window covers June 2–8, and the previous 21 calendar days cover May 12–June 1. Sleep has 7 and 18 nonmissing observations in those windows. Night screen has 7 and 20. Date endpoints are inclusive. Use the config helpers so changing profiles also changes the user and date window.</a:t>
            </a:r>
          </a:p>
          <a:p xmlns:a="http://schemas.openxmlformats.org/drawingml/2006/main">
            <a:r>
              <a:t/>
            </a:r>
          </a:p>
          <a:p xmlns:a="http://schemas.openxmlformats.org/drawingml/2006/main">
            <a:r>
              <a:t>Sources</a:t>
            </a:r>
          </a:p>
          <a:p xmlns:a="http://schemas.openxmlformats.org/drawingml/2006/main">
            <a:r>
              <a:t>Starter repository: healthagent/config.py</a:t>
            </a:r>
          </a:p>
          <a:p xmlns:a="http://schemas.openxmlformats.org/drawingml/2006/main">
            <a:r>
              <a:t>Starter repository: data/globem_hybrid/dataset_metadata.json</a:t>
            </a:r>
          </a:p>
          <a:p xmlns:a="http://schemas.openxmlformats.org/drawingml/2006/main">
            <a:r>
              <a:t>Starter repository: data/globem_hybrid/DATA_CARD.md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2, 20 minutes. Allow 3 minutes for preflight, 5 for loading and inspecting data, 5 for the baseline call, and 7 for backend selection and troubleshooting. Use the rehearsed local model for the intended LLM path. If setup fails, explicitly switch to the scripted wiring fallback and explain that its fixed plan does not test open-ended model reasoning.</a:t>
            </a:r>
          </a:p>
          <a:p xmlns:a="http://schemas.openxmlformats.org/drawingml/2006/main">
            <a:r>
              <a:t/>
            </a:r>
          </a:p>
          <a:p xmlns:a="http://schemas.openxmlformats.org/drawingml/2006/main">
            <a:r>
              <a:t>Sources</a:t>
            </a:r>
          </a:p>
          <a:p xmlns:a="http://schemas.openxmlformats.org/drawingml/2006/main">
            <a:r>
              <a:t>Starter repository: SETUP.md</a:t>
            </a:r>
          </a:p>
          <a:p xmlns:a="http://schemas.openxmlformats.org/drawingml/2006/main">
            <a:r>
              <a:t>Starter repository: notebooks/02_setting_up.ipynb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Participants should install before the session. In the room, activate the environment and run ha-check. Launch JupyterLab, choose the health-agent kernel, and run 00_preflight.ipynb. Ask participants to read sys.executable if a notebook import fails despite a successful terminal check. A wrong kernel and an unactivated environment are different failures. Installation instructions include macOS/Linux and Windows paths.</a:t>
            </a:r>
          </a:p>
          <a:p xmlns:a="http://schemas.openxmlformats.org/drawingml/2006/main">
            <a:r>
              <a:t/>
            </a:r>
          </a:p>
          <a:p xmlns:a="http://schemas.openxmlformats.org/drawingml/2006/main">
            <a:r>
              <a:t>Sources</a:t>
            </a:r>
          </a:p>
          <a:p xmlns:a="http://schemas.openxmlformats.org/drawingml/2006/main">
            <a:r>
              <a:t>Starter repository: SETUP.md</a:t>
            </a:r>
          </a:p>
          <a:p xmlns:a="http://schemas.openxmlformats.org/drawingml/2006/main">
            <a:r>
              <a:t>Starter repository: notebooks/00_preflight.ipynb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in 02_setting_up.ipynb. The baseline already registers compare_window and can answer the activity-versus-goal question. In the GLOBEM profile, steps_goal is a synthetic teaching value, not an observed participant goal. Use this first call to inspect wiring, not to assess the participant against a genuine goal. Use the configured backend, with Ollama as the notebook default, and inspect the active provider. If HA_BACKEND is auto, resolution prefers reachable local Ollama, then configured cloud options, then scripted. For reproducible wiring checks, explicitly choose scripted. Ask the sleep question afterward to motivate the missing tools. Scripted behavior does not demonstrate open-ended LLM reasoning.</a:t>
            </a:r>
          </a:p>
          <a:p xmlns:a="http://schemas.openxmlformats.org/drawingml/2006/main">
            <a:r>
              <a:t/>
            </a:r>
          </a:p>
          <a:p xmlns:a="http://schemas.openxmlformats.org/drawingml/2006/main">
            <a:r>
              <a:t>Sources</a:t>
            </a:r>
          </a:p>
          <a:p xmlns:a="http://schemas.openxmlformats.org/drawingml/2006/main">
            <a:r>
              <a:t>Starter repository: notebooks/02_setting_up.ipynb</a:t>
            </a:r>
          </a:p>
          <a:p xmlns:a="http://schemas.openxmlformats.org/drawingml/2006/main">
            <a:r>
              <a:t>Starter repository: healthagent/agent/baseline.py</a:t>
            </a:r>
          </a:p>
          <a:p xmlns:a="http://schemas.openxmlformats.org/drawingml/2006/main">
            <a:r>
              <a:t>Starter repository: healthagent/llm/client.py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Explicit HA_BACKEND overrides automatic selection. Otherwise auto checks reachable local Ollama, then a Gemini key, then an OpenAI key, and finally scripted. Availability checks establish configuration and reachability, not model quality. The scripted backend follows a fixed plan and uses actual tool outputs. It supports wiring exercises but does not reproduce open-ended LLM reasoning. Use the optional live notebook cells with HA_TRY_LIVE=1 after setup.</a:t>
            </a:r>
          </a:p>
          <a:p xmlns:a="http://schemas.openxmlformats.org/drawingml/2006/main">
            <a:r>
              <a:t/>
            </a:r>
          </a:p>
          <a:p xmlns:a="http://schemas.openxmlformats.org/drawingml/2006/main">
            <a:r>
              <a:t>Sources</a:t>
            </a:r>
          </a:p>
          <a:p xmlns:a="http://schemas.openxmlformats.org/drawingml/2006/main">
            <a:r>
              <a:t>Starter repository: healthagent/llm/client.py</a:t>
            </a:r>
          </a:p>
          <a:p xmlns:a="http://schemas.openxmlformats.org/drawingml/2006/main">
            <a:r>
              <a:t>Starter repository: SETUP.md</a:t>
            </a:r>
          </a:p>
          <a:p xmlns:a="http://schemas.openxmlformats.org/drawingml/2006/main">
            <a:r>
              <a:t>Starter repository: notebooks/02_setting_up.ipynb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GLOBEM hybrid is now the default profile. In a fresh notebook, verify DATA_KIND, DEMO_USER, DEMO_TODAY and PROCESSED before analysis. The intended settings are hybrid, g10 and June 8, 2018. An old HA_DATA_DIR environment override can still select another dataset. Night screen uses 00:00–06:00; the synthetic case uses 22:00–02:00. RAPIDS bedtime/duration and wake can refer to different nights because their LAST_NIGHT_END intervals differ. A same-date join is a source-day association, not same-night evidence or temporal order. Fitbit sleep_efficiency is the source average score divided by 100, not asleep/in-bed time.</a:t>
            </a:r>
          </a:p>
          <a:p xmlns:a="http://schemas.openxmlformats.org/drawingml/2006/main">
            <a:r>
              <a:t/>
            </a:r>
          </a:p>
          <a:p xmlns:a="http://schemas.openxmlformats.org/drawingml/2006/main">
            <a:r>
              <a:t>Sources</a:t>
            </a:r>
          </a:p>
          <a:p xmlns:a="http://schemas.openxmlformats.org/drawingml/2006/main">
            <a:r>
              <a:t>Starter repository: healthagent/config.py</a:t>
            </a:r>
          </a:p>
          <a:p xmlns:a="http://schemas.openxmlformats.org/drawingml/2006/main">
            <a:r>
              <a:t>Starter repository: data/globem_hybrid/codebook.csv</a:t>
            </a:r>
          </a:p>
          <a:p xmlns:a="http://schemas.openxmlformats.org/drawingml/2006/main">
            <a:r>
              <a:t>Starter repository: data/globem_hybrid/DATA_CARD.md</a:t>
            </a:r>
          </a:p>
          <a:p xmlns:a="http://schemas.openxmlformats.org/drawingml/2006/main">
            <a:r>
              <a:t>https://www.rapids.science/1.6/features/fitbit-sleep-summary/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3 minutes to ensure everyone can proceed. Participants should see the data tables and the active backend, and receive an activity answer. If imports fail, inspect the notebook executable. If the dataset fails validation, check that the repository contains the processed files. If a live backend causes delay, return to scripted for the core session. Do not overwrite credentials or ask participants to share them on screen.</a:t>
            </a:r>
          </a:p>
          <a:p xmlns:a="http://schemas.openxmlformats.org/drawingml/2006/main">
            <a:r>
              <a:t/>
            </a:r>
          </a:p>
          <a:p xmlns:a="http://schemas.openxmlformats.org/drawingml/2006/main">
            <a:r>
              <a:t>Sources</a:t>
            </a:r>
          </a:p>
          <a:p xmlns:a="http://schemas.openxmlformats.org/drawingml/2006/main">
            <a:r>
              <a:t>Starter repository: SETUP.md</a:t>
            </a:r>
          </a:p>
          <a:p xmlns:a="http://schemas.openxmlformats.org/drawingml/2006/main">
            <a:r>
              <a:t>Starter repository: README.md</a:t>
            </a:r>
          </a:p>
          <a:p xmlns:a="http://schemas.openxmlformats.org/drawingml/2006/main">
            <a:r>
              <a:t>Starter repository: notebooks/02_setting_up.ipynb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45 minutes. Use 8 minutes for the contract and references, 10 for retrieval, 8 for descriptive change, 12 for the plotting task, and 7 for direct checks and share-out. Participants implement query_screen_time, detect_change and plot_timeseries in student_tools.py. All three are required. The plotting task keeps calendar gaps and supplies both axis labels. The full tutorial still asks participants to edit only two files: student_tools.py and agent_config.py.</a:t>
            </a:r>
          </a:p>
          <a:p xmlns:a="http://schemas.openxmlformats.org/drawingml/2006/main">
            <a:r>
              <a:t/>
            </a:r>
          </a:p>
          <a:p xmlns:a="http://schemas.openxmlformats.org/drawingml/2006/main">
            <a:r>
              <a:t>Sources</a:t>
            </a:r>
          </a:p>
          <a:p xmlns:a="http://schemas.openxmlformats.org/drawingml/2006/main">
            <a:r>
              <a:t>Starter repository: notebooks/03_designing_tools.ipynb</a:t>
            </a:r>
          </a:p>
          <a:p xmlns:a="http://schemas.openxmlformats.org/drawingml/2006/main">
            <a:r>
              <a:t>Starter repository: ha_workshop/student_tools.py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ToolResult contains the type, short summary, payload and error flag. A provider adapter normally exposes the summary to the model while the application retains the structured payload. The summary must preserve the unit, comparison and relevant limitation. Returning a ToolResult with a TODO sentinel, empty payload or error should not count as evidence. Inspect the implementation of is_failed_tool_result if participants ask what usable means.</a:t>
            </a:r>
          </a:p>
          <a:p xmlns:a="http://schemas.openxmlformats.org/drawingml/2006/main">
            <a:r>
              <a:t/>
            </a:r>
          </a:p>
          <a:p xmlns:a="http://schemas.openxmlformats.org/drawingml/2006/main">
            <a:r>
              <a:t>Sources</a:t>
            </a:r>
          </a:p>
          <a:p xmlns:a="http://schemas.openxmlformats.org/drawingml/2006/main">
            <a:r>
              <a:t>Starter repository: healthagent/llm/schemas.py</a:t>
            </a:r>
          </a:p>
          <a:p xmlns:a="http://schemas.openxmlformats.org/drawingml/2006/main">
            <a:r>
              <a:t>Starter repository: healthagent/llm/evidence.py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core implementation for query_screen_time. The decorator and typed signature already exist in student_tools.py. Participants fill the body using load_user_metric, convert dates to strings and return a table result. The loader filters both user and inclusive date range. A common error is returning the entire table or forgetting that the GLOBEM night_screen_minutes field measures unlock duration from 00:00–06:00. Counts of dated rows and nonmissing measurements are different. The codebook is the authority for metric meaning.</a:t>
            </a:r>
          </a:p>
          <a:p xmlns:a="http://schemas.openxmlformats.org/drawingml/2006/main">
            <a:r>
              <a:t/>
            </a:r>
          </a:p>
          <a:p xmlns:a="http://schemas.openxmlformats.org/drawingml/2006/main">
            <a:r>
              <a:t>Sources</a:t>
            </a:r>
          </a:p>
          <a:p xmlns:a="http://schemas.openxmlformats.org/drawingml/2006/main">
            <a:r>
              <a:t>Starter repository: ha_workshop/student_tools.py</a:t>
            </a:r>
          </a:p>
          <a:p xmlns:a="http://schemas.openxmlformats.org/drawingml/2006/main">
            <a:r>
              <a:t>Starter repository: data/globem_hybrid/codebook.csv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TODO lines compute recent and baseline means after the helper functions select the windows. The delta is recent minus baseline. Percent change divides that delta by the baseline. Discuss what happens when the baseline is zero and when missingness differs across windows. This simple descriptive comparison does not adjust for seasonality, weekday mix or a source distribution shift.</a:t>
            </a:r>
          </a:p>
          <a:p xmlns:a="http://schemas.openxmlformats.org/drawingml/2006/main">
            <a:r>
              <a:t/>
            </a:r>
          </a:p>
          <a:p xmlns:a="http://schemas.openxmlformats.org/drawingml/2006/main">
            <a:r>
              <a:t>Sources</a:t>
            </a:r>
          </a:p>
          <a:p xmlns:a="http://schemas.openxmlformats.org/drawingml/2006/main">
            <a:r>
              <a:t>Starter repository: ha_workshop/student_tools.py</a:t>
            </a:r>
          </a:p>
          <a:p xmlns:a="http://schemas.openxmlformats.org/drawingml/2006/main">
            <a:r>
              <a:t>Starter repository: healthagent/tools/analysis.py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 student_tools.py and run the reload and smoke-test cell after each task. Use config.DEMO_USER so the test follows the main GLOBEM profile. query_screen_time should return g10’s intended recent dates. detect_change should return about 53.91 recent versus 38.03 baseline night-screen minutes, with different nonmissing denominators across windows. The third task must produce an image with labeled axes and gaps. Direct calls isolate tool bugs from model behavior.</a:t>
            </a:r>
          </a:p>
          <a:p xmlns:a="http://schemas.openxmlformats.org/drawingml/2006/main">
            <a:r>
              <a:t/>
            </a:r>
          </a:p>
          <a:p xmlns:a="http://schemas.openxmlformats.org/drawingml/2006/main">
            <a:r>
              <a:t>Sources</a:t>
            </a:r>
          </a:p>
          <a:p xmlns:a="http://schemas.openxmlformats.org/drawingml/2006/main">
            <a:r>
              <a:t>Starter repository: notebooks/03_designing_tools.ipynb</a:t>
            </a:r>
          </a:p>
          <a:p xmlns:a="http://schemas.openxmlformats.org/drawingml/2006/main">
            <a:r>
              <a:t>Starter repository: ha_workshop/__init__.py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are calculated directly from observed GLOBEM sleep rows, not synthetic supplements. Baseline May 12–June 1 has 18 of 21 nonmissing daily values and mean 6.3972 hours. Recent June 2–8 has 7 of 7 values and mean 5.0476 hours. The change is about −21.1 percent. Missing values are excluded from means but are not filled. This is a descriptive comparison for one source participant, not evidence that screen activity caused a decline. The unit is hours under the source-day sleep-summary assignment.</a:t>
            </a:r>
          </a:p>
          <a:p xmlns:a="http://schemas.openxmlformats.org/drawingml/2006/main">
            <a:r>
              <a:t/>
            </a:r>
          </a:p>
          <a:p xmlns:a="http://schemas.openxmlformats.org/drawingml/2006/main">
            <a:r>
              <a:t>Sources</a:t>
            </a:r>
          </a:p>
          <a:p xmlns:a="http://schemas.openxmlformats.org/drawingml/2006/main">
            <a:r>
              <a:t>Starter repository: data/globem_hybrid/processed/sleep.csv</a:t>
            </a:r>
          </a:p>
          <a:p xmlns:a="http://schemas.openxmlformats.org/drawingml/2006/main">
            <a:r>
              <a:t>Starter repository: data/globem_hybrid/DATA_CARD.md</a:t>
            </a:r>
          </a:p>
          <a:p xmlns:a="http://schemas.openxmlformats.org/drawingml/2006/main">
            <a:r>
              <a:t>Starter repository: data/globem_hybrid/field_provenance.csv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labels a change significant when the absolute delta divided by baseline standard deviation exceeds 1.5. This is a simple threshold. It is not a p-value, confidence interval or calibrated change detector. It ignores serial correlation and the uncertainty of the mean. Tell participants to preserve the legacy field for API compatibility if needed but describe it accurately in the output. Ask which evaluation would be appropriate for their own sensing study.</a:t>
            </a:r>
          </a:p>
          <a:p xmlns:a="http://schemas.openxmlformats.org/drawingml/2006/main">
            <a:r>
              <a:t/>
            </a:r>
          </a:p>
          <a:p xmlns:a="http://schemas.openxmlformats.org/drawingml/2006/main">
            <a:r>
              <a:t>Sources</a:t>
            </a:r>
          </a:p>
          <a:p xmlns:a="http://schemas.openxmlformats.org/drawingml/2006/main">
            <a:r>
              <a:t>Starter repository: healthagent/tools/analysis.py</a:t>
            </a:r>
          </a:p>
          <a:p xmlns:a="http://schemas.openxmlformats.org/drawingml/2006/main">
            <a:r>
              <a:t>Starter repository: ha_workshop/student_tools.py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Third required Module 3 task, about 12 minutes. The function signature is plot_timeseries(user_id, metric, start_date, end_date). The scaffold resolves the metric, filters the user and window, and reindexes onto a complete daily calendar. Students fill the ax.plot call and both axis labels. Keep NaNs in the plotted series so the line breaks at unobserved dates. Do not drop missing rows or interpolate values before plotting. The scaffold saves the PNG and returns an image ToolResult with numeric summary.</a:t>
            </a:r>
          </a:p>
          <a:p xmlns:a="http://schemas.openxmlformats.org/drawingml/2006/main">
            <a:r>
              <a:t/>
            </a:r>
          </a:p>
          <a:p xmlns:a="http://schemas.openxmlformats.org/drawingml/2006/main">
            <a:r>
              <a:t>Sources</a:t>
            </a:r>
          </a:p>
          <a:p xmlns:a="http://schemas.openxmlformats.org/drawingml/2006/main">
            <a:r>
              <a:t>Starter repository: ha_workshop/student_tools.py</a:t>
            </a:r>
          </a:p>
          <a:p xmlns:a="http://schemas.openxmlformats.org/drawingml/2006/main">
            <a:r>
              <a:t>Starter repository: ha_workshop/solutions/student_tools.py</a:t>
            </a:r>
          </a:p>
          <a:p xmlns:a="http://schemas.openxmlformats.org/drawingml/2006/main">
            <a:r>
              <a:t>Starter repository: notebooks/03_designing_tools.ipynb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PNG output from the supplied plotting reference, using observed g10 sleep duration from May 12 to June 8, 2018. There are 25 measured values across 28 calendar dates. Sleep is missing on May 12, May 27 and May 28. The line stops across the two internal missing dates. This image is a reference software output, not a synthetic illustration or a replacement for the editable comparison charts. Ask participants to verify that their plot has the same calendar gaps, axis labels and units.</a:t>
            </a:r>
          </a:p>
          <a:p xmlns:a="http://schemas.openxmlformats.org/drawingml/2006/main">
            <a:r>
              <a:t/>
            </a:r>
          </a:p>
          <a:p xmlns:a="http://schemas.openxmlformats.org/drawingml/2006/main">
            <a:r>
              <a:t>Sources</a:t>
            </a:r>
          </a:p>
          <a:p xmlns:a="http://schemas.openxmlformats.org/drawingml/2006/main">
            <a:r>
              <a:t>Starter repository: ha_workshop/solutions/student_tools.py</a:t>
            </a:r>
          </a:p>
          <a:p xmlns:a="http://schemas.openxmlformats.org/drawingml/2006/main">
            <a:r>
              <a:t>Starter repository: data/globem_hybrid/processed/sleep.csv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Thirty-minute break. Before people leave, check that each pair has saved student_tools.py and can run all three required tools directly. Help participants who remain blocked so they can start Module 4 with a working toolkit. Announce an actual return time verbally rather than embedding an unconfirmed clock time in the deck.</a:t>
            </a:r>
          </a:p>
          <a:p xmlns:a="http://schemas.openxmlformats.org/drawingml/2006/main">
            <a:r>
              <a:t/>
            </a:r>
          </a:p>
          <a:p xmlns:a="http://schemas.openxmlformats.org/drawingml/2006/main">
            <a:r>
              <a:t>Sources</a:t>
            </a:r>
          </a:p>
          <a:p xmlns:a="http://schemas.openxmlformats.org/drawingml/2006/main">
            <a:r>
              <a:t>https://llm-health-agent-tutorial.github.io/#schedule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4, 45 minutes. Use 8 minutes to read the loop, 7 to explain the three seams, 20 for implementation and comparison, and 10 for trace reading and a source-aware interpretation check. The loop is complete. The participants’ choices determine which tools exist, how the model observes results, and which prompt clauses activate the tutorial checks.</a:t>
            </a:r>
          </a:p>
          <a:p xmlns:a="http://schemas.openxmlformats.org/drawingml/2006/main">
            <a:r>
              <a:t/>
            </a:r>
          </a:p>
          <a:p xmlns:a="http://schemas.openxmlformats.org/drawingml/2006/main">
            <a:r>
              <a:t>Sources</a:t>
            </a:r>
          </a:p>
          <a:p xmlns:a="http://schemas.openxmlformats.org/drawingml/2006/main">
            <a:r>
              <a:t>Starter repository: notebooks/04_wiring_the_agent.ipynb</a:t>
            </a:r>
          </a:p>
          <a:p xmlns:a="http://schemas.openxmlformats.org/drawingml/2006/main">
            <a:r>
              <a:t>Starter repository: ha_workshop/agent_config.py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simplified pseudocode that follows run_agent rather than a complete executable function. The actual implementation also serializes the assistant tool-call message, records evidence and traces, handles malformed arguments, applies completion checks and enforces a step limit. Walk through one tool call by asking which component creates the arguments and which component executes Python. The model never directly edits the dataset.</a:t>
            </a:r>
          </a:p>
          <a:p xmlns:a="http://schemas.openxmlformats.org/drawingml/2006/main">
            <a:r>
              <a:t/>
            </a:r>
          </a:p>
          <a:p xmlns:a="http://schemas.openxmlformats.org/drawingml/2006/main">
            <a:r>
              <a:t>Sources</a:t>
            </a:r>
          </a:p>
          <a:p xmlns:a="http://schemas.openxmlformats.org/drawingml/2006/main">
            <a:r>
              <a:t>Starter repository: healthagent/agent/loop.py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Fill WORKSHOP_TOOLS in agent_config.py using the references already imported there. compare_window and correlate_metrics are preinstalled in the workshop registry. The baseline agent still has only compare_window. The four student additions unlock the core sleep workflow and include the student-built plot. The correlation diagnostic is provided code, not a fifth student TODO. Tool availability is an explicit capability boundary. Exposing more functions may increase the surface for inappropriate calls. For a research extension, add only the tools needed to answer the chosen question.</a:t>
            </a:r>
          </a:p>
          <a:p xmlns:a="http://schemas.openxmlformats.org/drawingml/2006/main">
            <a:r>
              <a:t/>
            </a:r>
          </a:p>
          <a:p xmlns:a="http://schemas.openxmlformats.org/drawingml/2006/main">
            <a:r>
              <a:t>Sources</a:t>
            </a:r>
          </a:p>
          <a:p xmlns:a="http://schemas.openxmlformats.org/drawingml/2006/main">
            <a:r>
              <a:t>Starter repository: ha_workshop/agent_config.py</a:t>
            </a:r>
          </a:p>
          <a:p xmlns:a="http://schemas.openxmlformats.org/drawingml/2006/main">
            <a:r>
              <a:t>Starter repository: ha_workshop/solutions/agent_config.py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one-line observe function matters because a computed result does not help the model until the result re-enters its conversation. The placeholder serializes OBSERVATION_NOT_ATTACHED. Replacing it with the actual ToolResult lets the next step use the evidence. The provider adapter handles the format required by each backend. Ask participants to compare tool computation, serialization and final-answer grounding as separate responsibilities.</a:t>
            </a:r>
          </a:p>
          <a:p xmlns:a="http://schemas.openxmlformats.org/drawingml/2006/main">
            <a:r>
              <a:t/>
            </a:r>
          </a:p>
          <a:p xmlns:a="http://schemas.openxmlformats.org/drawingml/2006/main">
            <a:r>
              <a:t>Sources</a:t>
            </a:r>
          </a:p>
          <a:p xmlns:a="http://schemas.openxmlformats.org/drawingml/2006/main">
            <a:r>
              <a:t>Starter repository: ha_workshop/agent_config.py</a:t>
            </a:r>
          </a:p>
          <a:p xmlns:a="http://schemas.openxmlformats.org/drawingml/2006/main">
            <a:r>
              <a:t>Starter repository: healthagent/llm/schemas.py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the two provided clauses and append them to BASE_SYSTEM. The tutorial implementation uses explicit markers: the grounding marker enables the public flag, and the refusal marker enables deterministic safety preflight. A prompt alone is not a general security boundary. The current checks are intentionally limited teaching mechanisms, which Module 5 will audit. Participants should understand the code path that activates each check.</a:t>
            </a:r>
          </a:p>
          <a:p xmlns:a="http://schemas.openxmlformats.org/drawingml/2006/main">
            <a:r>
              <a:t/>
            </a:r>
          </a:p>
          <a:p xmlns:a="http://schemas.openxmlformats.org/drawingml/2006/main">
            <a:r>
              <a:t>Sources</a:t>
            </a:r>
          </a:p>
          <a:p xmlns:a="http://schemas.openxmlformats.org/drawingml/2006/main">
            <a:r>
              <a:t>Starter repository: healthagent/agent/prompts.py</a:t>
            </a:r>
          </a:p>
          <a:p xmlns:a="http://schemas.openxmlformats.org/drawingml/2006/main">
            <a:r>
              <a:t>Starter repository: healthagent/agent/loop.py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coding, 15–20 minutes. After saving all three changes, reload the workshop files and run the question. Inspect text, images, trace and grounded separately. If the tool or observation TODO is still blank, the core known-question completion check should produce insufficient evidence. Do not use a screenshot of the expected answer as proof of a participant’s run. If a pair is stuck, use the reference solution for comparison.</a:t>
            </a:r>
          </a:p>
          <a:p xmlns:a="http://schemas.openxmlformats.org/drawingml/2006/main">
            <a:r>
              <a:t/>
            </a:r>
          </a:p>
          <a:p xmlns:a="http://schemas.openxmlformats.org/drawingml/2006/main">
            <a:r>
              <a:t>Sources</a:t>
            </a:r>
          </a:p>
          <a:p xmlns:a="http://schemas.openxmlformats.org/drawingml/2006/main">
            <a:r>
              <a:t>Starter repository: notebooks/04_wiring_the_agent.ipynb</a:t>
            </a:r>
          </a:p>
          <a:p xmlns:a="http://schemas.openxmlformats.org/drawingml/2006/main">
            <a:r>
              <a:t>Starter repository: ha_workshop/__init__.py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 participant’s real trace. The table names fields in the implementation and their debugging use, not a claim that a particular backend always follows one sequence. calls records names and arguments, results records errors and summaries, and explicit events capture safety and completion behavior. A grounded flag alone hides these distinctions. Ask participants to locate one number in the final answer and trace it back to a tool result.</a:t>
            </a:r>
          </a:p>
          <a:p xmlns:a="http://schemas.openxmlformats.org/drawingml/2006/main">
            <a:r>
              <a:t/>
            </a:r>
          </a:p>
          <a:p xmlns:a="http://schemas.openxmlformats.org/drawingml/2006/main">
            <a:r>
              <a:t>Sources</a:t>
            </a:r>
          </a:p>
          <a:p xmlns:a="http://schemas.openxmlformats.org/drawingml/2006/main">
            <a:r>
              <a:t>Starter repository: healthagent/agent/loop.py</a:t>
            </a:r>
          </a:p>
          <a:p xmlns:a="http://schemas.openxmlformats.org/drawingml/2006/main">
            <a:r>
              <a:t>Starter repository: healthagent/llm/schemas.py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a core known-question run before and after implementation. The insufficient-evidence sentence is from the loop constant. This fail-safe behavior covers declared completion requirements for recognized workshop questions. It is not a general guarantee of completeness for every open-ended question. The final answer still requires review, even when no fail-safe triggers.</a:t>
            </a:r>
          </a:p>
          <a:p xmlns:a="http://schemas.openxmlformats.org/drawingml/2006/main">
            <a:r>
              <a:t/>
            </a:r>
          </a:p>
          <a:p xmlns:a="http://schemas.openxmlformats.org/drawingml/2006/main">
            <a:r>
              <a:t>Sources</a:t>
            </a:r>
          </a:p>
          <a:p xmlns:a="http://schemas.openxmlformats.org/drawingml/2006/main">
            <a:r>
              <a:t>Starter repository: healthagent/agent/loop.py</a:t>
            </a:r>
          </a:p>
          <a:p xmlns:a="http://schemas.openxmlformats.org/drawingml/2006/main">
            <a:r>
              <a:t>Starter repository: healthagent/agent/live_policy.py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comparisons use observed GLOBEM g10 fields. Sleep means are based on 18 and 7 available values. Night-screen means are based on 20 and 7. The source night window is 00:00–06:00 unlock duration. A shared source date does not guarantee matching sleep episodes, temporal order or same-night exposure. The screen and sleep contrasts describe the same calendar windows but cannot establish that the screen change caused the sleep change. Do not bring synthetic event, caffeine or heart-rate fields into an empirical explanation.</a:t>
            </a:r>
          </a:p>
          <a:p xmlns:a="http://schemas.openxmlformats.org/drawingml/2006/main">
            <a:r>
              <a:t/>
            </a:r>
          </a:p>
          <a:p xmlns:a="http://schemas.openxmlformats.org/drawingml/2006/main">
            <a:r>
              <a:t>Sources</a:t>
            </a:r>
          </a:p>
          <a:p xmlns:a="http://schemas.openxmlformats.org/drawingml/2006/main">
            <a:r>
              <a:t>Starter repository: data/globem_hybrid/processed/sleep.csv</a:t>
            </a:r>
          </a:p>
          <a:p xmlns:a="http://schemas.openxmlformats.org/drawingml/2006/main">
            <a:r>
              <a:t>Starter repository: data/globem_hybrid/processed/screen_time.csv</a:t>
            </a:r>
          </a:p>
          <a:p xmlns:a="http://schemas.openxmlformats.org/drawingml/2006/main">
            <a:r>
              <a:t>Starter repository: data/globem_hybrid/DATA_CARD.md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Module 4 checkpoint. The evidence and safety checks are separate. Participants should be able to explain why the activity question worked before adding the sleep tools, show a relevant tool call, and identify a supported value. Use the provided medication question to test the refusal path. Verify that the student-built plot is registered and has axis labels and calendar gaps. The interpretation must separate observed fields from invented supplements and acknowledge source-day timing limits.</a:t>
            </a:r>
          </a:p>
          <a:p xmlns:a="http://schemas.openxmlformats.org/drawingml/2006/main">
            <a:r>
              <a:t/>
            </a:r>
          </a:p>
          <a:p xmlns:a="http://schemas.openxmlformats.org/drawingml/2006/main">
            <a:r>
              <a:t>Sources</a:t>
            </a:r>
          </a:p>
          <a:p xmlns:a="http://schemas.openxmlformats.org/drawingml/2006/main">
            <a:r>
              <a:t>Starter repository: notebooks/04_wiring_the_agent.ipynb</a:t>
            </a:r>
          </a:p>
          <a:p xmlns:a="http://schemas.openxmlformats.org/drawingml/2006/main">
            <a:r>
              <a:t>Starter repository: templates/eval_safety_checklist.md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rehearsal on 2026-09-12 used qwen3:8b Q4_K_M through Ollama 0.33.3 and Python SDK 0.6.2. Settings: think=false, num_ctx=8192, num_predict=1536, temperature=0, seed=2026. The repeated main prompt was: How has my sleep changed recently, and does the data explain why? No recorded case used a scripted fallback. Timings are agent wall times on the instructor machine, not a general model benchmark. The initial two main-question attempts took 19.488 and 16.826 seconds, each with four real model calls. Both returned grounded=True but failed manual content review because they described a correlation without a calculation. A subsequent single-case acceptance took 16.985 seconds and supplied the missing diagnostic. The final eight-case run took a summed 61.220 agent-seconds and made 22 model calls: six cases invoked the model, while medical and emergency guards used zero calls. The main sleep question and its repeat took 12.263 and 16.023 seconds, each with four calls. Both retrieved weak r=-0.23 over the 28-day window, retained source-day versus same-night limits, and declined to assign a cause. The activity and explicit efficiency-plot routes worked after earlier window-count and routing fixes. The efficiency answer correctly distinguished the Fitbit score from an asleep/in-bed ratio, but its generic introductory definition remained potentially confusing. The final synthetic-confound answer remained a content failure: it claimed strong correlation without calling correlate_metrics, and described a consistent within-week increase despite fluctuating values. Keep that raw response as a Module 5 failure example. Execution completion and grounded=True are not evidence that all content passed. Raw records retain the original outputs and source hashes.</a:t>
            </a:r>
          </a:p>
          <a:p xmlns:a="http://schemas.openxmlformats.org/drawingml/2006/main">
            <a:r>
              <a:t/>
            </a:r>
          </a:p>
          <a:p xmlns:a="http://schemas.openxmlformats.org/drawingml/2006/main">
            <a:r>
              <a:t>Sources</a:t>
            </a:r>
          </a:p>
          <a:p xmlns:a="http://schemas.openxmlformats.org/drawingml/2006/main">
            <a:r>
              <a:t>Starter repository: rehearsal/qwen3-8b-attempt-1/globem-sleep.json</a:t>
            </a:r>
          </a:p>
          <a:p xmlns:a="http://schemas.openxmlformats.org/drawingml/2006/main">
            <a:r>
              <a:t>Starter repository: rehearsal/qwen3-8b-attempt-2/globem-sleep.json</a:t>
            </a:r>
          </a:p>
          <a:p xmlns:a="http://schemas.openxmlformats.org/drawingml/2006/main">
            <a:r>
              <a:t>Starter repository: rehearsal/qwen3-8b-acceptance/globem-sleep.json</a:t>
            </a:r>
          </a:p>
          <a:p xmlns:a="http://schemas.openxmlformats.org/drawingml/2006/main">
            <a:r>
              <a:t>Starter repository: rehearsal/qwen3-8b-course-v3/</a:t>
            </a:r>
          </a:p>
          <a:p xmlns:a="http://schemas.openxmlformats.org/drawingml/2006/main">
            <a:r>
              <a:t>Starter repository: rehearsal/qwen3-8b-final-course/suite.json</a:t>
            </a:r>
          </a:p>
          <a:p xmlns:a="http://schemas.openxmlformats.org/drawingml/2006/main">
            <a:r>
              <a:t>Starter repository: rehearsal/qwen3-8b-final-course/globem-sleep.json</a:t>
            </a:r>
          </a:p>
          <a:p xmlns:a="http://schemas.openxmlformats.org/drawingml/2006/main">
            <a:r>
              <a:t>Starter repository: rehearsal/qwen3-8b-final-course/globem-sleep-repeat.json</a:t>
            </a:r>
          </a:p>
          <a:p xmlns:a="http://schemas.openxmlformats.org/drawingml/2006/main">
            <a:r>
              <a:t>Starter repository: rehearsal/qwen3-8b-final-course/globem-efficiency.json</a:t>
            </a:r>
          </a:p>
          <a:p xmlns:a="http://schemas.openxmlformats.org/drawingml/2006/main">
            <a:r>
              <a:t>Starter repository: rehearsal/qwen3-8b-final-course/synthetic-confound.json</a:t>
            </a:r>
          </a:p>
          <a:p xmlns:a="http://schemas.openxmlformats.org/drawingml/2006/main">
            <a:r>
              <a:t>Starter repository: scripts/rehearse_live.py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5, 30 minutes. Use 2 minutes for framing, 5 for the GLOBEM probe demo, 5 for the separate synthetic confound case, 6 for evidence quality, 5 for failure modes and 5 for deployment boundaries. Reserve 2 minutes for the checklist. Run the main probe harness on the GLOBEM profile. The synthetic case cell then reads its own tables directly without changing the active agent profile. Invite panelists to bring their own examples without assigning them unconfirmed claims.</a:t>
            </a:r>
          </a:p>
          <a:p xmlns:a="http://schemas.openxmlformats.org/drawingml/2006/main">
            <a:r>
              <a:t/>
            </a:r>
          </a:p>
          <a:p xmlns:a="http://schemas.openxmlformats.org/drawingml/2006/main">
            <a:r>
              <a:t>Sources</a:t>
            </a:r>
          </a:p>
          <a:p xmlns:a="http://schemas.openxmlformats.org/drawingml/2006/main">
            <a:r>
              <a:t>Starter repository: notebooks/05_eval_safety.ipynb</a:t>
            </a:r>
          </a:p>
          <a:p xmlns:a="http://schemas.openxmlformats.org/drawingml/2006/main">
            <a:r>
              <a:t>Starter repository: templates/eval_safety_checklist.md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reference solution on the main GLOBEM profile so the panel does not depend on unfinished edits. The later synthetic-case cell reads separate tables without changing this profile. The harness returns expected kind, observed kind, grounded and pass/fail. It covers a small set of fixed questions. A PASS means the specific predicate succeeded for that probe. It does not establish broad safety or medical validity. For sensitive crisis categories, follow the scaffold’s prepared-probe and opt-out guidance rather than inviting personal disclosures.</a:t>
            </a:r>
          </a:p>
          <a:p xmlns:a="http://schemas.openxmlformats.org/drawingml/2006/main">
            <a:r>
              <a:t/>
            </a:r>
          </a:p>
          <a:p xmlns:a="http://schemas.openxmlformats.org/drawingml/2006/main">
            <a:r>
              <a:t>Sources</a:t>
            </a:r>
          </a:p>
          <a:p xmlns:a="http://schemas.openxmlformats.org/drawingml/2006/main">
            <a:r>
              <a:t>Starter repository: notebooks/05_eval_safety.ipynb</a:t>
            </a:r>
          </a:p>
          <a:p xmlns:a="http://schemas.openxmlformats.org/drawingml/2006/main">
            <a:r>
              <a:t>Starter repository: healthagent/safety/probes.py</a:t>
            </a:r>
          </a:p>
          <a:p xmlns:a="http://schemas.openxmlformats.org/drawingml/2006/main">
            <a:r>
              <a:t>Starter repository: SACI_SCAFFOLD.md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5 switches to the separate fully synthetic teaching case. These are u01 generator outputs, not GLOBEM observations. The provided Module 5 cell reads the separate data/processed tables directly into synthetic-prefixed variables. It does not change the GLOBEM agent profile or send these records to the main agent. The final seven days have mean sleep 5.65 versus 7.44 baseline hours, and night-screen minutes 89.57 versus 9.38. A deadline both raises screen use and independently lowers sleep. The generator knows those mechanisms, but an agent seeing the co-occurring trajectories cannot separate their effects. Do not mix these figures or 22:00–02:00 screen definitions into the observed GLOBEM exercise.</a:t>
            </a:r>
          </a:p>
          <a:p xmlns:a="http://schemas.openxmlformats.org/drawingml/2006/main">
            <a:r>
              <a:t/>
            </a:r>
          </a:p>
          <a:p xmlns:a="http://schemas.openxmlformats.org/drawingml/2006/main">
            <a:r>
              <a:t>Sources</a:t>
            </a:r>
          </a:p>
          <a:p xmlns:a="http://schemas.openxmlformats.org/drawingml/2006/main">
            <a:r>
              <a:t>Starter repository: data/processed/sleep.csv</a:t>
            </a:r>
          </a:p>
          <a:p xmlns:a="http://schemas.openxmlformats.org/drawingml/2006/main">
            <a:r>
              <a:t>Starter repository: data/processed/screen_time.csv</a:t>
            </a:r>
          </a:p>
          <a:p xmlns:a="http://schemas.openxmlformats.org/drawingml/2006/main">
            <a:r>
              <a:t>Starter repository: data/DATA_CARD.md</a:t>
            </a:r>
          </a:p>
          <a:p xmlns:a="http://schemas.openxmlformats.org/drawingml/2006/main">
            <a:r>
              <a:t>Starter repository: data/generate_dataset.py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fully synthetic case read directly from data/processed by the Module 5 notebook. The agent stays on the GLOBEM profile. It is not evidence about GLOBEM g10. Explain the actual generator. In the last week, a deadline raises night screen use and independently reduces sleep by about 0.45 hours. The screen and deadline exposure patterns coincide in u01’s data. The agent observes the series but not the generating equations. A grounded hypothesis can mention screen use while acknowledging that the observations cannot separate it from the deadline. Caffeine is held flat, so it is not the common cause seeded here.</a:t>
            </a:r>
          </a:p>
          <a:p xmlns:a="http://schemas.openxmlformats.org/drawingml/2006/main">
            <a:r>
              <a:t/>
            </a:r>
          </a:p>
          <a:p xmlns:a="http://schemas.openxmlformats.org/drawingml/2006/main">
            <a:r>
              <a:t>Sources</a:t>
            </a:r>
          </a:p>
          <a:p xmlns:a="http://schemas.openxmlformats.org/drawingml/2006/main">
            <a:r>
              <a:t>Starter repository: data/DATA_CARD.md</a:t>
            </a:r>
          </a:p>
          <a:p xmlns:a="http://schemas.openxmlformats.org/drawingml/2006/main">
            <a:r>
              <a:t>Starter repository: data/generate_dataset.py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generic check requires every extracted answer number to match a usable tool summary within the greater of 0.5 absolute tolerance or 2 percent relative tolerance. It rejects explicit signed contradictions for a match and ignores dates, window counts and sample counts. This remains a magnitude check. It does not associate values with the right metric or unit, validate direction words, check every nonnumeric claim, or establish causality. Ask panelists how they would add claim-level evaluation.</a:t>
            </a:r>
          </a:p>
          <a:p xmlns:a="http://schemas.openxmlformats.org/drawingml/2006/main">
            <a:r>
              <a:t/>
            </a:r>
          </a:p>
          <a:p xmlns:a="http://schemas.openxmlformats.org/drawingml/2006/main">
            <a:r>
              <a:t>Sources</a:t>
            </a:r>
          </a:p>
          <a:p xmlns:a="http://schemas.openxmlformats.org/drawingml/2006/main">
            <a:r>
              <a:t>Starter repository: healthagent/agent/grounding.py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 implementation uses deterministic pattern matching before model calls when the refusal marker is present. It distinguishes ordinary medical guidance, apparent acute emergencies and crisis requests. This avoids relying on model compliance for covered patterns, but unseen phrasing can evade detection. The visible labels are response routing categories, not diagnoses. Use prepared prompts and jurisdiction-appropriate resources. Avoid soliciting participant health details.</a:t>
            </a:r>
          </a:p>
          <a:p xmlns:a="http://schemas.openxmlformats.org/drawingml/2006/main">
            <a:r>
              <a:t/>
            </a:r>
          </a:p>
          <a:p xmlns:a="http://schemas.openxmlformats.org/drawingml/2006/main">
            <a:r>
              <a:t>Sources</a:t>
            </a:r>
          </a:p>
          <a:p xmlns:a="http://schemas.openxmlformats.org/drawingml/2006/main">
            <a:r>
              <a:t>Starter repository: healthagent/safety/refusal.py</a:t>
            </a:r>
          </a:p>
          <a:p xmlns:a="http://schemas.openxmlformats.org/drawingml/2006/main">
            <a:r>
              <a:t>Starter repository: healthagent/agent/loop.py</a:t>
            </a:r>
          </a:p>
          <a:p xmlns:a="http://schemas.openxmlformats.org/drawingml/2006/main">
            <a:r>
              <a:t>Starter repository: SACI_SCAFFOLD.md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panel to operationalize evaluation. A useful manual review considers metric and window attribution, whether the question was answered, missing evidence, competing explanations and safety. Keep the distinction between model reasoning and tool correctness visible. A correct number can appear in the wrong causal story. A refusal can be appropriate yet unhelpful if it offers no safe next step.</a:t>
            </a:r>
          </a:p>
          <a:p xmlns:a="http://schemas.openxmlformats.org/drawingml/2006/main">
            <a:r>
              <a:t/>
            </a:r>
          </a:p>
          <a:p xmlns:a="http://schemas.openxmlformats.org/drawingml/2006/main">
            <a:r>
              <a:t>Sources</a:t>
            </a:r>
          </a:p>
          <a:p xmlns:a="http://schemas.openxmlformats.org/drawingml/2006/main">
            <a:r>
              <a:t>Starter repository: templates/eval_safety_checklist.md</a:t>
            </a:r>
          </a:p>
          <a:p xmlns:a="http://schemas.openxmlformats.org/drawingml/2006/main">
            <a:r>
              <a:t>Starter repository: healthagent/agent/grounding.py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Moderator prompts, not speaker-authored claims. Select questions based on the live demonstration. Invite a brief concrete response first, then one contrasting perspective. Ask panelists to distinguish the capabilities of the tutorial prototype from systems they have actually evaluated. If discussion grows long, protect the final checklist. Additional prompt: what observation would change your conclusion about the screen hypothesis?</a:t>
            </a:r>
          </a:p>
          <a:p xmlns:a="http://schemas.openxmlformats.org/drawingml/2006/main">
            <a:r>
              <a:t/>
            </a:r>
          </a:p>
          <a:p xmlns:a="http://schemas.openxmlformats.org/drawingml/2006/main">
            <a:r>
              <a:t>Sources</a:t>
            </a:r>
          </a:p>
          <a:p xmlns:a="http://schemas.openxmlformats.org/drawingml/2006/main">
            <a:r>
              <a:t>Adapted from UbiComp26-Tutorial-Proposal-Health-Agent/materials/panel_moderator_script.md</a:t>
            </a:r>
          </a:p>
          <a:p xmlns:a="http://schemas.openxmlformats.org/drawingml/2006/main">
            <a:r>
              <a:t>Starter repository: templates/eval_safety_checklist.md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research-governance discussion, not legal advice. The tutorial documents ask adopters to review human-data use, consent, retention, access controls and institutional review requirements. Source-data licenses and downstream sharing obligations remain relevant after transformation. Hosted models introduce an additional data flow that participants must understand. Synthetic values must remain recognizable as synthetic. Use the same exercise with synthetic personas when personal disclosure is unnecessary.</a:t>
            </a:r>
          </a:p>
          <a:p xmlns:a="http://schemas.openxmlformats.org/drawingml/2006/main">
            <a:r>
              <a:t/>
            </a:r>
          </a:p>
          <a:p xmlns:a="http://schemas.openxmlformats.org/drawingml/2006/main">
            <a:r>
              <a:t>Sources</a:t>
            </a:r>
          </a:p>
          <a:p xmlns:a="http://schemas.openxmlformats.org/drawingml/2006/main">
            <a:r>
              <a:t>Starter repository: RESPONSIBLE_USE.md</a:t>
            </a:r>
          </a:p>
          <a:p xmlns:a="http://schemas.openxmlformats.org/drawingml/2006/main">
            <a:r>
              <a:t>Starter repository: BRING_YOUR_OWN_DATA.md</a:t>
            </a:r>
          </a:p>
          <a:p xmlns:a="http://schemas.openxmlformats.org/drawingml/2006/main">
            <a:r>
              <a:t>Starter repository: SACI_SCAFFOLD.md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participants 2 minutes to record one observed failure, one manual check that the current harness misses, and a next test. The repository checklist is a reusable artifact rather than a list of completed guarantees. Do not pre-check the boxes for them. Encourage each pair to save a short trace excerpt with the test question, backend, dataset path and result so another person can reproduce the issue.</a:t>
            </a:r>
          </a:p>
          <a:p xmlns:a="http://schemas.openxmlformats.org/drawingml/2006/main">
            <a:r>
              <a:t/>
            </a:r>
          </a:p>
          <a:p xmlns:a="http://schemas.openxmlformats.org/drawingml/2006/main">
            <a:r>
              <a:t>Sources</a:t>
            </a:r>
          </a:p>
          <a:p xmlns:a="http://schemas.openxmlformats.org/drawingml/2006/main">
            <a:r>
              <a:t>Starter repository: templates/eval_safety_checklist.md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6, 10 minutes. Spend 3 minutes reviewing the artifacts, 3 on extension choices and 4 on questions. Have participants verify their saved edits and record one improvement they can evaluate. Tie the closing discussion back to the GLOBEM sleep question, the three tools participants implemented, and the boundary between observed association and causal explanation. The fully synthetic confound case remains a separate teaching artifact.</a:t>
            </a:r>
          </a:p>
          <a:p xmlns:a="http://schemas.openxmlformats.org/drawingml/2006/main">
            <a:r>
              <a:t/>
            </a:r>
          </a:p>
          <a:p xmlns:a="http://schemas.openxmlformats.org/drawingml/2006/main">
            <a:r>
              <a:t>Sources</a:t>
            </a:r>
          </a:p>
          <a:p xmlns:a="http://schemas.openxmlformats.org/drawingml/2006/main">
            <a:r>
              <a:t>Starter repository: README.md</a:t>
            </a:r>
          </a:p>
          <a:p xmlns:a="http://schemas.openxmlformats.org/drawingml/2006/main">
            <a:r>
              <a:t>Starter repository: EXTENDING.md</a:t>
            </a:r>
          </a:p>
          <a:p xmlns:a="http://schemas.openxmlformats.org/drawingml/2006/main">
            <a:r>
              <a:t>Starter repository: templates/eval_safety_checklist.md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each participant to choose one narrow extension rather than expanding everything at once. A new modality needs a mapped schema, tool and test question. Better evidence checking needs a test set with both supported and unsupported claims. Longitudinal analysis needs date and missingness policies. Multi-agent orchestration is a separate design that adds coordination concerns. The companion tutorial is relevant, but we do not promise its specific content here.</a:t>
            </a:r>
          </a:p>
          <a:p xmlns:a="http://schemas.openxmlformats.org/drawingml/2006/main">
            <a:r>
              <a:t/>
            </a:r>
          </a:p>
          <a:p xmlns:a="http://schemas.openxmlformats.org/drawingml/2006/main">
            <a:r>
              <a:t>Sources</a:t>
            </a:r>
          </a:p>
          <a:p xmlns:a="http://schemas.openxmlformats.org/drawingml/2006/main">
            <a:r>
              <a:t>Starter repository: EXTENDING.md</a:t>
            </a:r>
          </a:p>
          <a:p xmlns:a="http://schemas.openxmlformats.org/drawingml/2006/main">
            <a:r>
              <a:t>Starter repository: BRING_YOUR_OWN_DATA.md</a:t>
            </a:r>
          </a:p>
          <a:p xmlns:a="http://schemas.openxmlformats.org/drawingml/2006/main">
            <a:r>
              <a:t>Starter repository: docs/cookbook.md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time. The source repository contains setup instructions, notebooks, reference implementations, data documentation and the responsible-use scaffold. Invite questions that connect a proposed extension to an evaluation plan. Remind participants that the scripted backend is available for continued core exercises. For personal or sensitive concerns, direct discussion away from the public room.</a:t>
            </a:r>
          </a:p>
          <a:p xmlns:a="http://schemas.openxmlformats.org/drawingml/2006/main">
            <a:r>
              <a:t/>
            </a:r>
          </a:p>
          <a:p xmlns:a="http://schemas.openxmlformats.org/drawingml/2006/main">
            <a:r>
              <a:t>Sources</a:t>
            </a:r>
          </a:p>
          <a:p xmlns:a="http://schemas.openxmlformats.org/drawingml/2006/main">
            <a:r>
              <a:t>https://llm-health-agent-tutorial.github.io/</a:t>
            </a:r>
          </a:p>
          <a:p xmlns:a="http://schemas.openxmlformats.org/drawingml/2006/main">
            <a:r>
              <a:t>https://github.com/llm-health-agent-tutorial/llm-health-agent-starter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ee4a2765ba4d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55562831454558" /><Relationship Type="http://schemas.openxmlformats.org/officeDocument/2006/relationships/slideLayout" Target="/ppt/slideLayouts/slideLayout1.xml" Id="R55d980a1715f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d980a1715f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a7d394db3e4cff" /><Relationship Type="http://schemas.openxmlformats.org/officeDocument/2006/relationships/notesSlide" Target="/ppt/notesSlides/notesSlide1.xml" Id="Rb0eaac485d4348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32e15389334502" /><Relationship Type="http://schemas.openxmlformats.org/officeDocument/2006/relationships/image" Target="/ppt/media/image.jpeg" Id="Ra27b293095104aa8" /><Relationship Type="http://schemas.openxmlformats.org/officeDocument/2006/relationships/image" Target="/ppt/media/image2.jpeg" Id="R17f54d0cd46e48d3" /><Relationship Type="http://schemas.openxmlformats.org/officeDocument/2006/relationships/image" Target="/ppt/media/image3.jpeg" Id="R9de11dbb24ad4c5d" /><Relationship Type="http://schemas.openxmlformats.org/officeDocument/2006/relationships/image" Target="/ppt/media/image4.jpeg" Id="R22f24314b0d14b19" /><Relationship Type="http://schemas.openxmlformats.org/officeDocument/2006/relationships/image" Target="/ppt/media/image5.jpeg" Id="Rb923e5cfcc564632" /><Relationship Type="http://schemas.openxmlformats.org/officeDocument/2006/relationships/notesSlide" Target="/ppt/notesSlides/notesSlide2.xml" Id="R2ed3658618f34d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abfb312cbf4e03" /><Relationship Type="http://schemas.openxmlformats.org/officeDocument/2006/relationships/image" Target="/ppt/media/image.png" Id="R18fafd51310a4b93" /><Relationship Type="http://schemas.openxmlformats.org/officeDocument/2006/relationships/image" Target="/ppt/media/image6.jpeg" Id="Ra5fd15318dfb412e" /><Relationship Type="http://schemas.openxmlformats.org/officeDocument/2006/relationships/image" Target="/ppt/media/image7.jpeg" Id="R549ad443058a4154" /><Relationship Type="http://schemas.openxmlformats.org/officeDocument/2006/relationships/notesSlide" Target="/ppt/notesSlides/notesSlide3.xml" Id="Rb7bebddceb1b43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6ab6b17f3d4b69" /><Relationship Type="http://schemas.openxmlformats.org/officeDocument/2006/relationships/notesSlide" Target="/ppt/notesSlides/notesSlide4.xml" Id="R94daa15a45954f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11d83f742b4186" /><Relationship Type="http://schemas.openxmlformats.org/officeDocument/2006/relationships/notesSlide" Target="/ppt/notesSlides/notesSlide5.xml" Id="R2ff4f40ba4d84e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55d9cb79f446b6" /><Relationship Type="http://schemas.openxmlformats.org/officeDocument/2006/relationships/notesSlide" Target="/ppt/notesSlides/notesSlide6.xml" Id="R2a0707b98ecf4a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e2af0f2aff481a" /><Relationship Type="http://schemas.openxmlformats.org/officeDocument/2006/relationships/notesSlide" Target="/ppt/notesSlides/notesSlide7.xml" Id="Rce87e87fb92740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305ec9a83f4a79" /><Relationship Type="http://schemas.openxmlformats.org/officeDocument/2006/relationships/notesSlide" Target="/ppt/notesSlides/notesSlide8.xml" Id="R8b2e586e290844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2102108aa6496b" /><Relationship Type="http://schemas.openxmlformats.org/officeDocument/2006/relationships/notesSlide" Target="/ppt/notesSlides/notesSlide9.xml" Id="R4b4d6558026049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d3c59906924783" /><Relationship Type="http://schemas.openxmlformats.org/officeDocument/2006/relationships/notesSlide" Target="/ppt/notesSlides/notesSlide10.xml" Id="R9b602490885041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f9e4e9d2f2e4136" /><Relationship Type="http://schemas.openxmlformats.org/officeDocument/2006/relationships/notesSlide" Target="/ppt/notesSlides/notesSlide11.xml" Id="R630ad46108ac4c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51a36c429d489a" /><Relationship Type="http://schemas.openxmlformats.org/officeDocument/2006/relationships/notesSlide" Target="/ppt/notesSlides/notesSlide12.xml" Id="Rb4e075ab8ba547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ef2d51000394b21" /><Relationship Type="http://schemas.openxmlformats.org/officeDocument/2006/relationships/notesSlide" Target="/ppt/notesSlides/notesSlide13.xml" Id="R5762a33b2bd147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b117a7ec8f4545" /><Relationship Type="http://schemas.openxmlformats.org/officeDocument/2006/relationships/notesSlide" Target="/ppt/notesSlides/notesSlide14.xml" Id="R70c328a5b30241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d364cbd7614b9a" /><Relationship Type="http://schemas.openxmlformats.org/officeDocument/2006/relationships/notesSlide" Target="/ppt/notesSlides/notesSlide15.xml" Id="R7411e1d2332d4b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98c37251fed4c02" /><Relationship Type="http://schemas.openxmlformats.org/officeDocument/2006/relationships/notesSlide" Target="/ppt/notesSlides/notesSlide16.xml" Id="R1ff371b8d4524b6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9af815ddf24218" /><Relationship Type="http://schemas.openxmlformats.org/officeDocument/2006/relationships/notesSlide" Target="/ppt/notesSlides/notesSlide17.xml" Id="R6552bc3daa4b4e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e10c5f7c9a4c2f" /><Relationship Type="http://schemas.openxmlformats.org/officeDocument/2006/relationships/notesSlide" Target="/ppt/notesSlides/notesSlide18.xml" Id="R1cf2b18b1c4d41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7de1cd0250b4fd9" /><Relationship Type="http://schemas.openxmlformats.org/officeDocument/2006/relationships/notesSlide" Target="/ppt/notesSlides/notesSlide19.xml" Id="Rdc59834410724f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d5fa40f0b34dc4" /><Relationship Type="http://schemas.openxmlformats.org/officeDocument/2006/relationships/notesSlide" Target="/ppt/notesSlides/notesSlide20.xml" Id="Ra411916466684e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c5db2129ba4dd7" /><Relationship Type="http://schemas.openxmlformats.org/officeDocument/2006/relationships/notesSlide" Target="/ppt/notesSlides/notesSlide21.xml" Id="R0458a34df9ba4d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8c34058b32a4412" /><Relationship Type="http://schemas.openxmlformats.org/officeDocument/2006/relationships/notesSlide" Target="/ppt/notesSlides/notesSlide22.xml" Id="Rb014a8adb9ff45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938eb762e54b4f" /><Relationship Type="http://schemas.openxmlformats.org/officeDocument/2006/relationships/notesSlide" Target="/ppt/notesSlides/notesSlide23.xml" Id="Ra9649d1270b34e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ab83e5008a6477c" /><Relationship Type="http://schemas.openxmlformats.org/officeDocument/2006/relationships/chart" Target="/ppt/slides/charts/chart1.xml" Id="Rc51009e35ebd4e93" /><Relationship Type="http://schemas.openxmlformats.org/officeDocument/2006/relationships/notesSlide" Target="/ppt/notesSlides/notesSlide24.xml" Id="R741c97acb3064d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76642bfb65d4afc" /><Relationship Type="http://schemas.openxmlformats.org/officeDocument/2006/relationships/notesSlide" Target="/ppt/notesSlides/notesSlide25.xml" Id="R0cf12d09a68847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b57f2410967440d" /><Relationship Type="http://schemas.openxmlformats.org/officeDocument/2006/relationships/notesSlide" Target="/ppt/notesSlides/notesSlide26.xml" Id="Re7636cc492ba454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919b11beaf44d0" /><Relationship Type="http://schemas.openxmlformats.org/officeDocument/2006/relationships/image" Target="/ppt/media/image2.png" Id="Reb46319c5c804e8d" /><Relationship Type="http://schemas.openxmlformats.org/officeDocument/2006/relationships/notesSlide" Target="/ppt/notesSlides/notesSlide27.xml" Id="R14d89a88971f48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9cc78e1f15d4094" /><Relationship Type="http://schemas.openxmlformats.org/officeDocument/2006/relationships/notesSlide" Target="/ppt/notesSlides/notesSlide28.xml" Id="R3db6e5c3ab9541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81f4bcedadb4b39" /><Relationship Type="http://schemas.openxmlformats.org/officeDocument/2006/relationships/notesSlide" Target="/ppt/notesSlides/notesSlide29.xml" Id="R49fa231f6ef64e0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09f5d1568f34dbc" /><Relationship Type="http://schemas.openxmlformats.org/officeDocument/2006/relationships/notesSlide" Target="/ppt/notesSlides/notesSlide30.xml" Id="R82004cf46f2646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86a4f7fdb1a4493" /><Relationship Type="http://schemas.openxmlformats.org/officeDocument/2006/relationships/notesSlide" Target="/ppt/notesSlides/notesSlide31.xml" Id="R24e254a9ddd34c4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a463fbd2ac3425d" /><Relationship Type="http://schemas.openxmlformats.org/officeDocument/2006/relationships/notesSlide" Target="/ppt/notesSlides/notesSlide32.xml" Id="R8d057f5fadb542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e2316f00e114709" /><Relationship Type="http://schemas.openxmlformats.org/officeDocument/2006/relationships/notesSlide" Target="/ppt/notesSlides/notesSlide33.xml" Id="Ra9264343dd874f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b87031ff7954284" /><Relationship Type="http://schemas.openxmlformats.org/officeDocument/2006/relationships/notesSlide" Target="/ppt/notesSlides/notesSlide34.xml" Id="R6d94881e855a45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4942b1de6f54a1e" /><Relationship Type="http://schemas.openxmlformats.org/officeDocument/2006/relationships/notesSlide" Target="/ppt/notesSlides/notesSlide35.xml" Id="R079a761464894b9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e9b0796adae4047" /><Relationship Type="http://schemas.openxmlformats.org/officeDocument/2006/relationships/notesSlide" Target="/ppt/notesSlides/notesSlide36.xml" Id="R14d587def8dc423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b4af5a66f494564" /><Relationship Type="http://schemas.openxmlformats.org/officeDocument/2006/relationships/chart" Target="/ppt/slides/charts/chart2.xml" Id="Rd92ac170f546451e" /><Relationship Type="http://schemas.openxmlformats.org/officeDocument/2006/relationships/chart" Target="/ppt/slides/charts/chart3.xml" Id="R43183d9db1fd446c" /><Relationship Type="http://schemas.openxmlformats.org/officeDocument/2006/relationships/notesSlide" Target="/ppt/notesSlides/notesSlide37.xml" Id="R07fd912959b4419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fe68b15e93a4b70" /><Relationship Type="http://schemas.openxmlformats.org/officeDocument/2006/relationships/notesSlide" Target="/ppt/notesSlides/notesSlide38.xml" Id="R67d152a384ef48c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f81bc93c6f646a3" /><Relationship Type="http://schemas.openxmlformats.org/officeDocument/2006/relationships/notesSlide" Target="/ppt/notesSlides/notesSlide39.xml" Id="Rdb68d54544d3491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2837745ac1940c5" /><Relationship Type="http://schemas.openxmlformats.org/officeDocument/2006/relationships/notesSlide" Target="/ppt/notesSlides/notesSlide40.xml" Id="R799f3d867cac43c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ea5ec94a27a4aad" /><Relationship Type="http://schemas.openxmlformats.org/officeDocument/2006/relationships/notesSlide" Target="/ppt/notesSlides/notesSlide41.xml" Id="R7f64525b80ed4d8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f2ec83d95284351" /><Relationship Type="http://schemas.openxmlformats.org/officeDocument/2006/relationships/chart" Target="/ppt/slides/charts/chart4.xml" Id="Ra6cee5d7995f47d3" /><Relationship Type="http://schemas.openxmlformats.org/officeDocument/2006/relationships/chart" Target="/ppt/slides/charts/chart5.xml" Id="R3f9f019180424b13" /><Relationship Type="http://schemas.openxmlformats.org/officeDocument/2006/relationships/notesSlide" Target="/ppt/notesSlides/notesSlide42.xml" Id="R1c706e91d199472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2a1711045e64a92" /><Relationship Type="http://schemas.openxmlformats.org/officeDocument/2006/relationships/notesSlide" Target="/ppt/notesSlides/notesSlide43.xml" Id="Rdb42a82feda84e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7fbd98a0f2143aa" /><Relationship Type="http://schemas.openxmlformats.org/officeDocument/2006/relationships/notesSlide" Target="/ppt/notesSlides/notesSlide44.xml" Id="Red020c0bf5c047d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8aba3a9d7c1417d" /><Relationship Type="http://schemas.openxmlformats.org/officeDocument/2006/relationships/notesSlide" Target="/ppt/notesSlides/notesSlide45.xml" Id="R110dd6bfe1034fe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865f502ba7b4c64" /><Relationship Type="http://schemas.openxmlformats.org/officeDocument/2006/relationships/notesSlide" Target="/ppt/notesSlides/notesSlide46.xml" Id="Rd938b48b90e1460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8a10ce7b8134860" /><Relationship Type="http://schemas.openxmlformats.org/officeDocument/2006/relationships/notesSlide" Target="/ppt/notesSlides/notesSlide47.xml" Id="R1e3abec09904427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89e55a0a9f64615" /><Relationship Type="http://schemas.openxmlformats.org/officeDocument/2006/relationships/notesSlide" Target="/ppt/notesSlides/notesSlide48.xml" Id="R71702c884ac847b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049ecf08fdd49c4" /><Relationship Type="http://schemas.openxmlformats.org/officeDocument/2006/relationships/notesSlide" Target="/ppt/notesSlides/notesSlide49.xml" Id="Ra06cb6fc3d4545c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deb5b6d590f4c30" /><Relationship Type="http://schemas.openxmlformats.org/officeDocument/2006/relationships/notesSlide" Target="/ppt/notesSlides/notesSlide50.xml" Id="R9c9ee6ba69ff4a3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f534b72322a4810" /><Relationship Type="http://schemas.openxmlformats.org/officeDocument/2006/relationships/notesSlide" Target="/ppt/notesSlides/notesSlide51.xml" Id="R5e35328b8608424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9cf56edf9154c62" /><Relationship Type="http://schemas.openxmlformats.org/officeDocument/2006/relationships/notesSlide" Target="/ppt/notesSlides/notesSlide52.xml" Id="Re8c9af0d8a8348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20252B"/>
                </a:solidFill>
                <a:latin typeface="Helvetica Neue"/>
                <a:ea typeface="Helvetica Neue"/>
                <a:cs typeface="Helvetica Neue"/>
              </a:rPr>
              <a:t>Observed sleep, hours per source-day</a:t>
            </a:r>
          </a:p>
        </c:rich>
      </c:tx>
      <c:overlay val="0"/>
      <c:txPr>
        <a:bodyPr xmlns:a="http://schemas.openxmlformats.org/drawingml/2006/main" anchorCtr="1"/>
        <a:lstStyle xmlns:a="http://schemas.openxmlformats.org/drawingml/2006/main"/>
        <a:p xmlns:a="http://schemas.openxmlformats.org/drawingml/2006/main">
          <a:pPr>
            <a:defRPr sz="1875" b="0">
              <a:solidFill>
                <a:srgbClr val="20252B"/>
              </a:solidFill>
              <a:latin typeface="Helvetica Neue"/>
              <a:ea typeface="Helvetica Neue"/>
              <a:cs typeface="Helvetica Neue"/>
            </a:defRPr>
          </a:pPr>
        </a:p>
      </c:txPr>
    </c:title>
    <c:plotArea>
      <c:barChart>
        <c:barDir val="col"/>
        <c:grouping val="clustered"/>
        <c:varyColors val="0"/>
        <c:ser>
          <c:idx val="0"/>
          <c:order val="0"/>
          <c:tx>
            <c:v>Sleep hours</c:v>
          </c:tx>
          <c:spPr>
            <a:solidFill xmlns:a="http://schemas.openxmlformats.org/drawingml/2006/main">
              <a:srgbClr val="245891"/>
            </a:solidFill>
            <a:ln xmlns:a="http://schemas.openxmlformats.org/drawingml/2006/main" w="28575">
              <a:solidFill>
                <a:srgbClr val="245891"/>
              </a:solidFill>
            </a:ln>
          </c:spPr>
          <c:cat>
            <c:strRef>
              <c:f>'Chart Data'!$A$2:$A$3</c:f>
              <c:strCache>
                <c:ptCount val="2"/>
                <c:pt idx="0">
                  <c:v>Baseline, n=18/21</c:v>
                </c:pt>
                <c:pt idx="1">
                  <c:v>Recent, n=7/7</c:v>
                </c:pt>
              </c:strCache>
            </c:strRef>
          </c:cat>
          <c:val>
            <c:numRef>
              <c:f>'Chart Data'!$B$2:$B$3</c:f>
              <c:numCache>
                <c:formatCode>0.00</c:formatCode>
                <c:ptCount val="2"/>
                <c:pt idx="0">
                  <c:v>6.4</c:v>
                </c:pt>
                <c:pt idx="1">
                  <c:v>5.05</c:v>
                </c:pt>
              </c:numCache>
            </c:numRef>
          </c:val>
        </c:ser>
        <c:dLbls>
          <c:txPr>
            <a:bodyPr xmlns:a="http://schemas.openxmlformats.org/drawingml/2006/main" anchorCtr="1"/>
            <a:lstStyle xmlns:a="http://schemas.openxmlformats.org/drawingml/2006/main"/>
            <a:p xmlns:a="http://schemas.openxmlformats.org/drawingml/2006/main">
              <a:pPr>
                <a:defRPr sz="2100" b="0">
                  <a:solidFill>
                    <a:srgbClr val="20252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1E6"/>
            </a:solid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72768"/>
      </c:catAx>
      <c:valAx>
        <c:axId val="48672768"/>
        <c:scaling>
          <c:orientation val="minMax"/>
          <c:max val="9"/>
          <c:min val="0"/>
        </c:scaling>
        <c:delete val="0"/>
        <c:axPos val="l"/>
        <c:majorGridlines>
          <c:spPr>
            <a:ln xmlns:a="http://schemas.openxmlformats.org/drawingml/2006/main" w="9525">
              <a:solidFill>
                <a:srgbClr val="DCE1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20252B"/>
                </a:solidFill>
                <a:latin typeface="Helvetica Neue"/>
                <a:ea typeface="Helvetica Neue"/>
                <a:cs typeface="Helvetica Neue"/>
              </a:rPr>
              <a:t>Observed sleep, hours / source-day</a:t>
            </a:r>
          </a:p>
        </c:rich>
      </c:tx>
      <c:overlay val="0"/>
      <c:txPr>
        <a:bodyPr xmlns:a="http://schemas.openxmlformats.org/drawingml/2006/main" anchorCtr="1"/>
        <a:lstStyle xmlns:a="http://schemas.openxmlformats.org/drawingml/2006/main"/>
        <a:p xmlns:a="http://schemas.openxmlformats.org/drawingml/2006/main">
          <a:pPr>
            <a:defRPr sz="1875" b="0">
              <a:solidFill>
                <a:srgbClr val="20252B"/>
              </a:solidFill>
              <a:latin typeface="Helvetica Neue"/>
              <a:ea typeface="Helvetica Neue"/>
              <a:cs typeface="Helvetica Neue"/>
            </a:defRPr>
          </a:pPr>
        </a:p>
      </c:txPr>
    </c:title>
    <c:plotArea>
      <c:barChart>
        <c:barDir val="col"/>
        <c:grouping val="clustered"/>
        <c:varyColors val="0"/>
        <c:ser>
          <c:idx val="0"/>
          <c:order val="0"/>
          <c:tx>
            <c:v>Sleep hours</c:v>
          </c:tx>
          <c:spPr>
            <a:solidFill xmlns:a="http://schemas.openxmlformats.org/drawingml/2006/main">
              <a:srgbClr val="245891"/>
            </a:solidFill>
            <a:ln xmlns:a="http://schemas.openxmlformats.org/drawingml/2006/main" w="28575">
              <a:solidFill>
                <a:srgbClr val="245891"/>
              </a:solidFill>
            </a:ln>
          </c:spPr>
          <c:cat>
            <c:strRef>
              <c:f>'Chart Data'!$A$2:$A$3</c:f>
              <c:strCache>
                <c:ptCount val="2"/>
                <c:pt idx="0">
                  <c:v>Baseline, n=18</c:v>
                </c:pt>
                <c:pt idx="1">
                  <c:v>Recent, n=7</c:v>
                </c:pt>
              </c:strCache>
            </c:strRef>
          </c:cat>
          <c:val>
            <c:numRef>
              <c:f>'Chart Data'!$B$2:$B$3</c:f>
              <c:numCache>
                <c:formatCode>0.00</c:formatCode>
                <c:ptCount val="2"/>
                <c:pt idx="0">
                  <c:v>6.4</c:v>
                </c:pt>
                <c:pt idx="1">
                  <c:v>5.05</c:v>
                </c:pt>
              </c:numCache>
            </c:numRef>
          </c:val>
        </c:ser>
        <c:dLbls>
          <c:txPr>
            <a:bodyPr xmlns:a="http://schemas.openxmlformats.org/drawingml/2006/main" anchorCtr="1"/>
            <a:lstStyle xmlns:a="http://schemas.openxmlformats.org/drawingml/2006/main"/>
            <a:p xmlns:a="http://schemas.openxmlformats.org/drawingml/2006/main">
              <a:pPr>
                <a:defRPr sz="2100" b="0">
                  <a:solidFill>
                    <a:srgbClr val="20252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1E6"/>
            </a:solid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72768"/>
      </c:catAx>
      <c:valAx>
        <c:axId val="48672768"/>
        <c:scaling>
          <c:orientation val="minMax"/>
          <c:max val="9"/>
          <c:min val="0"/>
        </c:scaling>
        <c:delete val="0"/>
        <c:axPos val="l"/>
        <c:majorGridlines>
          <c:spPr>
            <a:ln xmlns:a="http://schemas.openxmlformats.org/drawingml/2006/main" w="9525">
              <a:solidFill>
                <a:srgbClr val="DCE1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20252B"/>
                </a:solidFill>
                <a:latin typeface="Helvetica Neue"/>
                <a:ea typeface="Helvetica Neue"/>
                <a:cs typeface="Helvetica Neue"/>
              </a:rPr>
              <a:t>Night unlock duration, minutes</a:t>
            </a:r>
          </a:p>
        </c:rich>
      </c:tx>
      <c:overlay val="0"/>
      <c:txPr>
        <a:bodyPr xmlns:a="http://schemas.openxmlformats.org/drawingml/2006/main" anchorCtr="1"/>
        <a:lstStyle xmlns:a="http://schemas.openxmlformats.org/drawingml/2006/main"/>
        <a:p xmlns:a="http://schemas.openxmlformats.org/drawingml/2006/main">
          <a:pPr>
            <a:defRPr sz="1875" b="0">
              <a:solidFill>
                <a:srgbClr val="20252B"/>
              </a:solidFill>
              <a:latin typeface="Helvetica Neue"/>
              <a:ea typeface="Helvetica Neue"/>
              <a:cs typeface="Helvetica Neue"/>
            </a:defRPr>
          </a:pPr>
        </a:p>
      </c:txPr>
    </c:title>
    <c:plotArea>
      <c:barChart>
        <c:barDir val="col"/>
        <c:grouping val="clustered"/>
        <c:varyColors val="0"/>
        <c:ser>
          <c:idx val="0"/>
          <c:order val="0"/>
          <c:tx>
            <c:v>Night unlock minutes</c:v>
          </c:tx>
          <c:spPr>
            <a:solidFill xmlns:a="http://schemas.openxmlformats.org/drawingml/2006/main">
              <a:srgbClr val="245891"/>
            </a:solidFill>
            <a:ln xmlns:a="http://schemas.openxmlformats.org/drawingml/2006/main" w="28575">
              <a:solidFill>
                <a:srgbClr val="245891"/>
              </a:solidFill>
            </a:ln>
          </c:spPr>
          <c:cat>
            <c:strRef>
              <c:f>'Chart Data'!$A$2:$A$3</c:f>
              <c:strCache>
                <c:ptCount val="2"/>
                <c:pt idx="0">
                  <c:v>Baseline, n=20</c:v>
                </c:pt>
                <c:pt idx="1">
                  <c:v>Recent, n=7</c:v>
                </c:pt>
              </c:strCache>
            </c:strRef>
          </c:cat>
          <c:val>
            <c:numRef>
              <c:f>'Chart Data'!$B$2:$B$3</c:f>
              <c:numCache>
                <c:formatCode>0.00</c:formatCode>
                <c:ptCount val="2"/>
                <c:pt idx="0">
                  <c:v>38.03</c:v>
                </c:pt>
                <c:pt idx="1">
                  <c:v>53.91</c:v>
                </c:pt>
              </c:numCache>
            </c:numRef>
          </c:val>
        </c:ser>
        <c:dLbls>
          <c:txPr>
            <a:bodyPr xmlns:a="http://schemas.openxmlformats.org/drawingml/2006/main" anchorCtr="1"/>
            <a:lstStyle xmlns:a="http://schemas.openxmlformats.org/drawingml/2006/main"/>
            <a:p xmlns:a="http://schemas.openxmlformats.org/drawingml/2006/main">
              <a:pPr>
                <a:defRPr sz="2100" b="0">
                  <a:solidFill>
                    <a:srgbClr val="20252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1E6"/>
            </a:solid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72768"/>
      </c:catAx>
      <c:valAx>
        <c:axId val="48672768"/>
        <c:scaling>
          <c:orientation val="minMax"/>
          <c:max val="70"/>
          <c:min val="0"/>
        </c:scaling>
        <c:delete val="0"/>
        <c:axPos val="l"/>
        <c:majorGridlines>
          <c:spPr>
            <a:ln xmlns:a="http://schemas.openxmlformats.org/drawingml/2006/main" w="9525">
              <a:solidFill>
                <a:srgbClr val="DCE1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20252B"/>
                </a:solidFill>
                <a:latin typeface="Helvetica Neue"/>
                <a:ea typeface="Helvetica Neue"/>
                <a:cs typeface="Helvetica Neue"/>
              </a:rPr>
              <a:t>Synthetic sleep, hours per night</a:t>
            </a:r>
          </a:p>
        </c:rich>
      </c:tx>
      <c:overlay val="0"/>
      <c:txPr>
        <a:bodyPr xmlns:a="http://schemas.openxmlformats.org/drawingml/2006/main" anchorCtr="1"/>
        <a:lstStyle xmlns:a="http://schemas.openxmlformats.org/drawingml/2006/main"/>
        <a:p xmlns:a="http://schemas.openxmlformats.org/drawingml/2006/main">
          <a:pPr>
            <a:defRPr sz="1875" b="0">
              <a:solidFill>
                <a:srgbClr val="20252B"/>
              </a:solidFill>
              <a:latin typeface="Helvetica Neue"/>
              <a:ea typeface="Helvetica Neue"/>
              <a:cs typeface="Helvetica Neue"/>
            </a:defRPr>
          </a:pPr>
        </a:p>
      </c:txPr>
    </c:title>
    <c:plotArea>
      <c:barChart>
        <c:barDir val="col"/>
        <c:grouping val="clustered"/>
        <c:varyColors val="0"/>
        <c:ser>
          <c:idx val="0"/>
          <c:order val="0"/>
          <c:tx>
            <c:v>Sleep hours</c:v>
          </c:tx>
          <c:spPr>
            <a:solidFill xmlns:a="http://schemas.openxmlformats.org/drawingml/2006/main">
              <a:srgbClr val="245891"/>
            </a:solidFill>
            <a:ln xmlns:a="http://schemas.openxmlformats.org/drawingml/2006/main" w="28575">
              <a:solidFill>
                <a:srgbClr val="245891"/>
              </a:solidFill>
            </a:ln>
          </c:spPr>
          <c:cat>
            <c:strRef>
              <c:f>'Chart Data'!$A$2:$A$3</c:f>
              <c:strCache>
                <c:ptCount val="2"/>
                <c:pt idx="0">
                  <c:v>Baseline</c:v>
                </c:pt>
                <c:pt idx="1">
                  <c:v>Recent</c:v>
                </c:pt>
              </c:strCache>
            </c:strRef>
          </c:cat>
          <c:val>
            <c:numRef>
              <c:f>'Chart Data'!$B$2:$B$3</c:f>
              <c:numCache>
                <c:formatCode>0.00</c:formatCode>
                <c:ptCount val="2"/>
                <c:pt idx="0">
                  <c:v>7.44</c:v>
                </c:pt>
                <c:pt idx="1">
                  <c:v>5.65</c:v>
                </c:pt>
              </c:numCache>
            </c:numRef>
          </c:val>
        </c:ser>
        <c:dLbls>
          <c:txPr>
            <a:bodyPr xmlns:a="http://schemas.openxmlformats.org/drawingml/2006/main" anchorCtr="1"/>
            <a:lstStyle xmlns:a="http://schemas.openxmlformats.org/drawingml/2006/main"/>
            <a:p xmlns:a="http://schemas.openxmlformats.org/drawingml/2006/main">
              <a:pPr>
                <a:defRPr sz="2100" b="0">
                  <a:solidFill>
                    <a:srgbClr val="20252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1E6"/>
            </a:solid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72768"/>
      </c:catAx>
      <c:valAx>
        <c:axId val="48672768"/>
        <c:scaling>
          <c:orientation val="minMax"/>
          <c:max val="9"/>
          <c:min val="0"/>
        </c:scaling>
        <c:delete val="0"/>
        <c:axPos val="l"/>
        <c:majorGridlines>
          <c:spPr>
            <a:ln xmlns:a="http://schemas.openxmlformats.org/drawingml/2006/main" w="9525">
              <a:solidFill>
                <a:srgbClr val="DCE1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20252B"/>
                </a:solidFill>
                <a:latin typeface="Helvetica Neue"/>
                <a:ea typeface="Helvetica Neue"/>
                <a:cs typeface="Helvetica Neue"/>
              </a:rPr>
              <a:t>Synthetic night screen, minutes</a:t>
            </a:r>
          </a:p>
        </c:rich>
      </c:tx>
      <c:overlay val="0"/>
      <c:txPr>
        <a:bodyPr xmlns:a="http://schemas.openxmlformats.org/drawingml/2006/main" anchorCtr="1"/>
        <a:lstStyle xmlns:a="http://schemas.openxmlformats.org/drawingml/2006/main"/>
        <a:p xmlns:a="http://schemas.openxmlformats.org/drawingml/2006/main">
          <a:pPr>
            <a:defRPr sz="1875" b="0">
              <a:solidFill>
                <a:srgbClr val="20252B"/>
              </a:solidFill>
              <a:latin typeface="Helvetica Neue"/>
              <a:ea typeface="Helvetica Neue"/>
              <a:cs typeface="Helvetica Neue"/>
            </a:defRPr>
          </a:pPr>
        </a:p>
      </c:txPr>
    </c:title>
    <c:plotArea>
      <c:barChart>
        <c:barDir val="col"/>
        <c:grouping val="clustered"/>
        <c:varyColors val="0"/>
        <c:ser>
          <c:idx val="0"/>
          <c:order val="0"/>
          <c:tx>
            <c:v>Night screen minutes</c:v>
          </c:tx>
          <c:spPr>
            <a:solidFill xmlns:a="http://schemas.openxmlformats.org/drawingml/2006/main">
              <a:srgbClr val="245891"/>
            </a:solidFill>
            <a:ln xmlns:a="http://schemas.openxmlformats.org/drawingml/2006/main" w="28575">
              <a:solidFill>
                <a:srgbClr val="245891"/>
              </a:solidFill>
            </a:ln>
          </c:spPr>
          <c:cat>
            <c:strRef>
              <c:f>'Chart Data'!$A$2:$A$3</c:f>
              <c:strCache>
                <c:ptCount val="2"/>
                <c:pt idx="0">
                  <c:v>Baseline</c:v>
                </c:pt>
                <c:pt idx="1">
                  <c:v>Recent</c:v>
                </c:pt>
              </c:strCache>
            </c:strRef>
          </c:cat>
          <c:val>
            <c:numRef>
              <c:f>'Chart Data'!$B$2:$B$3</c:f>
              <c:numCache>
                <c:formatCode>0.00</c:formatCode>
                <c:ptCount val="2"/>
                <c:pt idx="0">
                  <c:v>9.38</c:v>
                </c:pt>
                <c:pt idx="1">
                  <c:v>89.57</c:v>
                </c:pt>
              </c:numCache>
            </c:numRef>
          </c:val>
        </c:ser>
        <c:dLbls>
          <c:txPr>
            <a:bodyPr xmlns:a="http://schemas.openxmlformats.org/drawingml/2006/main" anchorCtr="1"/>
            <a:lstStyle xmlns:a="http://schemas.openxmlformats.org/drawingml/2006/main"/>
            <a:p xmlns:a="http://schemas.openxmlformats.org/drawingml/2006/main">
              <a:pPr>
                <a:defRPr sz="2100" b="0">
                  <a:solidFill>
                    <a:srgbClr val="20252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1E6"/>
            </a:solid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72768"/>
      </c:catAx>
      <c:valAx>
        <c:axId val="48672768"/>
        <c:scaling>
          <c:orientation val="minMax"/>
          <c:max val="110"/>
          <c:min val="0"/>
        </c:scaling>
        <c:delete val="0"/>
        <c:axPos val="l"/>
        <c:majorGridlines>
          <c:spPr>
            <a:ln xmlns:a="http://schemas.openxmlformats.org/drawingml/2006/main" w="9525">
              <a:solidFill>
                <a:srgbClr val="DCE1E6"/>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646B73"/>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26B637A4-417A-46D8-A725-4DB7929F4973}"/>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24C766B3-C96F-40C7-8853-E9308BBEF809}"/>
              </a:ext>
            </a:extLst>
          </p:cNvPr>
          <p:cNvSpPr>
            <a:spLocks xmlns:a="http://schemas.openxmlformats.org/drawingml/2006/main" noGrp="1"/>
          </p:cNvSpPr>
          <p:nvPr/>
        </p:nvSpPr>
        <p:spPr>
          <a:xfrm xmlns:a="http://schemas.openxmlformats.org/drawingml/2006/main">
            <a:off x="609600" y="666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646B73"/>
                </a:solidFill>
                <a:latin typeface="Helvetica Neue"/>
                <a:ea typeface="Helvetica Neue"/>
                <a:cs typeface="Helvetica Neue"/>
              </a:defRPr>
            </a:pPr>
            <a:r>
              <a:rPr sz="2250" b="0">
                <a:solidFill>
                  <a:srgbClr val="646B73"/>
                </a:solidFill>
                <a:latin typeface="Helvetica Neue"/>
                <a:ea typeface="Helvetica Neue"/>
                <a:cs typeface="Helvetica Neue"/>
              </a:rPr>
              <a:t>UbiComp / ISWC 2026</a:t>
            </a:r>
          </a:p>
        </p:txBody>
      </p:sp>
      <p:sp>
        <p:nvSpPr>
          <p:cNvPr id="3" name="text-2">
            <a:extLst xmlns:a="http://schemas.openxmlformats.org/drawingml/2006/main">
              <a:ext uri="{FF2B5EF4-FFF2-40B4-BE49-F238E27FC236}">
                <a16:creationId xmlns:a16="http://schemas.microsoft.com/office/drawing/2014/main" id="{1D858193-9A0F-45BB-9C46-3D41BE82B9F4}"/>
              </a:ext>
            </a:extLst>
          </p:cNvPr>
          <p:cNvSpPr>
            <a:spLocks xmlns:a="http://schemas.openxmlformats.org/drawingml/2006/main" noGrp="1"/>
          </p:cNvSpPr>
          <p:nvPr/>
        </p:nvSpPr>
        <p:spPr>
          <a:xfrm xmlns:a="http://schemas.openxmlformats.org/drawingml/2006/main">
            <a:off x="609600" y="1962150"/>
            <a:ext cx="10972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475" b="0">
                <a:solidFill>
                  <a:srgbClr val="20252B"/>
                </a:solidFill>
                <a:latin typeface="Helvetica Neue"/>
                <a:ea typeface="Helvetica Neue"/>
                <a:cs typeface="Helvetica Neue"/>
              </a:defRPr>
            </a:pPr>
            <a:r>
              <a:rPr sz="5475" b="0">
                <a:solidFill>
                  <a:srgbClr val="20252B"/>
                </a:solidFill>
                <a:latin typeface="Helvetica Neue"/>
                <a:ea typeface="Helvetica Neue"/>
                <a:cs typeface="Helvetica Neue"/>
              </a:rPr>
              <a:t>Prototyping Your</a:t>
            </a:r>
          </a:p>
          <a:p xmlns:a="http://schemas.openxmlformats.org/drawingml/2006/main">
            <a:pPr algn="l">
              <a:defRPr sz="5475" b="0">
                <a:solidFill>
                  <a:srgbClr val="20252B"/>
                </a:solidFill>
                <a:latin typeface="Helvetica Neue"/>
                <a:ea typeface="Helvetica Neue"/>
                <a:cs typeface="Helvetica Neue"/>
              </a:defRPr>
            </a:pPr>
            <a:r>
              <a:rPr sz="5475" b="0">
                <a:solidFill>
                  <a:srgbClr val="20252B"/>
                </a:solidFill>
                <a:latin typeface="Helvetica Neue"/>
                <a:ea typeface="Helvetica Neue"/>
                <a:cs typeface="Helvetica Neue"/>
              </a:rPr>
              <a:t>Personal LLM Health Agent</a:t>
            </a:r>
          </a:p>
        </p:txBody>
      </p:sp>
      <p:sp>
        <p:nvSpPr>
          <p:cNvPr id="4" name="text-3">
            <a:extLst xmlns:a="http://schemas.openxmlformats.org/drawingml/2006/main">
              <a:ext uri="{FF2B5EF4-FFF2-40B4-BE49-F238E27FC236}">
                <a16:creationId xmlns:a16="http://schemas.microsoft.com/office/drawing/2014/main" id="{9D30FE87-061B-4140-A082-71A3BDA7633E}"/>
              </a:ext>
            </a:extLst>
          </p:cNvPr>
          <p:cNvSpPr>
            <a:spLocks xmlns:a="http://schemas.openxmlformats.org/drawingml/2006/main" noGrp="1"/>
          </p:cNvSpPr>
          <p:nvPr/>
        </p:nvSpPr>
        <p:spPr>
          <a:xfrm xmlns:a="http://schemas.openxmlformats.org/drawingml/2006/main">
            <a:off x="647700" y="446722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646B73"/>
                </a:solidFill>
                <a:latin typeface="Helvetica Neue"/>
                <a:ea typeface="Helvetica Neue"/>
                <a:cs typeface="Helvetica Neue"/>
              </a:defRPr>
            </a:pPr>
            <a:r>
              <a:rPr sz="2400" b="0">
                <a:solidFill>
                  <a:srgbClr val="646B73"/>
                </a:solidFill>
                <a:latin typeface="Helvetica Neue"/>
                <a:ea typeface="Helvetica Neue"/>
                <a:cs typeface="Helvetica Neue"/>
              </a:rPr>
              <a:t>A hands-on tutorial with multimodal sensing data</a:t>
            </a:r>
          </a:p>
        </p:txBody>
      </p:sp>
      <p:sp>
        <p:nvSpPr>
          <p:cNvPr id="5" name="text-4">
            <a:extLst xmlns:a="http://schemas.openxmlformats.org/drawingml/2006/main">
              <a:ext uri="{FF2B5EF4-FFF2-40B4-BE49-F238E27FC236}">
                <a16:creationId xmlns:a16="http://schemas.microsoft.com/office/drawing/2014/main" id="{F42CDD4A-8634-40C1-999D-7C4F95F7612A}"/>
              </a:ext>
            </a:extLst>
          </p:cNvPr>
          <p:cNvSpPr>
            <a:spLocks xmlns:a="http://schemas.openxmlformats.org/drawingml/2006/main" noGrp="1"/>
          </p:cNvSpPr>
          <p:nvPr/>
        </p:nvSpPr>
        <p:spPr>
          <a:xfrm xmlns:a="http://schemas.openxmlformats.org/drawingml/2006/main">
            <a:off x="647700" y="5695950"/>
            <a:ext cx="685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October 12, 2026 · Afternoon</a:t>
            </a:r>
          </a:p>
        </p:txBody>
      </p:sp>
      <p:sp>
        <p:nvSpPr>
          <p:cNvPr id="6" name="text-5">
            <a:extLst xmlns:a="http://schemas.openxmlformats.org/drawingml/2006/main">
              <a:ext uri="{FF2B5EF4-FFF2-40B4-BE49-F238E27FC236}">
                <a16:creationId xmlns:a16="http://schemas.microsoft.com/office/drawing/2014/main" id="{DFD6E2F8-56BF-4BFF-8A98-F84FA7F471C3}"/>
              </a:ext>
            </a:extLst>
          </p:cNvPr>
          <p:cNvSpPr>
            <a:spLocks xmlns:a="http://schemas.openxmlformats.org/drawingml/2006/main" noGrp="1"/>
          </p:cNvSpPr>
          <p:nvPr/>
        </p:nvSpPr>
        <p:spPr>
          <a:xfrm xmlns:a="http://schemas.openxmlformats.org/drawingml/2006/main">
            <a:off x="8001000" y="56959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Shanghai, China</a:t>
            </a:r>
          </a:p>
        </p:txBody>
      </p:sp>
    </p:spTree>
    <p:extLst>
      <p:ext uri="{BB962C8B-B14F-4D97-AF65-F5344CB8AC3E}">
        <p14:creationId xmlns:p14="http://schemas.microsoft.com/office/powerpoint/2010/main" val="1435137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D92A9A4-9772-4258-BBAB-775B66A7CF7F}"/>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Organizers</a:t>
            </a:r>
          </a:p>
        </p:txBody>
      </p:sp>
      <p:sp>
        <p:nvSpPr>
          <p:cNvPr id="2" name="page-number">
            <a:extLst xmlns:a="http://schemas.openxmlformats.org/drawingml/2006/main">
              <a:ext uri="{FF2B5EF4-FFF2-40B4-BE49-F238E27FC236}">
                <a16:creationId xmlns:a16="http://schemas.microsoft.com/office/drawing/2014/main" id="{6D777A80-E5A2-40BF-A294-63FEF05611D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02</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27b293095104aa8"/>
          <a:srcRect xmlns:a="http://schemas.openxmlformats.org/drawingml/2006/main" l="4590" t="0" r="4590" b="0"/>
          <a:stretch xmlns:a="http://schemas.openxmlformats.org/drawingml/2006/main">
            <a:fillRect l="0" t="0" r="0" b="0"/>
          </a:stretch>
        </p:blipFill>
        <p:spPr>
          <a:xfrm xmlns:a="http://schemas.openxmlformats.org/drawingml/2006/main">
            <a:off x="609600" y="2000250"/>
            <a:ext cx="1828800" cy="2000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D4AC4C2A-A682-4B24-B33D-4EA560963F77}"/>
              </a:ext>
            </a:extLst>
          </p:cNvPr>
          <p:cNvSpPr>
            <a:spLocks xmlns:a="http://schemas.openxmlformats.org/drawingml/2006/main" noGrp="1"/>
          </p:cNvSpPr>
          <p:nvPr/>
        </p:nvSpPr>
        <p:spPr>
          <a:xfrm xmlns:a="http://schemas.openxmlformats.org/drawingml/2006/main">
            <a:off x="609600" y="4267200"/>
            <a:ext cx="2152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Zhihan Jiang</a:t>
            </a:r>
          </a:p>
        </p:txBody>
      </p:sp>
      <p:sp>
        <p:nvSpPr>
          <p:cNvPr id="5" name="text-3">
            <a:extLst xmlns:a="http://schemas.openxmlformats.org/drawingml/2006/main">
              <a:ext uri="{FF2B5EF4-FFF2-40B4-BE49-F238E27FC236}">
                <a16:creationId xmlns:a16="http://schemas.microsoft.com/office/drawing/2014/main" id="{91F7F2E6-3D11-4FF6-990C-21EDBF4B502B}"/>
              </a:ext>
            </a:extLst>
          </p:cNvPr>
          <p:cNvSpPr>
            <a:spLocks xmlns:a="http://schemas.openxmlformats.org/drawingml/2006/main" noGrp="1"/>
          </p:cNvSpPr>
          <p:nvPr/>
        </p:nvSpPr>
        <p:spPr>
          <a:xfrm xmlns:a="http://schemas.openxmlformats.org/drawingml/2006/main">
            <a:off x="609600" y="5324475"/>
            <a:ext cx="2143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Columbia University</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7f54d0cd46e48d3"/>
          <a:srcRect xmlns:a="http://schemas.openxmlformats.org/drawingml/2006/main" l="4286" t="0" r="4286" b="0"/>
          <a:stretch xmlns:a="http://schemas.openxmlformats.org/drawingml/2006/main">
            <a:fillRect l="0" t="0" r="0" b="0"/>
          </a:stretch>
        </p:blipFill>
        <p:spPr>
          <a:xfrm xmlns:a="http://schemas.openxmlformats.org/drawingml/2006/main">
            <a:off x="2857500" y="2000250"/>
            <a:ext cx="1828800" cy="200025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89D476CD-FFFD-4497-8690-6F6EE2DB07B0}"/>
              </a:ext>
            </a:extLst>
          </p:cNvPr>
          <p:cNvSpPr>
            <a:spLocks xmlns:a="http://schemas.openxmlformats.org/drawingml/2006/main" noGrp="1"/>
          </p:cNvSpPr>
          <p:nvPr/>
        </p:nvSpPr>
        <p:spPr>
          <a:xfrm xmlns:a="http://schemas.openxmlformats.org/drawingml/2006/main">
            <a:off x="2857500" y="4267200"/>
            <a:ext cx="2152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Will Ke Wang</a:t>
            </a:r>
          </a:p>
        </p:txBody>
      </p:sp>
      <p:sp>
        <p:nvSpPr>
          <p:cNvPr id="8" name="text-5">
            <a:extLst xmlns:a="http://schemas.openxmlformats.org/drawingml/2006/main">
              <a:ext uri="{FF2B5EF4-FFF2-40B4-BE49-F238E27FC236}">
                <a16:creationId xmlns:a16="http://schemas.microsoft.com/office/drawing/2014/main" id="{52C6237A-6A2C-4D1C-B90C-3A05919AE255}"/>
              </a:ext>
            </a:extLst>
          </p:cNvPr>
          <p:cNvSpPr>
            <a:spLocks xmlns:a="http://schemas.openxmlformats.org/drawingml/2006/main" noGrp="1"/>
          </p:cNvSpPr>
          <p:nvPr/>
        </p:nvSpPr>
        <p:spPr>
          <a:xfrm xmlns:a="http://schemas.openxmlformats.org/drawingml/2006/main">
            <a:off x="2857500" y="5324475"/>
            <a:ext cx="2143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Columbia University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de11dbb24ad4c5d"/>
          <a:srcRect xmlns:a="http://schemas.openxmlformats.org/drawingml/2006/main" l="4286" t="0" r="4286" b="0"/>
          <a:stretch xmlns:a="http://schemas.openxmlformats.org/drawingml/2006/main">
            <a:fillRect l="0" t="0" r="0" b="0"/>
          </a:stretch>
        </p:blipFill>
        <p:spPr>
          <a:xfrm xmlns:a="http://schemas.openxmlformats.org/drawingml/2006/main">
            <a:off x="5105400" y="2000250"/>
            <a:ext cx="1828800" cy="200025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623CAEE8-432A-4190-A539-3D98101A215B}"/>
              </a:ext>
            </a:extLst>
          </p:cNvPr>
          <p:cNvSpPr>
            <a:spLocks xmlns:a="http://schemas.openxmlformats.org/drawingml/2006/main" noGrp="1"/>
          </p:cNvSpPr>
          <p:nvPr/>
        </p:nvSpPr>
        <p:spPr>
          <a:xfrm xmlns:a="http://schemas.openxmlformats.org/drawingml/2006/main">
            <a:off x="5105400" y="4267200"/>
            <a:ext cx="2152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Blue (Georgianna)</a:t>
            </a:r>
          </a:p>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Lin</a:t>
            </a:r>
          </a:p>
        </p:txBody>
      </p:sp>
      <p:sp>
        <p:nvSpPr>
          <p:cNvPr id="11" name="text-7">
            <a:extLst xmlns:a="http://schemas.openxmlformats.org/drawingml/2006/main">
              <a:ext uri="{FF2B5EF4-FFF2-40B4-BE49-F238E27FC236}">
                <a16:creationId xmlns:a16="http://schemas.microsoft.com/office/drawing/2014/main" id="{D155A481-63DC-48E8-9D06-5E55F9997D90}"/>
              </a:ext>
            </a:extLst>
          </p:cNvPr>
          <p:cNvSpPr>
            <a:spLocks xmlns:a="http://schemas.openxmlformats.org/drawingml/2006/main" noGrp="1"/>
          </p:cNvSpPr>
          <p:nvPr/>
        </p:nvSpPr>
        <p:spPr>
          <a:xfrm xmlns:a="http://schemas.openxmlformats.org/drawingml/2006/main">
            <a:off x="5105400" y="5324475"/>
            <a:ext cx="2143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Columbia University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2f24314b0d14b19"/>
          <a:srcRect xmlns:a="http://schemas.openxmlformats.org/drawingml/2006/main" l="0" t="7799" r="0" b="7799"/>
          <a:stretch xmlns:a="http://schemas.openxmlformats.org/drawingml/2006/main">
            <a:fillRect l="0" t="0" r="0" b="0"/>
          </a:stretch>
        </p:blipFill>
        <p:spPr>
          <a:xfrm xmlns:a="http://schemas.openxmlformats.org/drawingml/2006/main">
            <a:off x="7353300" y="2000250"/>
            <a:ext cx="1828800" cy="2000250"/>
          </a:xfrm>
          <a:prstGeom xmlns:a="http://schemas.openxmlformats.org/drawingml/2006/main" prst="rect">
            <a:avLst/>
          </a:prstGeom>
        </p:spPr>
      </p:pic>
      <p:sp>
        <p:nvSpPr>
          <p:cNvPr id="13" name="text-8">
            <a:extLst xmlns:a="http://schemas.openxmlformats.org/drawingml/2006/main">
              <a:ext uri="{FF2B5EF4-FFF2-40B4-BE49-F238E27FC236}">
                <a16:creationId xmlns:a16="http://schemas.microsoft.com/office/drawing/2014/main" id="{1F06D5DB-DF14-4F14-866E-6E1D2C2B7F95}"/>
              </a:ext>
            </a:extLst>
          </p:cNvPr>
          <p:cNvSpPr>
            <a:spLocks xmlns:a="http://schemas.openxmlformats.org/drawingml/2006/main" noGrp="1"/>
          </p:cNvSpPr>
          <p:nvPr/>
        </p:nvSpPr>
        <p:spPr>
          <a:xfrm xmlns:a="http://schemas.openxmlformats.org/drawingml/2006/main">
            <a:off x="7353300" y="4267200"/>
            <a:ext cx="2152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Brenna Li</a:t>
            </a:r>
          </a:p>
        </p:txBody>
      </p:sp>
      <p:sp>
        <p:nvSpPr>
          <p:cNvPr id="14" name="text-9">
            <a:extLst xmlns:a="http://schemas.openxmlformats.org/drawingml/2006/main">
              <a:ext uri="{FF2B5EF4-FFF2-40B4-BE49-F238E27FC236}">
                <a16:creationId xmlns:a16="http://schemas.microsoft.com/office/drawing/2014/main" id="{33655345-3FD2-46A0-BC03-A21C79FB6026}"/>
              </a:ext>
            </a:extLst>
          </p:cNvPr>
          <p:cNvSpPr>
            <a:spLocks xmlns:a="http://schemas.openxmlformats.org/drawingml/2006/main" noGrp="1"/>
          </p:cNvSpPr>
          <p:nvPr/>
        </p:nvSpPr>
        <p:spPr>
          <a:xfrm xmlns:a="http://schemas.openxmlformats.org/drawingml/2006/main">
            <a:off x="7353300" y="5324475"/>
            <a:ext cx="2143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Stanford University</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923e5cfcc564632"/>
          <a:srcRect xmlns:a="http://schemas.openxmlformats.org/drawingml/2006/main" l="4286" t="0" r="4286" b="0"/>
          <a:stretch xmlns:a="http://schemas.openxmlformats.org/drawingml/2006/main">
            <a:fillRect l="0" t="0" r="0" b="0"/>
          </a:stretch>
        </p:blipFill>
        <p:spPr>
          <a:xfrm xmlns:a="http://schemas.openxmlformats.org/drawingml/2006/main">
            <a:off x="9601200" y="2000250"/>
            <a:ext cx="1828800" cy="2000250"/>
          </a:xfrm>
          <a:prstGeom xmlns:a="http://schemas.openxmlformats.org/drawingml/2006/main" prst="rect">
            <a:avLst/>
          </a:prstGeom>
        </p:spPr>
      </p:pic>
      <p:sp>
        <p:nvSpPr>
          <p:cNvPr id="16" name="text-10">
            <a:extLst xmlns:a="http://schemas.openxmlformats.org/drawingml/2006/main">
              <a:ext uri="{FF2B5EF4-FFF2-40B4-BE49-F238E27FC236}">
                <a16:creationId xmlns:a16="http://schemas.microsoft.com/office/drawing/2014/main" id="{5CC4C2E1-21BC-4491-B430-07F70CFC9148}"/>
              </a:ext>
            </a:extLst>
          </p:cNvPr>
          <p:cNvSpPr>
            <a:spLocks xmlns:a="http://schemas.openxmlformats.org/drawingml/2006/main" noGrp="1"/>
          </p:cNvSpPr>
          <p:nvPr/>
        </p:nvSpPr>
        <p:spPr>
          <a:xfrm xmlns:a="http://schemas.openxmlformats.org/drawingml/2006/main">
            <a:off x="9601200" y="4267200"/>
            <a:ext cx="21526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20252B"/>
                </a:solidFill>
                <a:latin typeface="Helvetica Neue"/>
                <a:ea typeface="Helvetica Neue"/>
                <a:cs typeface="Helvetica Neue"/>
              </a:defRPr>
            </a:pPr>
            <a:r>
              <a:rPr sz="1875" b="1">
                <a:solidFill>
                  <a:srgbClr val="20252B"/>
                </a:solidFill>
                <a:latin typeface="Helvetica Neue"/>
                <a:ea typeface="Helvetica Neue"/>
                <a:cs typeface="Helvetica Neue"/>
              </a:rPr>
              <a:t>Xuhai “Orson” Xu</a:t>
            </a:r>
          </a:p>
        </p:txBody>
      </p:sp>
      <p:sp>
        <p:nvSpPr>
          <p:cNvPr id="17" name="text-11">
            <a:extLst xmlns:a="http://schemas.openxmlformats.org/drawingml/2006/main">
              <a:ext uri="{FF2B5EF4-FFF2-40B4-BE49-F238E27FC236}">
                <a16:creationId xmlns:a16="http://schemas.microsoft.com/office/drawing/2014/main" id="{8563EDEC-C6E1-4785-BDED-A732C6B744B9}"/>
              </a:ext>
            </a:extLst>
          </p:cNvPr>
          <p:cNvSpPr>
            <a:spLocks xmlns:a="http://schemas.openxmlformats.org/drawingml/2006/main" noGrp="1"/>
          </p:cNvSpPr>
          <p:nvPr/>
        </p:nvSpPr>
        <p:spPr>
          <a:xfrm xmlns:a="http://schemas.openxmlformats.org/drawingml/2006/main">
            <a:off x="9601200" y="5324475"/>
            <a:ext cx="2143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Columbia University</a:t>
            </a:r>
          </a:p>
          <a:p xmlns:a="http://schemas.openxmlformats.org/drawingml/2006/main">
            <a:pPr algn="l">
              <a:defRPr sz="1650" b="0">
                <a:solidFill>
                  <a:srgbClr val="646B73"/>
                </a:solidFill>
                <a:latin typeface="Helvetica Neue"/>
                <a:ea typeface="Helvetica Neue"/>
                <a:cs typeface="Helvetica Neue"/>
              </a:defRPr>
            </a:pPr>
            <a:r>
              <a:rPr sz="1650" b="0">
                <a:solidFill>
                  <a:srgbClr val="646B73"/>
                </a:solidFill>
                <a:latin typeface="Helvetica Neue"/>
                <a:ea typeface="Helvetica Neue"/>
                <a:cs typeface="Helvetica Neue"/>
              </a:rPr>
              <a:t>Google Research</a:t>
            </a:r>
          </a:p>
        </p:txBody>
      </p:sp>
    </p:spTree>
    <p:extLst>
      <p:ext uri="{BB962C8B-B14F-4D97-AF65-F5344CB8AC3E}">
        <p14:creationId xmlns:p14="http://schemas.microsoft.com/office/powerpoint/2010/main" val="225519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7594F9F-3865-4A2B-AD27-4AE0762648F2}"/>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Invited speakers</a:t>
            </a:r>
          </a:p>
        </p:txBody>
      </p:sp>
      <p:sp>
        <p:nvSpPr>
          <p:cNvPr id="2" name="page-number">
            <a:extLst xmlns:a="http://schemas.openxmlformats.org/drawingml/2006/main">
              <a:ext uri="{FF2B5EF4-FFF2-40B4-BE49-F238E27FC236}">
                <a16:creationId xmlns:a16="http://schemas.microsoft.com/office/drawing/2014/main" id="{DF8A3484-73E2-4E9D-BD5C-305CABCEF2CF}"/>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fafd51310a4b93"/>
          <a:srcRect xmlns:a="http://schemas.openxmlformats.org/drawingml/2006/main" l="0" t="13981" r="0" b="13981"/>
          <a:stretch xmlns:a="http://schemas.openxmlformats.org/drawingml/2006/main">
            <a:fillRect l="0" t="0" r="0" b="0"/>
          </a:stretch>
        </p:blipFill>
        <p:spPr>
          <a:xfrm xmlns:a="http://schemas.openxmlformats.org/drawingml/2006/main">
            <a:off x="857250" y="1885950"/>
            <a:ext cx="2647950" cy="2667000"/>
          </a:xfrm>
          <a:prstGeom xmlns:a="http://schemas.openxmlformats.org/drawingml/2006/main" prst="ellipse">
            <a:avLst/>
          </a:prstGeom>
        </p:spPr>
      </p:pic>
      <p:sp>
        <p:nvSpPr>
          <p:cNvPr id="4" name="text-2">
            <a:extLst xmlns:a="http://schemas.openxmlformats.org/drawingml/2006/main">
              <a:ext uri="{FF2B5EF4-FFF2-40B4-BE49-F238E27FC236}">
                <a16:creationId xmlns:a16="http://schemas.microsoft.com/office/drawing/2014/main" id="{6519FB20-3A9B-4138-994F-797E7AA09B7E}"/>
              </a:ext>
            </a:extLst>
          </p:cNvPr>
          <p:cNvSpPr>
            <a:spLocks xmlns:a="http://schemas.openxmlformats.org/drawingml/2006/main" noGrp="1"/>
          </p:cNvSpPr>
          <p:nvPr/>
        </p:nvSpPr>
        <p:spPr>
          <a:xfrm xmlns:a="http://schemas.openxmlformats.org/drawingml/2006/main">
            <a:off x="857250" y="47720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20252B"/>
                </a:solidFill>
                <a:latin typeface="Helvetica Neue"/>
                <a:ea typeface="Helvetica Neue"/>
                <a:cs typeface="Helvetica Neue"/>
              </a:defRPr>
            </a:pPr>
            <a:r>
              <a:rPr sz="2475" b="1">
                <a:solidFill>
                  <a:srgbClr val="20252B"/>
                </a:solidFill>
                <a:latin typeface="Helvetica Neue"/>
                <a:ea typeface="Helvetica Neue"/>
                <a:cs typeface="Helvetica Neue"/>
              </a:rPr>
              <a:t>Teng Han</a:t>
            </a:r>
          </a:p>
        </p:txBody>
      </p:sp>
      <p:sp>
        <p:nvSpPr>
          <p:cNvPr id="5" name="text-3">
            <a:extLst xmlns:a="http://schemas.openxmlformats.org/drawingml/2006/main">
              <a:ext uri="{FF2B5EF4-FFF2-40B4-BE49-F238E27FC236}">
                <a16:creationId xmlns:a16="http://schemas.microsoft.com/office/drawing/2014/main" id="{2F65B7F5-3512-43D6-950A-2289AC8A770A}"/>
              </a:ext>
            </a:extLst>
          </p:cNvPr>
          <p:cNvSpPr>
            <a:spLocks xmlns:a="http://schemas.openxmlformats.org/drawingml/2006/main" noGrp="1"/>
          </p:cNvSpPr>
          <p:nvPr/>
        </p:nvSpPr>
        <p:spPr>
          <a:xfrm xmlns:a="http://schemas.openxmlformats.org/drawingml/2006/main">
            <a:off x="857250" y="53530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Institute of Software,</a:t>
            </a:r>
          </a:p>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Chinese Academy of Sciences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5fd15318dfb412e"/>
          <a:srcRect xmlns:a="http://schemas.openxmlformats.org/drawingml/2006/main" l="357" t="0" r="357" b="0"/>
          <a:stretch xmlns:a="http://schemas.openxmlformats.org/drawingml/2006/main">
            <a:fillRect l="0" t="0" r="0" b="0"/>
          </a:stretch>
        </p:blipFill>
        <p:spPr>
          <a:xfrm xmlns:a="http://schemas.openxmlformats.org/drawingml/2006/main">
            <a:off x="4667250" y="1885950"/>
            <a:ext cx="2647950" cy="2667000"/>
          </a:xfrm>
          <a:prstGeom xmlns:a="http://schemas.openxmlformats.org/drawingml/2006/main" prst="ellipse">
            <a:avLst/>
          </a:prstGeom>
        </p:spPr>
      </p:pic>
      <p:sp>
        <p:nvSpPr>
          <p:cNvPr id="7" name="text-4">
            <a:extLst xmlns:a="http://schemas.openxmlformats.org/drawingml/2006/main">
              <a:ext uri="{FF2B5EF4-FFF2-40B4-BE49-F238E27FC236}">
                <a16:creationId xmlns:a16="http://schemas.microsoft.com/office/drawing/2014/main" id="{9FAC0076-1219-46B2-83E1-D1843A87989F}"/>
              </a:ext>
            </a:extLst>
          </p:cNvPr>
          <p:cNvSpPr>
            <a:spLocks xmlns:a="http://schemas.openxmlformats.org/drawingml/2006/main" noGrp="1"/>
          </p:cNvSpPr>
          <p:nvPr/>
        </p:nvSpPr>
        <p:spPr>
          <a:xfrm xmlns:a="http://schemas.openxmlformats.org/drawingml/2006/main">
            <a:off x="4667250" y="47720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20252B"/>
                </a:solidFill>
                <a:latin typeface="Helvetica Neue"/>
                <a:ea typeface="Helvetica Neue"/>
                <a:cs typeface="Helvetica Neue"/>
              </a:defRPr>
            </a:pPr>
            <a:r>
              <a:rPr sz="2475" b="1">
                <a:solidFill>
                  <a:srgbClr val="20252B"/>
                </a:solidFill>
                <a:latin typeface="Helvetica Neue"/>
                <a:ea typeface="Helvetica Neue"/>
                <a:cs typeface="Helvetica Neue"/>
              </a:rPr>
              <a:t>Xin Liu</a:t>
            </a:r>
          </a:p>
        </p:txBody>
      </p:sp>
      <p:sp>
        <p:nvSpPr>
          <p:cNvPr id="8" name="text-5">
            <a:extLst xmlns:a="http://schemas.openxmlformats.org/drawingml/2006/main">
              <a:ext uri="{FF2B5EF4-FFF2-40B4-BE49-F238E27FC236}">
                <a16:creationId xmlns:a16="http://schemas.microsoft.com/office/drawing/2014/main" id="{63772E59-DE78-48AA-8957-E3B0F92EBA3D}"/>
              </a:ext>
            </a:extLst>
          </p:cNvPr>
          <p:cNvSpPr>
            <a:spLocks xmlns:a="http://schemas.openxmlformats.org/drawingml/2006/main" noGrp="1"/>
          </p:cNvSpPr>
          <p:nvPr/>
        </p:nvSpPr>
        <p:spPr>
          <a:xfrm xmlns:a="http://schemas.openxmlformats.org/drawingml/2006/main">
            <a:off x="4667250" y="53530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Google Research</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49ad443058a4154"/>
          <a:srcRect xmlns:a="http://schemas.openxmlformats.org/drawingml/2006/main" l="0" t="8655" r="0" b="8655"/>
          <a:stretch xmlns:a="http://schemas.openxmlformats.org/drawingml/2006/main">
            <a:fillRect l="0" t="0" r="0" b="0"/>
          </a:stretch>
        </p:blipFill>
        <p:spPr>
          <a:xfrm xmlns:a="http://schemas.openxmlformats.org/drawingml/2006/main">
            <a:off x="8477250" y="1885950"/>
            <a:ext cx="2647950" cy="2667000"/>
          </a:xfrm>
          <a:prstGeom xmlns:a="http://schemas.openxmlformats.org/drawingml/2006/main" prst="ellipse">
            <a:avLst/>
          </a:prstGeom>
        </p:spPr>
      </p:pic>
      <p:sp>
        <p:nvSpPr>
          <p:cNvPr id="10" name="text-6">
            <a:extLst xmlns:a="http://schemas.openxmlformats.org/drawingml/2006/main">
              <a:ext uri="{FF2B5EF4-FFF2-40B4-BE49-F238E27FC236}">
                <a16:creationId xmlns:a16="http://schemas.microsoft.com/office/drawing/2014/main" id="{24799C62-4AA8-4FBC-B991-916F90C2F20E}"/>
              </a:ext>
            </a:extLst>
          </p:cNvPr>
          <p:cNvSpPr>
            <a:spLocks xmlns:a="http://schemas.openxmlformats.org/drawingml/2006/main" noGrp="1"/>
          </p:cNvSpPr>
          <p:nvPr/>
        </p:nvSpPr>
        <p:spPr>
          <a:xfrm xmlns:a="http://schemas.openxmlformats.org/drawingml/2006/main">
            <a:off x="8477250" y="47720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20252B"/>
                </a:solidFill>
                <a:latin typeface="Helvetica Neue"/>
                <a:ea typeface="Helvetica Neue"/>
                <a:cs typeface="Helvetica Neue"/>
              </a:defRPr>
            </a:pPr>
            <a:r>
              <a:rPr sz="2475" b="1">
                <a:solidFill>
                  <a:srgbClr val="20252B"/>
                </a:solidFill>
                <a:latin typeface="Helvetica Neue"/>
                <a:ea typeface="Helvetica Neue"/>
                <a:cs typeface="Helvetica Neue"/>
              </a:rPr>
              <a:t>Chenshu Wu</a:t>
            </a:r>
          </a:p>
        </p:txBody>
      </p:sp>
      <p:sp>
        <p:nvSpPr>
          <p:cNvPr id="11" name="text-7">
            <a:extLst xmlns:a="http://schemas.openxmlformats.org/drawingml/2006/main">
              <a:ext uri="{FF2B5EF4-FFF2-40B4-BE49-F238E27FC236}">
                <a16:creationId xmlns:a16="http://schemas.microsoft.com/office/drawing/2014/main" id="{3E8F9B60-B018-4E7B-993D-B4B938DC237E}"/>
              </a:ext>
            </a:extLst>
          </p:cNvPr>
          <p:cNvSpPr>
            <a:spLocks xmlns:a="http://schemas.openxmlformats.org/drawingml/2006/main" noGrp="1"/>
          </p:cNvSpPr>
          <p:nvPr/>
        </p:nvSpPr>
        <p:spPr>
          <a:xfrm xmlns:a="http://schemas.openxmlformats.org/drawingml/2006/main">
            <a:off x="8477250" y="53530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The University of Hong Kong</a:t>
            </a:r>
          </a:p>
        </p:txBody>
      </p:sp>
    </p:spTree>
    <p:extLst>
      <p:ext uri="{BB962C8B-B14F-4D97-AF65-F5344CB8AC3E}">
        <p14:creationId xmlns:p14="http://schemas.microsoft.com/office/powerpoint/2010/main" val="12305350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264AA56-93C7-4E92-BD3C-4239D7CB6861}"/>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Schedule</a:t>
            </a:r>
          </a:p>
        </p:txBody>
      </p:sp>
      <p:sp>
        <p:nvSpPr>
          <p:cNvPr id="2" name="page-number">
            <a:extLst xmlns:a="http://schemas.openxmlformats.org/drawingml/2006/main">
              <a:ext uri="{FF2B5EF4-FFF2-40B4-BE49-F238E27FC236}">
                <a16:creationId xmlns:a16="http://schemas.microsoft.com/office/drawing/2014/main" id="{B0473E93-41F2-4623-A21B-F7559EBC84BF}"/>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04</a:t>
            </a:r>
          </a:p>
        </p:txBody>
      </p:sp>
      <p:graphicFrame>
        <p:nvGraphicFramePr>
          <p:cNvPr id="6" name=""/>
          <p:cNvGraphicFramePr/>
          <p:nvPr/>
        </p:nvGraphicFramePr>
        <p:xfrm>
          <a:off xmlns:a="http://schemas.openxmlformats.org/drawingml/2006/main" x="609600" y="1666875"/>
          <a:ext xmlns:a="http://schemas.openxmlformats.org/drawingml/2006/main" cx="10972800" cy="4381500"/>
        </p:xfrm>
        <a:graphic xmlns:a="http://schemas.openxmlformats.org/drawingml/2006/main">
          <a:graphicData uri="http://schemas.openxmlformats.org/drawingml/2006/table">
            <a:tbl>
              <a:tblPr/>
              <a:tblGrid>
                <a:gridCol w="4381500"/>
                <a:gridCol w="1714500"/>
                <a:gridCol w="4876800"/>
              </a:tblGrid>
              <a:tr h="547688">
                <a:tc>
                  <a:txBody>
                    <a:bodyPr/>
                    <a:lstStyle/>
                    <a:p>
                      <a:r>
                        <a:rPr sz="1800" b="1">
                          <a:solidFill>
                            <a:srgbClr val="245891"/>
                          </a:solidFill>
                          <a:latin typeface="Helvetica Neue"/>
                          <a:ea typeface="Helvetica Neue"/>
                          <a:cs typeface="Helvetica Neue"/>
                        </a:rPr>
                        <a:t>Module</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800" b="1">
                          <a:solidFill>
                            <a:srgbClr val="245891"/>
                          </a:solidFill>
                          <a:latin typeface="Helvetica Neue"/>
                          <a:ea typeface="Helvetica Neue"/>
                          <a:cs typeface="Helvetica Neue"/>
                        </a:rPr>
                        <a:t>Time</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1800" b="1">
                          <a:solidFill>
                            <a:srgbClr val="245891"/>
                          </a:solidFill>
                          <a:latin typeface="Helvetica Neue"/>
                          <a:ea typeface="Helvetica Neue"/>
                          <a:cs typeface="Helvetica Neue"/>
                        </a:rPr>
                        <a:t>Exercise</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547688">
                <a:tc>
                  <a:txBody>
                    <a:bodyPr/>
                    <a:lstStyle/>
                    <a:p>
                      <a:r>
                        <a:rPr sz="1800" b="0">
                          <a:solidFill>
                            <a:srgbClr val="20252B"/>
                          </a:solidFill>
                          <a:latin typeface="Helvetica Neue"/>
                          <a:ea typeface="Helvetica Neue"/>
                          <a:cs typeface="Helvetica Neue"/>
                        </a:rPr>
                        <a:t>1  Introduction</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30 min</a:t>
                      </a:r>
                    </a:p>
                  </a:txBody>
                  <a:tcPr marL="91440" marR="91440" marT="45720" marB="45720">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A design map</a:t>
                      </a:r>
                    </a:p>
                  </a:txBody>
                  <a:tcPr marL="91440" marR="91440" marT="45720" marB="45720">
                    <a:lnR w="9525">
                      <a:solidFill>
                        <a:srgbClr val="FFFFFF"/>
                      </a:solidFill>
                    </a:lnR>
                    <a:lnB w="6668">
                      <a:solidFill>
                        <a:srgbClr val="DCE1E6"/>
                      </a:solidFill>
                    </a:lnB>
                    <a:solidFill>
                      <a:srgbClr val="F3F5F7"/>
                    </a:solidFill>
                  </a:tcPr>
                </a:tc>
              </a:tr>
              <a:tr h="547688">
                <a:tc>
                  <a:txBody>
                    <a:bodyPr/>
                    <a:lstStyle/>
                    <a:p>
                      <a:r>
                        <a:rPr sz="1800" b="0">
                          <a:solidFill>
                            <a:srgbClr val="20252B"/>
                          </a:solidFill>
                          <a:latin typeface="Helvetica Neue"/>
                          <a:ea typeface="Helvetica Neue"/>
                          <a:cs typeface="Helvetica Neue"/>
                        </a:rPr>
                        <a:t>2  Setting up</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20 min</a:t>
                      </a:r>
                    </a:p>
                  </a:txBody>
                  <a:tcPr marL="91440" marR="91440" marT="45720" marB="45720">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A working notebook</a:t>
                      </a:r>
                    </a:p>
                  </a:txBody>
                  <a:tcPr marL="91440" marR="91440" marT="45720" marB="45720">
                    <a:lnR w="9525">
                      <a:solidFill>
                        <a:srgbClr val="FFFFFF"/>
                      </a:solidFill>
                    </a:lnR>
                    <a:lnB w="6668">
                      <a:solidFill>
                        <a:srgbClr val="DCE1E6"/>
                      </a:solidFill>
                    </a:lnB>
                    <a:solidFill>
                      <a:srgbClr val="FFFFFF"/>
                    </a:solidFill>
                  </a:tcPr>
                </a:tc>
              </a:tr>
              <a:tr h="547688">
                <a:tc>
                  <a:txBody>
                    <a:bodyPr/>
                    <a:lstStyle/>
                    <a:p>
                      <a:r>
                        <a:rPr sz="1800" b="0">
                          <a:solidFill>
                            <a:srgbClr val="20252B"/>
                          </a:solidFill>
                          <a:latin typeface="Helvetica Neue"/>
                          <a:ea typeface="Helvetica Neue"/>
                          <a:cs typeface="Helvetica Neue"/>
                        </a:rPr>
                        <a:t>3  Designing health tools</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45 min</a:t>
                      </a:r>
                    </a:p>
                  </a:txBody>
                  <a:tcPr marL="91440" marR="91440" marT="45720" marB="45720">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Three implemented tools</a:t>
                      </a:r>
                    </a:p>
                  </a:txBody>
                  <a:tcPr marL="91440" marR="91440" marT="45720" marB="45720">
                    <a:lnR w="9525">
                      <a:solidFill>
                        <a:srgbClr val="FFFFFF"/>
                      </a:solidFill>
                    </a:lnR>
                    <a:lnB w="6668">
                      <a:solidFill>
                        <a:srgbClr val="DCE1E6"/>
                      </a:solidFill>
                    </a:lnB>
                    <a:solidFill>
                      <a:srgbClr val="F3F5F7"/>
                    </a:solidFill>
                  </a:tcPr>
                </a:tc>
              </a:tr>
              <a:tr h="547688">
                <a:tc>
                  <a:txBody>
                    <a:bodyPr/>
                    <a:lstStyle/>
                    <a:p>
                      <a:r>
                        <a:rPr sz="1800" b="0">
                          <a:solidFill>
                            <a:srgbClr val="20252B"/>
                          </a:solidFill>
                          <a:latin typeface="Helvetica Neue"/>
                          <a:ea typeface="Helvetica Neue"/>
                          <a:cs typeface="Helvetica Neue"/>
                        </a:rPr>
                        <a:t>Break</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30 min</a:t>
                      </a:r>
                    </a:p>
                  </a:txBody>
                  <a:tcPr marL="91440" marR="91440" marT="45720" marB="45720">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Coffee and help desk</a:t>
                      </a:r>
                    </a:p>
                  </a:txBody>
                  <a:tcPr marL="91440" marR="91440" marT="45720" marB="45720">
                    <a:lnR w="9525">
                      <a:solidFill>
                        <a:srgbClr val="FFFFFF"/>
                      </a:solidFill>
                    </a:lnR>
                    <a:lnB w="6668">
                      <a:solidFill>
                        <a:srgbClr val="DCE1E6"/>
                      </a:solidFill>
                    </a:lnB>
                    <a:solidFill>
                      <a:srgbClr val="FFFFFF"/>
                    </a:solidFill>
                  </a:tcPr>
                </a:tc>
              </a:tr>
              <a:tr h="547688">
                <a:tc>
                  <a:txBody>
                    <a:bodyPr/>
                    <a:lstStyle/>
                    <a:p>
                      <a:r>
                        <a:rPr sz="1800" b="0">
                          <a:solidFill>
                            <a:srgbClr val="20252B"/>
                          </a:solidFill>
                          <a:latin typeface="Helvetica Neue"/>
                          <a:ea typeface="Helvetica Neue"/>
                          <a:cs typeface="Helvetica Neue"/>
                        </a:rPr>
                        <a:t>4  Wiring up the agent</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45 min</a:t>
                      </a:r>
                    </a:p>
                  </a:txBody>
                  <a:tcPr marL="91440" marR="91440" marT="45720" marB="45720">
                    <a:lnR w="9525">
                      <a:solidFill>
                        <a:srgbClr val="FFFFFF"/>
                      </a:solidFill>
                    </a:lnR>
                    <a:lnB w="6668">
                      <a:solidFill>
                        <a:srgbClr val="DCE1E6"/>
                      </a:solidFill>
                    </a:lnB>
                    <a:solidFill>
                      <a:srgbClr val="F3F5F7"/>
                    </a:solidFill>
                  </a:tcPr>
                </a:tc>
                <a:tc>
                  <a:txBody>
                    <a:bodyPr/>
                    <a:lstStyle/>
                    <a:p>
                      <a:r>
                        <a:rPr sz="1800" b="0">
                          <a:solidFill>
                            <a:srgbClr val="20252B"/>
                          </a:solidFill>
                          <a:latin typeface="Helvetica Neue"/>
                          <a:ea typeface="Helvetica Neue"/>
                          <a:cs typeface="Helvetica Neue"/>
                        </a:rPr>
                        <a:t>A runnable agent</a:t>
                      </a:r>
                    </a:p>
                  </a:txBody>
                  <a:tcPr marL="91440" marR="91440" marT="45720" marB="45720">
                    <a:lnR w="9525">
                      <a:solidFill>
                        <a:srgbClr val="FFFFFF"/>
                      </a:solidFill>
                    </a:lnR>
                    <a:lnB w="6668">
                      <a:solidFill>
                        <a:srgbClr val="DCE1E6"/>
                      </a:solidFill>
                    </a:lnB>
                    <a:solidFill>
                      <a:srgbClr val="F3F5F7"/>
                    </a:solidFill>
                  </a:tcPr>
                </a:tc>
              </a:tr>
              <a:tr h="547688">
                <a:tc>
                  <a:txBody>
                    <a:bodyPr/>
                    <a:lstStyle/>
                    <a:p>
                      <a:r>
                        <a:rPr sz="1800" b="0">
                          <a:solidFill>
                            <a:srgbClr val="20252B"/>
                          </a:solidFill>
                          <a:latin typeface="Helvetica Neue"/>
                          <a:ea typeface="Helvetica Neue"/>
                          <a:cs typeface="Helvetica Neue"/>
                        </a:rPr>
                        <a:t>5  Evaluation and safety</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30 min</a:t>
                      </a:r>
                    </a:p>
                  </a:txBody>
                  <a:tcPr marL="91440" marR="91440" marT="45720" marB="45720">
                    <a:lnR w="9525">
                      <a:solidFill>
                        <a:srgbClr val="FFFFFF"/>
                      </a:solidFill>
                    </a:lnR>
                    <a:lnB w="6668">
                      <a:solidFill>
                        <a:srgbClr val="DCE1E6"/>
                      </a:solidFill>
                    </a:lnB>
                    <a:solidFill>
                      <a:srgbClr val="FFFFFF"/>
                    </a:solidFill>
                  </a:tcPr>
                </a:tc>
                <a:tc>
                  <a:txBody>
                    <a:bodyPr/>
                    <a:lstStyle/>
                    <a:p>
                      <a:r>
                        <a:rPr sz="1800" b="0">
                          <a:solidFill>
                            <a:srgbClr val="20252B"/>
                          </a:solidFill>
                          <a:latin typeface="Helvetica Neue"/>
                          <a:ea typeface="Helvetica Neue"/>
                          <a:cs typeface="Helvetica Neue"/>
                        </a:rPr>
                        <a:t>An evaluation checklist</a:t>
                      </a:r>
                    </a:p>
                  </a:txBody>
                  <a:tcPr marL="91440" marR="91440" marT="45720" marB="45720">
                    <a:lnR w="9525">
                      <a:solidFill>
                        <a:srgbClr val="FFFFFF"/>
                      </a:solidFill>
                    </a:lnR>
                    <a:lnB w="6668">
                      <a:solidFill>
                        <a:srgbClr val="DCE1E6"/>
                      </a:solidFill>
                    </a:lnB>
                    <a:solidFill>
                      <a:srgbClr val="FFFFFF"/>
                    </a:solidFill>
                  </a:tcPr>
                </a:tc>
              </a:tr>
              <a:tr h="547688">
                <a:tc>
                  <a:txBody>
                    <a:bodyPr/>
                    <a:lstStyle/>
                    <a:p>
                      <a:r>
                        <a:rPr sz="1800" b="0">
                          <a:solidFill>
                            <a:srgbClr val="20252B"/>
                          </a:solidFill>
                          <a:latin typeface="Helvetica Neue"/>
                          <a:ea typeface="Helvetica Neue"/>
                          <a:cs typeface="Helvetica Neue"/>
                        </a:rPr>
                        <a:t>6  Wrap-up</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1800" b="0">
                          <a:solidFill>
                            <a:srgbClr val="20252B"/>
                          </a:solidFill>
                          <a:latin typeface="Helvetica Neue"/>
                          <a:ea typeface="Helvetica Neue"/>
                          <a:cs typeface="Helvetica Neue"/>
                        </a:rPr>
                        <a:t>10 min</a:t>
                      </a:r>
                    </a:p>
                  </a:txBody>
                  <a:tcPr marL="91440" marR="91440" marT="45720" marB="45720">
                    <a:lnR w="9525">
                      <a:solidFill>
                        <a:srgbClr val="FFFFFF"/>
                      </a:solidFill>
                    </a:lnR>
                    <a:lnB w="9525">
                      <a:solidFill>
                        <a:srgbClr val="FFFFFF"/>
                      </a:solidFill>
                    </a:lnB>
                    <a:solidFill>
                      <a:srgbClr val="F3F5F7"/>
                    </a:solidFill>
                  </a:tcPr>
                </a:tc>
                <a:tc>
                  <a:txBody>
                    <a:bodyPr/>
                    <a:lstStyle/>
                    <a:p>
                      <a:r>
                        <a:rPr sz="1800" b="0">
                          <a:solidFill>
                            <a:srgbClr val="20252B"/>
                          </a:solidFill>
                          <a:latin typeface="Helvetica Neue"/>
                          <a:ea typeface="Helvetica Neue"/>
                          <a:cs typeface="Helvetica Neue"/>
                        </a:rPr>
                        <a:t>An extension to test</a:t>
                      </a:r>
                    </a:p>
                  </a:txBody>
                  <a:tcPr marL="91440" marR="91440" marT="45720" marB="45720">
                    <a:lnR w="9525">
                      <a:solidFill>
                        <a:srgbClr val="FFFFFF"/>
                      </a:solidFill>
                    </a:lnR>
                    <a:lnB w="9525">
                      <a:solidFill>
                        <a:srgbClr val="FFFFFF"/>
                      </a:solidFill>
                    </a:lnB>
                    <a:solidFill>
                      <a:srgbClr val="F3F5F7"/>
                    </a:solidFill>
                  </a:tcPr>
                </a:tc>
              </a:tr>
            </a:tbl>
          </a:graphicData>
        </a:graphic>
      </p:graphicFrame>
    </p:spTree>
    <p:extLst>
      <p:ext uri="{BB962C8B-B14F-4D97-AF65-F5344CB8AC3E}">
        <p14:creationId xmlns:p14="http://schemas.microsoft.com/office/powerpoint/2010/main" val="130196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ge-number">
            <a:extLst xmlns:a="http://schemas.openxmlformats.org/drawingml/2006/main">
              <a:ext uri="{FF2B5EF4-FFF2-40B4-BE49-F238E27FC236}">
                <a16:creationId xmlns:a16="http://schemas.microsoft.com/office/drawing/2014/main" id="{31FDD072-4785-493D-9EB9-9321BE765AC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05</a:t>
            </a:r>
          </a:p>
        </p:txBody>
      </p:sp>
      <p:sp>
        <p:nvSpPr>
          <p:cNvPr id="2" name="text-1">
            <a:extLst xmlns:a="http://schemas.openxmlformats.org/drawingml/2006/main">
              <a:ext uri="{FF2B5EF4-FFF2-40B4-BE49-F238E27FC236}">
                <a16:creationId xmlns:a16="http://schemas.microsoft.com/office/drawing/2014/main" id="{24AB0A6A-8D36-4D88-A603-3EEA5AE84D7D}"/>
              </a:ext>
            </a:extLst>
          </p:cNvPr>
          <p:cNvSpPr>
            <a:spLocks xmlns:a="http://schemas.openxmlformats.org/drawingml/2006/main" noGrp="1"/>
          </p:cNvSpPr>
          <p:nvPr/>
        </p:nvSpPr>
        <p:spPr>
          <a:xfrm xmlns:a="http://schemas.openxmlformats.org/drawingml/2006/main">
            <a:off x="609600" y="1828800"/>
            <a:ext cx="106680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00" b="0">
                <a:solidFill>
                  <a:srgbClr val="20252B"/>
                </a:solidFill>
                <a:latin typeface="Helvetica Neue"/>
                <a:ea typeface="Helvetica Neue"/>
                <a:cs typeface="Helvetica Neue"/>
              </a:defRPr>
            </a:pPr>
            <a:r>
              <a:rPr sz="5100" b="0">
                <a:solidFill>
                  <a:srgbClr val="20252B"/>
                </a:solidFill>
                <a:latin typeface="Helvetica Neue"/>
                <a:ea typeface="Helvetica Neue"/>
                <a:cs typeface="Helvetica Neue"/>
              </a:rPr>
              <a:t>How did my sleep change</a:t>
            </a:r>
          </a:p>
          <a:p xmlns:a="http://schemas.openxmlformats.org/drawingml/2006/main">
            <a:pPr algn="l">
              <a:defRPr sz="5100" b="0">
                <a:solidFill>
                  <a:srgbClr val="20252B"/>
                </a:solidFill>
                <a:latin typeface="Helvetica Neue"/>
                <a:ea typeface="Helvetica Neue"/>
                <a:cs typeface="Helvetica Neue"/>
              </a:defRPr>
            </a:pPr>
            <a:r>
              <a:rPr sz="5100" b="0">
                <a:solidFill>
                  <a:srgbClr val="20252B"/>
                </a:solidFill>
                <a:latin typeface="Helvetica Neue"/>
                <a:ea typeface="Helvetica Neue"/>
                <a:cs typeface="Helvetica Neue"/>
              </a:rPr>
              <a:t>in the final week?</a:t>
            </a:r>
          </a:p>
        </p:txBody>
      </p:sp>
      <p:sp>
        <p:nvSpPr>
          <p:cNvPr id="3" name="text-2">
            <a:extLst xmlns:a="http://schemas.openxmlformats.org/drawingml/2006/main">
              <a:ext uri="{FF2B5EF4-FFF2-40B4-BE49-F238E27FC236}">
                <a16:creationId xmlns:a16="http://schemas.microsoft.com/office/drawing/2014/main" id="{904DEAFA-1E37-4C3D-B53A-8D9A59AB3BAC}"/>
              </a:ext>
            </a:extLst>
          </p:cNvPr>
          <p:cNvSpPr>
            <a:spLocks xmlns:a="http://schemas.openxmlformats.org/drawingml/2006/main" noGrp="1"/>
          </p:cNvSpPr>
          <p:nvPr/>
        </p:nvSpPr>
        <p:spPr>
          <a:xfrm xmlns:a="http://schemas.openxmlformats.org/drawingml/2006/main">
            <a:off x="647700" y="4667250"/>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45891"/>
                </a:solidFill>
                <a:latin typeface="Helvetica Neue"/>
                <a:ea typeface="Helvetica Neue"/>
                <a:cs typeface="Helvetica Neue"/>
              </a:defRPr>
            </a:pPr>
            <a:r>
              <a:rPr sz="2325" b="0">
                <a:solidFill>
                  <a:srgbClr val="245891"/>
                </a:solidFill>
                <a:latin typeface="Helvetica Neue"/>
                <a:ea typeface="Helvetica Neue"/>
                <a:cs typeface="Helvetica Neue"/>
              </a:rPr>
              <a:t>GLOBEM participant g10</a:t>
            </a:r>
          </a:p>
        </p:txBody>
      </p:sp>
      <p:sp>
        <p:nvSpPr>
          <p:cNvPr id="4" name="text-3">
            <a:extLst xmlns:a="http://schemas.openxmlformats.org/drawingml/2006/main">
              <a:ext uri="{FF2B5EF4-FFF2-40B4-BE49-F238E27FC236}">
                <a16:creationId xmlns:a16="http://schemas.microsoft.com/office/drawing/2014/main" id="{2184150C-825C-4C5A-9F6C-49A774671CD1}"/>
              </a:ext>
            </a:extLst>
          </p:cNvPr>
          <p:cNvSpPr>
            <a:spLocks xmlns:a="http://schemas.openxmlformats.org/drawingml/2006/main" noGrp="1"/>
          </p:cNvSpPr>
          <p:nvPr/>
        </p:nvSpPr>
        <p:spPr>
          <a:xfrm xmlns:a="http://schemas.openxmlformats.org/drawingml/2006/main">
            <a:off x="647700" y="53911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June 2–8, 2018, compared with May 12–June 1</a:t>
            </a:r>
          </a:p>
        </p:txBody>
      </p:sp>
    </p:spTree>
    <p:extLst>
      <p:ext uri="{BB962C8B-B14F-4D97-AF65-F5344CB8AC3E}">
        <p14:creationId xmlns:p14="http://schemas.microsoft.com/office/powerpoint/2010/main" val="19461259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C665BA0D-C245-4578-A414-8EA8F5424EDE}"/>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Prompting, fixed pipelines and agents</a:t>
            </a:r>
          </a:p>
        </p:txBody>
      </p:sp>
      <p:sp>
        <p:nvSpPr>
          <p:cNvPr id="2" name="page-number">
            <a:extLst xmlns:a="http://schemas.openxmlformats.org/drawingml/2006/main">
              <a:ext uri="{FF2B5EF4-FFF2-40B4-BE49-F238E27FC236}">
                <a16:creationId xmlns:a16="http://schemas.microsoft.com/office/drawing/2014/main" id="{370B171F-DEB6-4769-949F-8DC4404D0BC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06</a:t>
            </a:r>
          </a:p>
        </p:txBody>
      </p:sp>
      <p:graphicFrame>
        <p:nvGraphicFramePr>
          <p:cNvPr id="6" name=""/>
          <p:cNvGraphicFramePr/>
          <p:nvPr/>
        </p:nvGraphicFramePr>
        <p:xfrm>
          <a:off xmlns:a="http://schemas.openxmlformats.org/drawingml/2006/main" x="609600" y="2000250"/>
          <a:ext xmlns:a="http://schemas.openxmlformats.org/drawingml/2006/main" cx="10972800" cy="3162300"/>
        </p:xfrm>
        <a:graphic xmlns:a="http://schemas.openxmlformats.org/drawingml/2006/main">
          <a:graphicData uri="http://schemas.openxmlformats.org/drawingml/2006/table">
            <a:tbl>
              <a:tblPr/>
              <a:tblGrid>
                <a:gridCol w="2619375"/>
                <a:gridCol w="4476750"/>
                <a:gridCol w="3876675"/>
              </a:tblGrid>
              <a:tr h="790575">
                <a:tc>
                  <a:txBody>
                    <a:bodyPr/>
                    <a:lstStyle/>
                    <a:p>
                      <a:r>
                        <a:rPr sz="1875" b="1">
                          <a:solidFill>
                            <a:srgbClr val="245891"/>
                          </a:solidFill>
                          <a:latin typeface="Helvetica Neue"/>
                          <a:ea typeface="Helvetica Neue"/>
                          <a:cs typeface="Helvetica Neue"/>
                        </a:rPr>
                        <a:t>Approach</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875" b="1">
                          <a:solidFill>
                            <a:srgbClr val="245891"/>
                          </a:solidFill>
                          <a:latin typeface="Helvetica Neue"/>
                          <a:ea typeface="Helvetica Neue"/>
                          <a:cs typeface="Helvetica Neue"/>
                        </a:rPr>
                        <a:t>Where data and operations come from</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1875" b="1">
                          <a:solidFill>
                            <a:srgbClr val="245891"/>
                          </a:solidFill>
                          <a:latin typeface="Helvetica Neue"/>
                          <a:ea typeface="Helvetica Neue"/>
                          <a:cs typeface="Helvetica Neue"/>
                        </a:rPr>
                        <a:t>Main limitation</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790575">
                <a:tc>
                  <a:txBody>
                    <a:bodyPr/>
                    <a:lstStyle/>
                    <a:p>
                      <a:r>
                        <a:rPr sz="1875" b="0">
                          <a:solidFill>
                            <a:srgbClr val="20252B"/>
                          </a:solidFill>
                          <a:latin typeface="Helvetica Neue"/>
                          <a:ea typeface="Helvetica Neue"/>
                          <a:cs typeface="Helvetica Neue"/>
                        </a:rPr>
                        <a:t>Prompt-only use</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A person supplies context and values</a:t>
                      </a:r>
                    </a:p>
                  </a:txBody>
                  <a:tcPr marL="91440" marR="91440" marT="45720" marB="45720">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Evidence may be stale or incomplete</a:t>
                      </a:r>
                    </a:p>
                  </a:txBody>
                  <a:tcPr marL="91440" marR="91440" marT="45720" marB="45720">
                    <a:lnR w="9525">
                      <a:solidFill>
                        <a:srgbClr val="FFFFFF"/>
                      </a:solidFill>
                    </a:lnR>
                    <a:lnB w="6668">
                      <a:solidFill>
                        <a:srgbClr val="DCE1E6"/>
                      </a:solidFill>
                    </a:lnB>
                    <a:solidFill>
                      <a:srgbClr val="F3F5F7"/>
                    </a:solidFill>
                  </a:tcPr>
                </a:tc>
              </a:tr>
              <a:tr h="790575">
                <a:tc>
                  <a:txBody>
                    <a:bodyPr/>
                    <a:lstStyle/>
                    <a:p>
                      <a:r>
                        <a:rPr sz="1875" b="0">
                          <a:solidFill>
                            <a:srgbClr val="20252B"/>
                          </a:solidFill>
                          <a:latin typeface="Helvetica Neue"/>
                          <a:ea typeface="Helvetica Neue"/>
                          <a:cs typeface="Helvetica Neue"/>
                        </a:rPr>
                        <a:t>Fixed analysis pipeline</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75" b="0">
                          <a:solidFill>
                            <a:srgbClr val="20252B"/>
                          </a:solidFill>
                          <a:latin typeface="Helvetica Neue"/>
                          <a:ea typeface="Helvetica Neue"/>
                          <a:cs typeface="Helvetica Neue"/>
                        </a:rPr>
                        <a:t>A predefined sequence of operations</a:t>
                      </a:r>
                    </a:p>
                  </a:txBody>
                  <a:tcPr marL="91440" marR="91440" marT="45720" marB="45720">
                    <a:lnR w="9525">
                      <a:solidFill>
                        <a:srgbClr val="FFFFFF"/>
                      </a:solidFill>
                    </a:lnR>
                    <a:lnB w="6668">
                      <a:solidFill>
                        <a:srgbClr val="DCE1E6"/>
                      </a:solidFill>
                    </a:lnB>
                    <a:solidFill>
                      <a:srgbClr val="FFFFFF"/>
                    </a:solidFill>
                  </a:tcPr>
                </a:tc>
                <a:tc>
                  <a:txBody>
                    <a:bodyPr/>
                    <a:lstStyle/>
                    <a:p>
                      <a:r>
                        <a:rPr sz="1875" b="0">
                          <a:solidFill>
                            <a:srgbClr val="20252B"/>
                          </a:solidFill>
                          <a:latin typeface="Helvetica Neue"/>
                          <a:ea typeface="Helvetica Neue"/>
                          <a:cs typeface="Helvetica Neue"/>
                        </a:rPr>
                        <a:t>New questions need new logic</a:t>
                      </a:r>
                    </a:p>
                  </a:txBody>
                  <a:tcPr marL="91440" marR="91440" marT="45720" marB="45720">
                    <a:lnR w="9525">
                      <a:solidFill>
                        <a:srgbClr val="FFFFFF"/>
                      </a:solidFill>
                    </a:lnR>
                    <a:lnB w="6668">
                      <a:solidFill>
                        <a:srgbClr val="DCE1E6"/>
                      </a:solidFill>
                    </a:lnB>
                    <a:solidFill>
                      <a:srgbClr val="FFFFFF"/>
                    </a:solidFill>
                  </a:tcPr>
                </a:tc>
              </a:tr>
              <a:tr h="790575">
                <a:tc>
                  <a:txBody>
                    <a:bodyPr/>
                    <a:lstStyle/>
                    <a:p>
                      <a:r>
                        <a:rPr sz="1875" b="0">
                          <a:solidFill>
                            <a:srgbClr val="20252B"/>
                          </a:solidFill>
                          <a:latin typeface="Helvetica Neue"/>
                          <a:ea typeface="Helvetica Neue"/>
                          <a:cs typeface="Helvetica Neue"/>
                        </a:rPr>
                        <a:t>Tool-using LLM agent</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1875" b="0">
                          <a:solidFill>
                            <a:srgbClr val="20252B"/>
                          </a:solidFill>
                          <a:latin typeface="Helvetica Neue"/>
                          <a:ea typeface="Helvetica Neue"/>
                          <a:cs typeface="Helvetica Neue"/>
                        </a:rPr>
                        <a:t>A model selects registered functions</a:t>
                      </a:r>
                    </a:p>
                  </a:txBody>
                  <a:tcPr marL="91440" marR="91440" marT="45720" marB="45720">
                    <a:lnR w="9525">
                      <a:solidFill>
                        <a:srgbClr val="FFFFFF"/>
                      </a:solidFill>
                    </a:lnR>
                    <a:lnB w="9525">
                      <a:solidFill>
                        <a:srgbClr val="FFFFFF"/>
                      </a:solidFill>
                    </a:lnB>
                    <a:solidFill>
                      <a:srgbClr val="F3F5F7"/>
                    </a:solidFill>
                  </a:tcPr>
                </a:tc>
                <a:tc>
                  <a:txBody>
                    <a:bodyPr/>
                    <a:lstStyle/>
                    <a:p>
                      <a:r>
                        <a:rPr sz="1875" b="0">
                          <a:solidFill>
                            <a:srgbClr val="20252B"/>
                          </a:solidFill>
                          <a:latin typeface="Helvetica Neue"/>
                          <a:ea typeface="Helvetica Neue"/>
                          <a:cs typeface="Helvetica Neue"/>
                        </a:rPr>
                        <a:t>Tool choices and claims need checks</a:t>
                      </a:r>
                    </a:p>
                  </a:txBody>
                  <a:tcPr marL="91440" marR="91440" marT="45720" marB="45720">
                    <a:lnR w="9525">
                      <a:solidFill>
                        <a:srgbClr val="FFFFFF"/>
                      </a:solidFill>
                    </a:lnR>
                    <a:lnB w="9525">
                      <a:solidFill>
                        <a:srgbClr val="FFFFFF"/>
                      </a:solidFill>
                    </a:lnB>
                    <a:solidFill>
                      <a:srgbClr val="F3F5F7"/>
                    </a:solidFill>
                  </a:tcPr>
                </a:tc>
              </a:tr>
            </a:tbl>
          </a:graphicData>
        </a:graphic>
      </p:graphicFrame>
    </p:spTree>
    <p:extLst>
      <p:ext uri="{BB962C8B-B14F-4D97-AF65-F5344CB8AC3E}">
        <p14:creationId xmlns:p14="http://schemas.microsoft.com/office/powerpoint/2010/main" val="15587940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6867DE7D-7621-4EAE-A2B0-7361A9AAEFC8}"/>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Agent workflow</a:t>
            </a:r>
          </a:p>
        </p:txBody>
      </p:sp>
      <p:sp>
        <p:nvSpPr>
          <p:cNvPr id="2" name="page-number">
            <a:extLst xmlns:a="http://schemas.openxmlformats.org/drawingml/2006/main">
              <a:ext uri="{FF2B5EF4-FFF2-40B4-BE49-F238E27FC236}">
                <a16:creationId xmlns:a16="http://schemas.microsoft.com/office/drawing/2014/main" id="{29E2F092-26E6-43BD-861D-A27EC6932504}"/>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DA7C15C7-E334-4AB5-B92C-6ABCBBA84BC9}"/>
              </a:ext>
            </a:extLst>
          </p:cNvPr>
          <p:cNvSpPr>
            <a:spLocks xmlns:a="http://schemas.openxmlformats.org/drawingml/2006/main" noGrp="1"/>
          </p:cNvSpPr>
          <p:nvPr/>
        </p:nvSpPr>
        <p:spPr>
          <a:xfrm xmlns:a="http://schemas.openxmlformats.org/drawingml/2006/main">
            <a:off x="609600" y="1914525"/>
            <a:ext cx="523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1</a:t>
            </a:r>
          </a:p>
        </p:txBody>
      </p:sp>
      <p:sp>
        <p:nvSpPr>
          <p:cNvPr id="4" name="text-3">
            <a:extLst xmlns:a="http://schemas.openxmlformats.org/drawingml/2006/main">
              <a:ext uri="{FF2B5EF4-FFF2-40B4-BE49-F238E27FC236}">
                <a16:creationId xmlns:a16="http://schemas.microsoft.com/office/drawing/2014/main" id="{A7AD4FC9-F438-42DF-9745-337FE17770ED}"/>
              </a:ext>
            </a:extLst>
          </p:cNvPr>
          <p:cNvSpPr>
            <a:spLocks xmlns:a="http://schemas.openxmlformats.org/drawingml/2006/main" noGrp="1"/>
          </p:cNvSpPr>
          <p:nvPr/>
        </p:nvSpPr>
        <p:spPr>
          <a:xfrm xmlns:a="http://schemas.openxmlformats.org/drawingml/2006/main">
            <a:off x="1362075" y="191452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Plan</a:t>
            </a:r>
          </a:p>
        </p:txBody>
      </p:sp>
      <p:sp>
        <p:nvSpPr>
          <p:cNvPr id="5" name="text-4">
            <a:extLst xmlns:a="http://schemas.openxmlformats.org/drawingml/2006/main">
              <a:ext uri="{FF2B5EF4-FFF2-40B4-BE49-F238E27FC236}">
                <a16:creationId xmlns:a16="http://schemas.microsoft.com/office/drawing/2014/main" id="{3586D22C-2605-4535-965C-ADD1B5F309BC}"/>
              </a:ext>
            </a:extLst>
          </p:cNvPr>
          <p:cNvSpPr>
            <a:spLocks xmlns:a="http://schemas.openxmlformats.org/drawingml/2006/main" noGrp="1"/>
          </p:cNvSpPr>
          <p:nvPr/>
        </p:nvSpPr>
        <p:spPr>
          <a:xfrm xmlns:a="http://schemas.openxmlformats.org/drawingml/2006/main">
            <a:off x="4191000" y="1943100"/>
            <a:ext cx="714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Interpret the question</a:t>
            </a:r>
          </a:p>
        </p:txBody>
      </p:sp>
      <p:sp>
        <p:nvSpPr>
          <p:cNvPr id="6" name="text-5">
            <a:extLst xmlns:a="http://schemas.openxmlformats.org/drawingml/2006/main">
              <a:ext uri="{FF2B5EF4-FFF2-40B4-BE49-F238E27FC236}">
                <a16:creationId xmlns:a16="http://schemas.microsoft.com/office/drawing/2014/main" id="{35D1C28B-3F90-42D5-A78E-9E4160AB1D50}"/>
              </a:ext>
            </a:extLst>
          </p:cNvPr>
          <p:cNvSpPr>
            <a:spLocks xmlns:a="http://schemas.openxmlformats.org/drawingml/2006/main" noGrp="1"/>
          </p:cNvSpPr>
          <p:nvPr/>
        </p:nvSpPr>
        <p:spPr>
          <a:xfrm xmlns:a="http://schemas.openxmlformats.org/drawingml/2006/main">
            <a:off x="609600" y="2752725"/>
            <a:ext cx="523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2</a:t>
            </a:r>
          </a:p>
        </p:txBody>
      </p:sp>
      <p:sp>
        <p:nvSpPr>
          <p:cNvPr id="7" name="text-6">
            <a:extLst xmlns:a="http://schemas.openxmlformats.org/drawingml/2006/main">
              <a:ext uri="{FF2B5EF4-FFF2-40B4-BE49-F238E27FC236}">
                <a16:creationId xmlns:a16="http://schemas.microsoft.com/office/drawing/2014/main" id="{76C09E24-DCBE-427D-99CE-A8C6E4D79719}"/>
              </a:ext>
            </a:extLst>
          </p:cNvPr>
          <p:cNvSpPr>
            <a:spLocks xmlns:a="http://schemas.openxmlformats.org/drawingml/2006/main" noGrp="1"/>
          </p:cNvSpPr>
          <p:nvPr/>
        </p:nvSpPr>
        <p:spPr>
          <a:xfrm xmlns:a="http://schemas.openxmlformats.org/drawingml/2006/main">
            <a:off x="1362075" y="275272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Select</a:t>
            </a:r>
          </a:p>
        </p:txBody>
      </p:sp>
      <p:sp>
        <p:nvSpPr>
          <p:cNvPr id="8" name="text-7">
            <a:extLst xmlns:a="http://schemas.openxmlformats.org/drawingml/2006/main">
              <a:ext uri="{FF2B5EF4-FFF2-40B4-BE49-F238E27FC236}">
                <a16:creationId xmlns:a16="http://schemas.microsoft.com/office/drawing/2014/main" id="{0F7E0952-E196-49A9-9D28-097E68D9AF98}"/>
              </a:ext>
            </a:extLst>
          </p:cNvPr>
          <p:cNvSpPr>
            <a:spLocks xmlns:a="http://schemas.openxmlformats.org/drawingml/2006/main" noGrp="1"/>
          </p:cNvSpPr>
          <p:nvPr/>
        </p:nvSpPr>
        <p:spPr>
          <a:xfrm xmlns:a="http://schemas.openxmlformats.org/drawingml/2006/main">
            <a:off x="4191000" y="2781300"/>
            <a:ext cx="714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Propose a tool and its arguments</a:t>
            </a:r>
          </a:p>
        </p:txBody>
      </p:sp>
      <p:sp>
        <p:nvSpPr>
          <p:cNvPr id="9" name="text-8">
            <a:extLst xmlns:a="http://schemas.openxmlformats.org/drawingml/2006/main">
              <a:ext uri="{FF2B5EF4-FFF2-40B4-BE49-F238E27FC236}">
                <a16:creationId xmlns:a16="http://schemas.microsoft.com/office/drawing/2014/main" id="{3CAC2D9E-57F9-433E-A2EC-328184817942}"/>
              </a:ext>
            </a:extLst>
          </p:cNvPr>
          <p:cNvSpPr>
            <a:spLocks xmlns:a="http://schemas.openxmlformats.org/drawingml/2006/main" noGrp="1"/>
          </p:cNvSpPr>
          <p:nvPr/>
        </p:nvSpPr>
        <p:spPr>
          <a:xfrm xmlns:a="http://schemas.openxmlformats.org/drawingml/2006/main">
            <a:off x="609600" y="3590925"/>
            <a:ext cx="523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3</a:t>
            </a:r>
          </a:p>
        </p:txBody>
      </p:sp>
      <p:sp>
        <p:nvSpPr>
          <p:cNvPr id="10" name="text-9">
            <a:extLst xmlns:a="http://schemas.openxmlformats.org/drawingml/2006/main">
              <a:ext uri="{FF2B5EF4-FFF2-40B4-BE49-F238E27FC236}">
                <a16:creationId xmlns:a16="http://schemas.microsoft.com/office/drawing/2014/main" id="{BD163B0D-382A-42EB-9F79-AA4AE037BCF9}"/>
              </a:ext>
            </a:extLst>
          </p:cNvPr>
          <p:cNvSpPr>
            <a:spLocks xmlns:a="http://schemas.openxmlformats.org/drawingml/2006/main" noGrp="1"/>
          </p:cNvSpPr>
          <p:nvPr/>
        </p:nvSpPr>
        <p:spPr>
          <a:xfrm xmlns:a="http://schemas.openxmlformats.org/drawingml/2006/main">
            <a:off x="1362075" y="359092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Execute</a:t>
            </a:r>
          </a:p>
        </p:txBody>
      </p:sp>
      <p:sp>
        <p:nvSpPr>
          <p:cNvPr id="11" name="text-10">
            <a:extLst xmlns:a="http://schemas.openxmlformats.org/drawingml/2006/main">
              <a:ext uri="{FF2B5EF4-FFF2-40B4-BE49-F238E27FC236}">
                <a16:creationId xmlns:a16="http://schemas.microsoft.com/office/drawing/2014/main" id="{6585DA1F-AD26-446A-826E-871AA1848F4B}"/>
              </a:ext>
            </a:extLst>
          </p:cNvPr>
          <p:cNvSpPr>
            <a:spLocks xmlns:a="http://schemas.openxmlformats.org/drawingml/2006/main" noGrp="1"/>
          </p:cNvSpPr>
          <p:nvPr/>
        </p:nvSpPr>
        <p:spPr>
          <a:xfrm xmlns:a="http://schemas.openxmlformats.org/drawingml/2006/main">
            <a:off x="4191000" y="3619500"/>
            <a:ext cx="714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Run the registered Python function</a:t>
            </a:r>
          </a:p>
        </p:txBody>
      </p:sp>
      <p:sp>
        <p:nvSpPr>
          <p:cNvPr id="12" name="text-11">
            <a:extLst xmlns:a="http://schemas.openxmlformats.org/drawingml/2006/main">
              <a:ext uri="{FF2B5EF4-FFF2-40B4-BE49-F238E27FC236}">
                <a16:creationId xmlns:a16="http://schemas.microsoft.com/office/drawing/2014/main" id="{315C5F48-7447-4F7B-B0B5-B339298B93FE}"/>
              </a:ext>
            </a:extLst>
          </p:cNvPr>
          <p:cNvSpPr>
            <a:spLocks xmlns:a="http://schemas.openxmlformats.org/drawingml/2006/main" noGrp="1"/>
          </p:cNvSpPr>
          <p:nvPr/>
        </p:nvSpPr>
        <p:spPr>
          <a:xfrm xmlns:a="http://schemas.openxmlformats.org/drawingml/2006/main">
            <a:off x="609600" y="4429125"/>
            <a:ext cx="523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4</a:t>
            </a:r>
          </a:p>
        </p:txBody>
      </p:sp>
      <p:sp>
        <p:nvSpPr>
          <p:cNvPr id="13" name="text-12">
            <a:extLst xmlns:a="http://schemas.openxmlformats.org/drawingml/2006/main">
              <a:ext uri="{FF2B5EF4-FFF2-40B4-BE49-F238E27FC236}">
                <a16:creationId xmlns:a16="http://schemas.microsoft.com/office/drawing/2014/main" id="{C584C03A-877E-466F-9E16-868EE689D5FE}"/>
              </a:ext>
            </a:extLst>
          </p:cNvPr>
          <p:cNvSpPr>
            <a:spLocks xmlns:a="http://schemas.openxmlformats.org/drawingml/2006/main" noGrp="1"/>
          </p:cNvSpPr>
          <p:nvPr/>
        </p:nvSpPr>
        <p:spPr>
          <a:xfrm xmlns:a="http://schemas.openxmlformats.org/drawingml/2006/main">
            <a:off x="1362075" y="442912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Observe</a:t>
            </a:r>
          </a:p>
        </p:txBody>
      </p:sp>
      <p:sp>
        <p:nvSpPr>
          <p:cNvPr id="14" name="text-13">
            <a:extLst xmlns:a="http://schemas.openxmlformats.org/drawingml/2006/main">
              <a:ext uri="{FF2B5EF4-FFF2-40B4-BE49-F238E27FC236}">
                <a16:creationId xmlns:a16="http://schemas.microsoft.com/office/drawing/2014/main" id="{6670196C-8DE0-483A-9517-61247005760C}"/>
              </a:ext>
            </a:extLst>
          </p:cNvPr>
          <p:cNvSpPr>
            <a:spLocks xmlns:a="http://schemas.openxmlformats.org/drawingml/2006/main" noGrp="1"/>
          </p:cNvSpPr>
          <p:nvPr/>
        </p:nvSpPr>
        <p:spPr>
          <a:xfrm xmlns:a="http://schemas.openxmlformats.org/drawingml/2006/main">
            <a:off x="4191000" y="4457700"/>
            <a:ext cx="714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Send the result back to the model</a:t>
            </a:r>
          </a:p>
        </p:txBody>
      </p:sp>
      <p:sp>
        <p:nvSpPr>
          <p:cNvPr id="15" name="text-14">
            <a:extLst xmlns:a="http://schemas.openxmlformats.org/drawingml/2006/main">
              <a:ext uri="{FF2B5EF4-FFF2-40B4-BE49-F238E27FC236}">
                <a16:creationId xmlns:a16="http://schemas.microsoft.com/office/drawing/2014/main" id="{92812B67-37A4-4E6C-B9D4-DD8CD169BF1E}"/>
              </a:ext>
            </a:extLst>
          </p:cNvPr>
          <p:cNvSpPr>
            <a:spLocks xmlns:a="http://schemas.openxmlformats.org/drawingml/2006/main" noGrp="1"/>
          </p:cNvSpPr>
          <p:nvPr/>
        </p:nvSpPr>
        <p:spPr>
          <a:xfrm xmlns:a="http://schemas.openxmlformats.org/drawingml/2006/main">
            <a:off x="609600" y="5267325"/>
            <a:ext cx="523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5</a:t>
            </a:r>
          </a:p>
        </p:txBody>
      </p:sp>
      <p:sp>
        <p:nvSpPr>
          <p:cNvPr id="16" name="text-15">
            <a:extLst xmlns:a="http://schemas.openxmlformats.org/drawingml/2006/main">
              <a:ext uri="{FF2B5EF4-FFF2-40B4-BE49-F238E27FC236}">
                <a16:creationId xmlns:a16="http://schemas.microsoft.com/office/drawing/2014/main" id="{A186B554-7312-4037-960D-5918B57A31BF}"/>
              </a:ext>
            </a:extLst>
          </p:cNvPr>
          <p:cNvSpPr>
            <a:spLocks xmlns:a="http://schemas.openxmlformats.org/drawingml/2006/main" noGrp="1"/>
          </p:cNvSpPr>
          <p:nvPr/>
        </p:nvSpPr>
        <p:spPr>
          <a:xfrm xmlns:a="http://schemas.openxmlformats.org/drawingml/2006/main">
            <a:off x="1362075" y="5267325"/>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Respond</a:t>
            </a:r>
          </a:p>
        </p:txBody>
      </p:sp>
      <p:sp>
        <p:nvSpPr>
          <p:cNvPr id="17" name="text-16">
            <a:extLst xmlns:a="http://schemas.openxmlformats.org/drawingml/2006/main">
              <a:ext uri="{FF2B5EF4-FFF2-40B4-BE49-F238E27FC236}">
                <a16:creationId xmlns:a16="http://schemas.microsoft.com/office/drawing/2014/main" id="{E34D6CDB-510B-4627-AFDE-29110C6C8617}"/>
              </a:ext>
            </a:extLst>
          </p:cNvPr>
          <p:cNvSpPr>
            <a:spLocks xmlns:a="http://schemas.openxmlformats.org/drawingml/2006/main" noGrp="1"/>
          </p:cNvSpPr>
          <p:nvPr/>
        </p:nvSpPr>
        <p:spPr>
          <a:xfrm xmlns:a="http://schemas.openxmlformats.org/drawingml/2006/main">
            <a:off x="4191000" y="5295900"/>
            <a:ext cx="714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Answer from the tool results</a:t>
            </a:r>
          </a:p>
        </p:txBody>
      </p:sp>
    </p:spTree>
    <p:extLst>
      <p:ext uri="{BB962C8B-B14F-4D97-AF65-F5344CB8AC3E}">
        <p14:creationId xmlns:p14="http://schemas.microsoft.com/office/powerpoint/2010/main" val="6770485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3413EDF-9BB4-4864-836C-28812AA84CD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Agent design exercise</a:t>
            </a:r>
          </a:p>
        </p:txBody>
      </p:sp>
      <p:sp>
        <p:nvSpPr>
          <p:cNvPr id="2" name="page-number">
            <a:extLst xmlns:a="http://schemas.openxmlformats.org/drawingml/2006/main">
              <a:ext uri="{FF2B5EF4-FFF2-40B4-BE49-F238E27FC236}">
                <a16:creationId xmlns:a16="http://schemas.microsoft.com/office/drawing/2014/main" id="{808C06CD-05BF-403B-AE12-DB05BFA42551}"/>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08</a:t>
            </a:r>
          </a:p>
        </p:txBody>
      </p:sp>
      <p:sp>
        <p:nvSpPr>
          <p:cNvPr id="3" name="text-2">
            <a:extLst xmlns:a="http://schemas.openxmlformats.org/drawingml/2006/main">
              <a:ext uri="{FF2B5EF4-FFF2-40B4-BE49-F238E27FC236}">
                <a16:creationId xmlns:a16="http://schemas.microsoft.com/office/drawing/2014/main" id="{0124E48A-070B-4F4A-962B-097DFCC2B9A7}"/>
              </a:ext>
            </a:extLst>
          </p:cNvPr>
          <p:cNvSpPr>
            <a:spLocks xmlns:a="http://schemas.openxmlformats.org/drawingml/2006/main" noGrp="1"/>
          </p:cNvSpPr>
          <p:nvPr/>
        </p:nvSpPr>
        <p:spPr>
          <a:xfrm xmlns:a="http://schemas.openxmlformats.org/drawingml/2006/main">
            <a:off x="609600" y="1790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4 minutes in pairs</a:t>
            </a:r>
          </a:p>
        </p:txBody>
      </p:sp>
      <p:sp>
        <p:nvSpPr>
          <p:cNvPr id="4" name="text-3">
            <a:extLst xmlns:a="http://schemas.openxmlformats.org/drawingml/2006/main">
              <a:ext uri="{FF2B5EF4-FFF2-40B4-BE49-F238E27FC236}">
                <a16:creationId xmlns:a16="http://schemas.microsoft.com/office/drawing/2014/main" id="{2143C3AC-AB51-4CA3-8D08-5B8B15AC9C08}"/>
              </a:ext>
            </a:extLst>
          </p:cNvPr>
          <p:cNvSpPr>
            <a:spLocks xmlns:a="http://schemas.openxmlformats.org/drawingml/2006/main" noGrp="1"/>
          </p:cNvSpPr>
          <p:nvPr/>
        </p:nvSpPr>
        <p:spPr>
          <a:xfrm xmlns:a="http://schemas.openxmlformats.org/drawingml/2006/main">
            <a:off x="609600" y="24288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0">
                <a:solidFill>
                  <a:srgbClr val="20252B"/>
                </a:solidFill>
                <a:latin typeface="Helvetica Neue"/>
                <a:ea typeface="Helvetica Neue"/>
                <a:cs typeface="Helvetica Neue"/>
              </a:defRPr>
            </a:pPr>
            <a:r>
              <a:rPr sz="2775" b="0">
                <a:solidFill>
                  <a:srgbClr val="20252B"/>
                </a:solidFill>
                <a:latin typeface="Helvetica Neue"/>
                <a:ea typeface="Helvetica Neue"/>
                <a:cs typeface="Helvetica Neue"/>
              </a:rPr>
              <a:t>What question will the user ask?</a:t>
            </a:r>
          </a:p>
        </p:txBody>
      </p:sp>
      <p:sp>
        <p:nvSpPr>
          <p:cNvPr id="5" name="text-4">
            <a:extLst xmlns:a="http://schemas.openxmlformats.org/drawingml/2006/main">
              <a:ext uri="{FF2B5EF4-FFF2-40B4-BE49-F238E27FC236}">
                <a16:creationId xmlns:a16="http://schemas.microsoft.com/office/drawing/2014/main" id="{5C6DA737-E40A-4FC9-A545-3F374BE2AE07}"/>
              </a:ext>
            </a:extLst>
          </p:cNvPr>
          <p:cNvSpPr>
            <a:spLocks xmlns:a="http://schemas.openxmlformats.org/drawingml/2006/main" noGrp="1"/>
          </p:cNvSpPr>
          <p:nvPr/>
        </p:nvSpPr>
        <p:spPr>
          <a:xfrm xmlns:a="http://schemas.openxmlformats.org/drawingml/2006/main">
            <a:off x="609600" y="3457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0">
                <a:solidFill>
                  <a:srgbClr val="20252B"/>
                </a:solidFill>
                <a:latin typeface="Helvetica Neue"/>
                <a:ea typeface="Helvetica Neue"/>
                <a:cs typeface="Helvetica Neue"/>
              </a:defRPr>
            </a:pPr>
            <a:r>
              <a:rPr sz="2775" b="0">
                <a:solidFill>
                  <a:srgbClr val="20252B"/>
                </a:solidFill>
                <a:latin typeface="Helvetica Neue"/>
                <a:ea typeface="Helvetica Neue"/>
                <a:cs typeface="Helvetica Neue"/>
              </a:rPr>
              <a:t>Which observations could support an answer?</a:t>
            </a:r>
          </a:p>
        </p:txBody>
      </p:sp>
      <p:sp>
        <p:nvSpPr>
          <p:cNvPr id="6" name="text-5">
            <a:extLst xmlns:a="http://schemas.openxmlformats.org/drawingml/2006/main">
              <a:ext uri="{FF2B5EF4-FFF2-40B4-BE49-F238E27FC236}">
                <a16:creationId xmlns:a16="http://schemas.microsoft.com/office/drawing/2014/main" id="{AFBCE728-E7C8-4881-8B62-7F2E63858A5F}"/>
              </a:ext>
            </a:extLst>
          </p:cNvPr>
          <p:cNvSpPr>
            <a:spLocks xmlns:a="http://schemas.openxmlformats.org/drawingml/2006/main" noGrp="1"/>
          </p:cNvSpPr>
          <p:nvPr/>
        </p:nvSpPr>
        <p:spPr>
          <a:xfrm xmlns:a="http://schemas.openxmlformats.org/drawingml/2006/main">
            <a:off x="609600" y="44862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0">
                <a:solidFill>
                  <a:srgbClr val="20252B"/>
                </a:solidFill>
                <a:latin typeface="Helvetica Neue"/>
                <a:ea typeface="Helvetica Neue"/>
                <a:cs typeface="Helvetica Neue"/>
              </a:defRPr>
            </a:pPr>
            <a:r>
              <a:rPr sz="2775" b="0">
                <a:solidFill>
                  <a:srgbClr val="20252B"/>
                </a:solidFill>
                <a:latin typeface="Helvetica Neue"/>
                <a:ea typeface="Helvetica Neue"/>
                <a:cs typeface="Helvetica Neue"/>
              </a:rPr>
              <a:t>What would make the evidence insufficient?</a:t>
            </a:r>
          </a:p>
        </p:txBody>
      </p:sp>
      <p:sp>
        <p:nvSpPr>
          <p:cNvPr id="7" name="text-6">
            <a:extLst xmlns:a="http://schemas.openxmlformats.org/drawingml/2006/main">
              <a:ext uri="{FF2B5EF4-FFF2-40B4-BE49-F238E27FC236}">
                <a16:creationId xmlns:a16="http://schemas.microsoft.com/office/drawing/2014/main" id="{A1248762-5DD5-4671-A554-971585FBD72E}"/>
              </a:ext>
            </a:extLst>
          </p:cNvPr>
          <p:cNvSpPr>
            <a:spLocks xmlns:a="http://schemas.openxmlformats.org/drawingml/2006/main" noGrp="1"/>
          </p:cNvSpPr>
          <p:nvPr/>
        </p:nvSpPr>
        <p:spPr>
          <a:xfrm xmlns:a="http://schemas.openxmlformats.org/drawingml/2006/main">
            <a:off x="609600" y="58483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245891"/>
                </a:solidFill>
                <a:latin typeface="Menlo"/>
                <a:ea typeface="Menlo"/>
                <a:cs typeface="Menlo"/>
              </a:defRPr>
            </a:pPr>
            <a:r>
              <a:rPr sz="1725" b="0">
                <a:solidFill>
                  <a:srgbClr val="245891"/>
                </a:solidFill>
                <a:latin typeface="Menlo"/>
                <a:ea typeface="Menlo"/>
                <a:cs typeface="Menlo"/>
              </a:rPr>
              <a:t>Open templates/design_map.md</a:t>
            </a:r>
          </a:p>
        </p:txBody>
      </p:sp>
    </p:spTree>
    <p:extLst>
      <p:ext uri="{BB962C8B-B14F-4D97-AF65-F5344CB8AC3E}">
        <p14:creationId xmlns:p14="http://schemas.microsoft.com/office/powerpoint/2010/main" val="20340344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4982330-7841-4E0B-B913-5A13D1E41857}"/>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Tutorial datasets</a:t>
            </a:r>
          </a:p>
        </p:txBody>
      </p:sp>
      <p:sp>
        <p:nvSpPr>
          <p:cNvPr id="2" name="page-number">
            <a:extLst xmlns:a="http://schemas.openxmlformats.org/drawingml/2006/main">
              <a:ext uri="{FF2B5EF4-FFF2-40B4-BE49-F238E27FC236}">
                <a16:creationId xmlns:a16="http://schemas.microsoft.com/office/drawing/2014/main" id="{40BF4281-CADC-4987-8CA5-89AB14122EE5}"/>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F712D5BF-3876-4964-94DA-3465127F8919}"/>
              </a:ext>
            </a:extLst>
          </p:cNvPr>
          <p:cNvSpPr>
            <a:spLocks xmlns:a="http://schemas.openxmlformats.org/drawingml/2006/main" noGrp="1"/>
          </p:cNvSpPr>
          <p:nvPr/>
        </p:nvSpPr>
        <p:spPr>
          <a:xfrm xmlns:a="http://schemas.openxmlformats.org/drawingml/2006/main">
            <a:off x="609600" y="1952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Main exercise: GLOBEM</a:t>
            </a:r>
          </a:p>
        </p:txBody>
      </p:sp>
      <p:sp>
        <p:nvSpPr>
          <p:cNvPr id="4" name="text-3">
            <a:extLst xmlns:a="http://schemas.openxmlformats.org/drawingml/2006/main">
              <a:ext uri="{FF2B5EF4-FFF2-40B4-BE49-F238E27FC236}">
                <a16:creationId xmlns:a16="http://schemas.microsoft.com/office/drawing/2014/main" id="{D782D397-BFE5-4D0C-A848-63CB6929031B}"/>
              </a:ext>
            </a:extLst>
          </p:cNvPr>
          <p:cNvSpPr>
            <a:spLocks xmlns:a="http://schemas.openxmlformats.org/drawingml/2006/main" noGrp="1"/>
          </p:cNvSpPr>
          <p:nvPr/>
        </p:nvSpPr>
        <p:spPr>
          <a:xfrm xmlns:a="http://schemas.openxmlformats.org/drawingml/2006/main">
            <a:off x="6534150" y="1952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Module 5: synthetic case</a:t>
            </a:r>
          </a:p>
        </p:txBody>
      </p:sp>
      <p:sp>
        <p:nvSpPr>
          <p:cNvPr id="5" name="text-4">
            <a:extLst xmlns:a="http://schemas.openxmlformats.org/drawingml/2006/main">
              <a:ext uri="{FF2B5EF4-FFF2-40B4-BE49-F238E27FC236}">
                <a16:creationId xmlns:a16="http://schemas.microsoft.com/office/drawing/2014/main" id="{DE0AC570-7F88-42C5-BA20-8BEA4B3B31A7}"/>
              </a:ext>
            </a:extLst>
          </p:cNvPr>
          <p:cNvSpPr>
            <a:spLocks xmlns:a="http://schemas.openxmlformats.org/drawingml/2006/main" noGrp="1"/>
          </p:cNvSpPr>
          <p:nvPr/>
        </p:nvSpPr>
        <p:spPr>
          <a:xfrm xmlns:a="http://schemas.openxmlformats.org/drawingml/2006/main">
            <a:off x="609600" y="2657475"/>
            <a:ext cx="5095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10 participants, 481 participant-days</a:t>
            </a:r>
          </a:p>
        </p:txBody>
      </p:sp>
      <p:sp>
        <p:nvSpPr>
          <p:cNvPr id="6" name="text-5">
            <a:extLst xmlns:a="http://schemas.openxmlformats.org/drawingml/2006/main">
              <a:ext uri="{FF2B5EF4-FFF2-40B4-BE49-F238E27FC236}">
                <a16:creationId xmlns:a16="http://schemas.microsoft.com/office/drawing/2014/main" id="{E2996C07-C480-48BA-9089-68B9425F1AE7}"/>
              </a:ext>
            </a:extLst>
          </p:cNvPr>
          <p:cNvSpPr>
            <a:spLocks xmlns:a="http://schemas.openxmlformats.org/drawingml/2006/main" noGrp="1"/>
          </p:cNvSpPr>
          <p:nvPr/>
        </p:nvSpPr>
        <p:spPr>
          <a:xfrm xmlns:a="http://schemas.openxmlformats.org/drawingml/2006/main">
            <a:off x="609600" y="3686175"/>
            <a:ext cx="5095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Observed sleep and screen features, with missingness preserved</a:t>
            </a:r>
          </a:p>
        </p:txBody>
      </p:sp>
      <p:sp>
        <p:nvSpPr>
          <p:cNvPr id="7" name="text-6">
            <a:extLst xmlns:a="http://schemas.openxmlformats.org/drawingml/2006/main">
              <a:ext uri="{FF2B5EF4-FFF2-40B4-BE49-F238E27FC236}">
                <a16:creationId xmlns:a16="http://schemas.microsoft.com/office/drawing/2014/main" id="{F97A111C-3AE2-46ED-B80D-7D05171FF576}"/>
              </a:ext>
            </a:extLst>
          </p:cNvPr>
          <p:cNvSpPr>
            <a:spLocks xmlns:a="http://schemas.openxmlformats.org/drawingml/2006/main" noGrp="1"/>
          </p:cNvSpPr>
          <p:nvPr/>
        </p:nvSpPr>
        <p:spPr>
          <a:xfrm xmlns:a="http://schemas.openxmlformats.org/drawingml/2006/main">
            <a:off x="609600" y="4714875"/>
            <a:ext cx="5095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Default data/globem_hybrid profile</a:t>
            </a:r>
          </a:p>
        </p:txBody>
      </p:sp>
      <p:sp>
        <p:nvSpPr>
          <p:cNvPr id="8" name="text-7">
            <a:extLst xmlns:a="http://schemas.openxmlformats.org/drawingml/2006/main">
              <a:ext uri="{FF2B5EF4-FFF2-40B4-BE49-F238E27FC236}">
                <a16:creationId xmlns:a16="http://schemas.microsoft.com/office/drawing/2014/main" id="{1797AAF9-20CC-4F05-9E1C-D6A89B5EA55D}"/>
              </a:ext>
            </a:extLst>
          </p:cNvPr>
          <p:cNvSpPr>
            <a:spLocks xmlns:a="http://schemas.openxmlformats.org/drawingml/2006/main" noGrp="1"/>
          </p:cNvSpPr>
          <p:nvPr/>
        </p:nvSpPr>
        <p:spPr>
          <a:xfrm xmlns:a="http://schemas.openxmlformats.org/drawingml/2006/main">
            <a:off x="6534150" y="26574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12 personas, 112 days each</a:t>
            </a:r>
          </a:p>
        </p:txBody>
      </p:sp>
      <p:sp>
        <p:nvSpPr>
          <p:cNvPr id="9" name="text-8">
            <a:extLst xmlns:a="http://schemas.openxmlformats.org/drawingml/2006/main">
              <a:ext uri="{FF2B5EF4-FFF2-40B4-BE49-F238E27FC236}">
                <a16:creationId xmlns:a16="http://schemas.microsoft.com/office/drawing/2014/main" id="{BBBE4B6D-D8EE-45FC-AEDF-47CD831C17D1}"/>
              </a:ext>
            </a:extLst>
          </p:cNvPr>
          <p:cNvSpPr>
            <a:spLocks xmlns:a="http://schemas.openxmlformats.org/drawingml/2006/main" noGrp="1"/>
          </p:cNvSpPr>
          <p:nvPr/>
        </p:nvSpPr>
        <p:spPr>
          <a:xfrm xmlns:a="http://schemas.openxmlformats.org/drawingml/2006/main">
            <a:off x="6534150" y="36861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A known deadline/screen confound for the evaluation discussion</a:t>
            </a:r>
          </a:p>
        </p:txBody>
      </p:sp>
      <p:sp>
        <p:nvSpPr>
          <p:cNvPr id="10" name="text-9">
            <a:extLst xmlns:a="http://schemas.openxmlformats.org/drawingml/2006/main">
              <a:ext uri="{FF2B5EF4-FFF2-40B4-BE49-F238E27FC236}">
                <a16:creationId xmlns:a16="http://schemas.microsoft.com/office/drawing/2014/main" id="{AAB2B3E9-FAD5-4AE0-8EF1-2F53BB7ED1BC}"/>
              </a:ext>
            </a:extLst>
          </p:cNvPr>
          <p:cNvSpPr>
            <a:spLocks xmlns:a="http://schemas.openxmlformats.org/drawingml/2006/main" noGrp="1"/>
          </p:cNvSpPr>
          <p:nvPr/>
        </p:nvSpPr>
        <p:spPr>
          <a:xfrm xmlns:a="http://schemas.openxmlformats.org/drawingml/2006/main">
            <a:off x="6534150" y="47148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Separate tables in data/processed</a:t>
            </a:r>
          </a:p>
        </p:txBody>
      </p:sp>
      <p:sp>
        <p:nvSpPr>
          <p:cNvPr id="11" name="text-10">
            <a:extLst xmlns:a="http://schemas.openxmlformats.org/drawingml/2006/main">
              <a:ext uri="{FF2B5EF4-FFF2-40B4-BE49-F238E27FC236}">
                <a16:creationId xmlns:a16="http://schemas.microsoft.com/office/drawing/2014/main" id="{A5E8062C-CD17-46C1-8E34-CA20D805B366}"/>
              </a:ext>
            </a:extLst>
          </p:cNvPr>
          <p:cNvSpPr>
            <a:spLocks xmlns:a="http://schemas.openxmlformats.org/drawingml/2006/main" noGrp="1"/>
          </p:cNvSpPr>
          <p:nvPr/>
        </p:nvSpPr>
        <p:spPr>
          <a:xfrm xmlns:a="http://schemas.openxmlformats.org/drawingml/2006/main">
            <a:off x="609600" y="592455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Synthetic fields cannot support claims about a GLOBEM participant.</a:t>
            </a:r>
          </a:p>
        </p:txBody>
      </p:sp>
    </p:spTree>
    <p:extLst>
      <p:ext uri="{BB962C8B-B14F-4D97-AF65-F5344CB8AC3E}">
        <p14:creationId xmlns:p14="http://schemas.microsoft.com/office/powerpoint/2010/main" val="8269252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CD3B747-6AF5-4BFC-A3A5-92C978CCA3F6}"/>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Observed and synthetic data</a:t>
            </a:r>
          </a:p>
        </p:txBody>
      </p:sp>
      <p:sp>
        <p:nvSpPr>
          <p:cNvPr id="2" name="page-number">
            <a:extLst xmlns:a="http://schemas.openxmlformats.org/drawingml/2006/main">
              <a:ext uri="{FF2B5EF4-FFF2-40B4-BE49-F238E27FC236}">
                <a16:creationId xmlns:a16="http://schemas.microsoft.com/office/drawing/2014/main" id="{A6866055-F77C-4B0C-ADDB-00FF2F1E8EE7}"/>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10</a:t>
            </a:r>
          </a:p>
        </p:txBody>
      </p:sp>
      <p:graphicFrame>
        <p:nvGraphicFramePr>
          <p:cNvPr id="7" name=""/>
          <p:cNvGraphicFramePr/>
          <p:nvPr/>
        </p:nvGraphicFramePr>
        <p:xfrm>
          <a:off xmlns:a="http://schemas.openxmlformats.org/drawingml/2006/main" x="609600" y="2009775"/>
          <a:ext xmlns:a="http://schemas.openxmlformats.org/drawingml/2006/main" cx="10972800" cy="3267075"/>
        </p:xfrm>
        <a:graphic xmlns:a="http://schemas.openxmlformats.org/drawingml/2006/main">
          <a:graphicData uri="http://schemas.openxmlformats.org/drawingml/2006/table">
            <a:tbl>
              <a:tblPr/>
              <a:tblGrid>
                <a:gridCol w="2952750"/>
                <a:gridCol w="3714750"/>
                <a:gridCol w="4305300"/>
              </a:tblGrid>
              <a:tr h="816769">
                <a:tc>
                  <a:txBody>
                    <a:bodyPr/>
                    <a:lstStyle/>
                    <a:p>
                      <a:r>
                        <a:rPr sz="1875" b="1">
                          <a:solidFill>
                            <a:srgbClr val="245891"/>
                          </a:solidFill>
                          <a:latin typeface="Helvetica Neue"/>
                          <a:ea typeface="Helvetica Neue"/>
                          <a:cs typeface="Helvetica Neue"/>
                        </a:rPr>
                        <a:t>Data type</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875" b="1">
                          <a:solidFill>
                            <a:srgbClr val="245891"/>
                          </a:solidFill>
                          <a:latin typeface="Helvetica Neue"/>
                          <a:ea typeface="Helvetica Neue"/>
                          <a:cs typeface="Helvetica Neue"/>
                        </a:rPr>
                        <a:t>Useful for</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1875" b="1">
                          <a:solidFill>
                            <a:srgbClr val="245891"/>
                          </a:solidFill>
                          <a:latin typeface="Helvetica Neue"/>
                          <a:ea typeface="Helvetica Neue"/>
                          <a:cs typeface="Helvetica Neue"/>
                        </a:rPr>
                        <a:t>Boundary</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816769">
                <a:tc>
                  <a:txBody>
                    <a:bodyPr/>
                    <a:lstStyle/>
                    <a:p>
                      <a:r>
                        <a:rPr sz="1875" b="0">
                          <a:solidFill>
                            <a:srgbClr val="20252B"/>
                          </a:solidFill>
                          <a:latin typeface="Helvetica Neue"/>
                          <a:ea typeface="Helvetica Neue"/>
                          <a:cs typeface="Helvetica Neue"/>
                        </a:rPr>
                        <a:t>Observed source feature</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Analyses of that recorded feature</a:t>
                      </a:r>
                    </a:p>
                  </a:txBody>
                  <a:tcPr marL="91440" marR="91440" marT="45720" marB="45720">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Keep its unit, sampling and provenance</a:t>
                      </a:r>
                    </a:p>
                  </a:txBody>
                  <a:tcPr marL="91440" marR="91440" marT="45720" marB="45720">
                    <a:lnR w="9525">
                      <a:solidFill>
                        <a:srgbClr val="FFFFFF"/>
                      </a:solidFill>
                    </a:lnR>
                    <a:lnB w="6668">
                      <a:solidFill>
                        <a:srgbClr val="DCE1E6"/>
                      </a:solidFill>
                    </a:lnB>
                    <a:solidFill>
                      <a:srgbClr val="F3F5F7"/>
                    </a:solidFill>
                  </a:tcPr>
                </a:tc>
              </a:tr>
              <a:tr h="816769">
                <a:tc>
                  <a:txBody>
                    <a:bodyPr/>
                    <a:lstStyle/>
                    <a:p>
                      <a:r>
                        <a:rPr sz="1875" b="0">
                          <a:solidFill>
                            <a:srgbClr val="20252B"/>
                          </a:solidFill>
                          <a:latin typeface="Helvetica Neue"/>
                          <a:ea typeface="Helvetica Neue"/>
                          <a:cs typeface="Helvetica Neue"/>
                        </a:rPr>
                        <a:t>Synthetic extension</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75" b="0">
                          <a:solidFill>
                            <a:srgbClr val="20252B"/>
                          </a:solidFill>
                          <a:latin typeface="Helvetica Neue"/>
                          <a:ea typeface="Helvetica Neue"/>
                          <a:cs typeface="Helvetica Neue"/>
                        </a:rPr>
                        <a:t>Testing tools and completing exercises</a:t>
                      </a:r>
                    </a:p>
                  </a:txBody>
                  <a:tcPr marL="91440" marR="91440" marT="45720" marB="45720">
                    <a:lnR w="9525">
                      <a:solidFill>
                        <a:srgbClr val="FFFFFF"/>
                      </a:solidFill>
                    </a:lnR>
                    <a:lnB w="6668">
                      <a:solidFill>
                        <a:srgbClr val="DCE1E6"/>
                      </a:solidFill>
                    </a:lnB>
                    <a:solidFill>
                      <a:srgbClr val="FFFFFF"/>
                    </a:solidFill>
                  </a:tcPr>
                </a:tc>
                <a:tc>
                  <a:txBody>
                    <a:bodyPr/>
                    <a:lstStyle/>
                    <a:p>
                      <a:r>
                        <a:rPr sz="1875" b="0">
                          <a:solidFill>
                            <a:srgbClr val="20252B"/>
                          </a:solidFill>
                          <a:latin typeface="Helvetica Neue"/>
                          <a:ea typeface="Helvetica Neue"/>
                          <a:cs typeface="Helvetica Neue"/>
                        </a:rPr>
                        <a:t>No claim about a real participant</a:t>
                      </a:r>
                    </a:p>
                  </a:txBody>
                  <a:tcPr marL="91440" marR="91440" marT="45720" marB="45720">
                    <a:lnR w="9525">
                      <a:solidFill>
                        <a:srgbClr val="FFFFFF"/>
                      </a:solidFill>
                    </a:lnR>
                    <a:lnB w="6668">
                      <a:solidFill>
                        <a:srgbClr val="DCE1E6"/>
                      </a:solidFill>
                    </a:lnB>
                    <a:solidFill>
                      <a:srgbClr val="FFFFFF"/>
                    </a:solidFill>
                  </a:tcPr>
                </a:tc>
              </a:tr>
              <a:tr h="816769">
                <a:tc>
                  <a:txBody>
                    <a:bodyPr/>
                    <a:lstStyle/>
                    <a:p>
                      <a:r>
                        <a:rPr sz="1875" b="0">
                          <a:solidFill>
                            <a:srgbClr val="20252B"/>
                          </a:solidFill>
                          <a:latin typeface="Helvetica Neue"/>
                          <a:ea typeface="Helvetica Neue"/>
                          <a:cs typeface="Helvetica Neue"/>
                        </a:rPr>
                        <a:t>Seeded teaching scenario</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1875" b="0">
                          <a:solidFill>
                            <a:srgbClr val="20252B"/>
                          </a:solidFill>
                          <a:latin typeface="Helvetica Neue"/>
                          <a:ea typeface="Helvetica Neue"/>
                          <a:cs typeface="Helvetica Neue"/>
                        </a:rPr>
                        <a:t>Explaining known generator rules</a:t>
                      </a:r>
                    </a:p>
                  </a:txBody>
                  <a:tcPr marL="91440" marR="91440" marT="45720" marB="45720">
                    <a:lnR w="9525">
                      <a:solidFill>
                        <a:srgbClr val="FFFFFF"/>
                      </a:solidFill>
                    </a:lnR>
                    <a:lnB w="9525">
                      <a:solidFill>
                        <a:srgbClr val="FFFFFF"/>
                      </a:solidFill>
                    </a:lnB>
                    <a:solidFill>
                      <a:srgbClr val="F3F5F7"/>
                    </a:solidFill>
                  </a:tcPr>
                </a:tc>
                <a:tc>
                  <a:txBody>
                    <a:bodyPr/>
                    <a:lstStyle/>
                    <a:p>
                      <a:r>
                        <a:rPr sz="1875" b="0">
                          <a:solidFill>
                            <a:srgbClr val="20252B"/>
                          </a:solidFill>
                          <a:latin typeface="Helvetica Neue"/>
                          <a:ea typeface="Helvetica Neue"/>
                          <a:cs typeface="Helvetica Neue"/>
                        </a:rPr>
                        <a:t>Observed correlation still needs caution</a:t>
                      </a:r>
                    </a:p>
                  </a:txBody>
                  <a:tcPr marL="91440" marR="91440" marT="45720" marB="45720">
                    <a:lnR w="9525">
                      <a:solidFill>
                        <a:srgbClr val="FFFFFF"/>
                      </a:solidFill>
                    </a:lnR>
                    <a:lnB w="9525">
                      <a:solidFill>
                        <a:srgbClr val="FFFFFF"/>
                      </a:solidFill>
                    </a:lnB>
                    <a:solidFill>
                      <a:srgbClr val="F3F5F7"/>
                    </a:solidFill>
                  </a:tcPr>
                </a:tc>
              </a:tr>
            </a:tbl>
          </a:graphicData>
        </a:graphic>
      </p:graphicFrame>
      <p:sp>
        <p:nvSpPr>
          <p:cNvPr id="4" name="text-2">
            <a:extLst xmlns:a="http://schemas.openxmlformats.org/drawingml/2006/main">
              <a:ext uri="{FF2B5EF4-FFF2-40B4-BE49-F238E27FC236}">
                <a16:creationId xmlns:a16="http://schemas.microsoft.com/office/drawing/2014/main" id="{E2A6FA16-AF36-4CDE-A336-705F9FE8F717}"/>
              </a:ext>
            </a:extLst>
          </p:cNvPr>
          <p:cNvSpPr>
            <a:spLocks xmlns:a="http://schemas.openxmlformats.org/drawingml/2006/main" noGrp="1"/>
          </p:cNvSpPr>
          <p:nvPr/>
        </p:nvSpPr>
        <p:spPr>
          <a:xfrm xmlns:a="http://schemas.openxmlformats.org/drawingml/2006/main">
            <a:off x="609600" y="5638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Never describe a synthetic heart-rate or EMA value as a source measurement.</a:t>
            </a:r>
          </a:p>
        </p:txBody>
      </p:sp>
    </p:spTree>
    <p:extLst>
      <p:ext uri="{BB962C8B-B14F-4D97-AF65-F5344CB8AC3E}">
        <p14:creationId xmlns:p14="http://schemas.microsoft.com/office/powerpoint/2010/main" val="8948843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FECD26B-D097-4B4E-A682-76B4AA3E0817}"/>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The GLOBEM public sample</a:t>
            </a:r>
          </a:p>
        </p:txBody>
      </p:sp>
      <p:sp>
        <p:nvSpPr>
          <p:cNvPr id="2" name="page-number">
            <a:extLst xmlns:a="http://schemas.openxmlformats.org/drawingml/2006/main">
              <a:ext uri="{FF2B5EF4-FFF2-40B4-BE49-F238E27FC236}">
                <a16:creationId xmlns:a16="http://schemas.microsoft.com/office/drawing/2014/main" id="{BF961240-22F8-4D09-99F1-35D3EA1A7E3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41C705F4-B8E5-4856-9844-4E0729C6CB35}"/>
              </a:ext>
            </a:extLst>
          </p:cNvPr>
          <p:cNvSpPr>
            <a:spLocks xmlns:a="http://schemas.openxmlformats.org/drawingml/2006/main" noGrp="1"/>
          </p:cNvSpPr>
          <p:nvPr/>
        </p:nvSpPr>
        <p:spPr>
          <a:xfrm xmlns:a="http://schemas.openxmlformats.org/drawingml/2006/main">
            <a:off x="609600" y="1809750"/>
            <a:ext cx="6191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0">
                <a:solidFill>
                  <a:srgbClr val="20252B"/>
                </a:solidFill>
                <a:latin typeface="Helvetica Neue"/>
                <a:ea typeface="Helvetica Neue"/>
                <a:cs typeface="Helvetica Neue"/>
              </a:defRPr>
            </a:pPr>
            <a:r>
              <a:rPr sz="3675" b="0">
                <a:solidFill>
                  <a:srgbClr val="20252B"/>
                </a:solidFill>
                <a:latin typeface="Helvetica Neue"/>
                <a:ea typeface="Helvetica Neue"/>
                <a:cs typeface="Helvetica Neue"/>
              </a:rPr>
              <a:t>10 participants</a:t>
            </a:r>
          </a:p>
        </p:txBody>
      </p:sp>
      <p:sp>
        <p:nvSpPr>
          <p:cNvPr id="4" name="text-3">
            <a:extLst xmlns:a="http://schemas.openxmlformats.org/drawingml/2006/main">
              <a:ext uri="{FF2B5EF4-FFF2-40B4-BE49-F238E27FC236}">
                <a16:creationId xmlns:a16="http://schemas.microsoft.com/office/drawing/2014/main" id="{18ED7CFB-CAF1-4BA5-B306-327173051397}"/>
              </a:ext>
            </a:extLst>
          </p:cNvPr>
          <p:cNvSpPr>
            <a:spLocks xmlns:a="http://schemas.openxmlformats.org/drawingml/2006/main" noGrp="1"/>
          </p:cNvSpPr>
          <p:nvPr/>
        </p:nvSpPr>
        <p:spPr>
          <a:xfrm xmlns:a="http://schemas.openxmlformats.org/drawingml/2006/main">
            <a:off x="609600" y="2638425"/>
            <a:ext cx="6191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0">
                <a:solidFill>
                  <a:srgbClr val="646B73"/>
                </a:solidFill>
                <a:latin typeface="Helvetica Neue"/>
                <a:ea typeface="Helvetica Neue"/>
                <a:cs typeface="Helvetica Neue"/>
              </a:defRPr>
            </a:pPr>
            <a:r>
              <a:rPr sz="2775" b="0">
                <a:solidFill>
                  <a:srgbClr val="646B73"/>
                </a:solidFill>
                <a:latin typeface="Helvetica Neue"/>
                <a:ea typeface="Helvetica Neue"/>
                <a:cs typeface="Helvetica Neue"/>
              </a:rPr>
              <a:t>481 participant-days</a:t>
            </a:r>
          </a:p>
        </p:txBody>
      </p:sp>
      <p:sp>
        <p:nvSpPr>
          <p:cNvPr id="5" name="text-4">
            <a:extLst xmlns:a="http://schemas.openxmlformats.org/drawingml/2006/main">
              <a:ext uri="{FF2B5EF4-FFF2-40B4-BE49-F238E27FC236}">
                <a16:creationId xmlns:a16="http://schemas.microsoft.com/office/drawing/2014/main" id="{63650901-A976-4C05-AE20-23B349CA9415}"/>
              </a:ext>
            </a:extLst>
          </p:cNvPr>
          <p:cNvSpPr>
            <a:spLocks xmlns:a="http://schemas.openxmlformats.org/drawingml/2006/main" noGrp="1"/>
          </p:cNvSpPr>
          <p:nvPr/>
        </p:nvSpPr>
        <p:spPr>
          <a:xfrm xmlns:a="http://schemas.openxmlformats.org/drawingml/2006/main">
            <a:off x="7696200" y="1924050"/>
            <a:ext cx="38481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45891"/>
                </a:solidFill>
                <a:latin typeface="Helvetica Neue"/>
                <a:ea typeface="Helvetica Neue"/>
                <a:cs typeface="Helvetica Neue"/>
              </a:defRPr>
            </a:pPr>
            <a:r>
              <a:rPr sz="2400" b="0">
                <a:solidFill>
                  <a:srgbClr val="245891"/>
                </a:solidFill>
                <a:latin typeface="Helvetica Neue"/>
                <a:ea typeface="Helvetica Neue"/>
                <a:cs typeface="Helvetica Neue"/>
              </a:rPr>
              <a:t>Main example: g10</a:t>
            </a:r>
          </a:p>
        </p:txBody>
      </p:sp>
      <p:graphicFrame>
        <p:nvGraphicFramePr>
          <p:cNvPr id="13" name=""/>
          <p:cNvGraphicFramePr/>
          <p:nvPr/>
        </p:nvGraphicFramePr>
        <p:xfrm>
          <a:off xmlns:a="http://schemas.openxmlformats.org/drawingml/2006/main" x="609600" y="3724275"/>
          <a:ext xmlns:a="http://schemas.openxmlformats.org/drawingml/2006/main" cx="10934700" cy="2009775"/>
        </p:xfrm>
        <a:graphic xmlns:a="http://schemas.openxmlformats.org/drawingml/2006/main">
          <a:graphicData uri="http://schemas.openxmlformats.org/drawingml/2006/table">
            <a:tbl>
              <a:tblPr/>
              <a:tblGrid>
                <a:gridCol w="7048500"/>
                <a:gridCol w="3886200"/>
              </a:tblGrid>
              <a:tr h="669925">
                <a:tc>
                  <a:txBody>
                    <a:bodyPr/>
                    <a:lstStyle/>
                    <a:p>
                      <a:r>
                        <a:rPr sz="2175" b="1">
                          <a:solidFill>
                            <a:srgbClr val="245891"/>
                          </a:solidFill>
                          <a:latin typeface="Helvetica Neue"/>
                          <a:ea typeface="Helvetica Neue"/>
                          <a:cs typeface="Helvetica Neue"/>
                        </a:rPr>
                        <a:t>Observed feature</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2175" b="1">
                          <a:solidFill>
                            <a:srgbClr val="245891"/>
                          </a:solidFill>
                          <a:latin typeface="Helvetica Neue"/>
                          <a:ea typeface="Helvetica Neue"/>
                          <a:cs typeface="Helvetica Neue"/>
                        </a:rPr>
                        <a:t>Available days</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669925">
                <a:tc>
                  <a:txBody>
                    <a:bodyPr/>
                    <a:lstStyle/>
                    <a:p>
                      <a:r>
                        <a:rPr sz="2175" b="0">
                          <a:solidFill>
                            <a:srgbClr val="20252B"/>
                          </a:solidFill>
                          <a:latin typeface="Helvetica Neue"/>
                          <a:ea typeface="Helvetica Neue"/>
                          <a:cs typeface="Helvetica Neue"/>
                        </a:rPr>
                        <a:t>Sleep duration</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2175" b="0">
                          <a:solidFill>
                            <a:srgbClr val="20252B"/>
                          </a:solidFill>
                          <a:latin typeface="Helvetica Neue"/>
                          <a:ea typeface="Helvetica Neue"/>
                          <a:cs typeface="Helvetica Neue"/>
                        </a:rPr>
                        <a:t>355 / 481</a:t>
                      </a:r>
                    </a:p>
                  </a:txBody>
                  <a:tcPr marL="91440" marR="91440" marT="45720" marB="45720">
                    <a:lnR w="9525">
                      <a:solidFill>
                        <a:srgbClr val="FFFFFF"/>
                      </a:solidFill>
                    </a:lnR>
                    <a:lnB w="6668">
                      <a:solidFill>
                        <a:srgbClr val="DCE1E6"/>
                      </a:solidFill>
                    </a:lnB>
                    <a:solidFill>
                      <a:srgbClr val="F3F5F7"/>
                    </a:solidFill>
                  </a:tcPr>
                </a:tc>
              </a:tr>
              <a:tr h="669925">
                <a:tc>
                  <a:txBody>
                    <a:bodyPr/>
                    <a:lstStyle/>
                    <a:p>
                      <a:r>
                        <a:rPr sz="2175" b="0">
                          <a:solidFill>
                            <a:srgbClr val="20252B"/>
                          </a:solidFill>
                          <a:latin typeface="Helvetica Neue"/>
                          <a:ea typeface="Helvetica Neue"/>
                          <a:cs typeface="Helvetica Neue"/>
                        </a:rPr>
                        <a:t>Night unlock duration</a:t>
                      </a:r>
                    </a:p>
                  </a:txBody>
                  <a:tcPr marL="91440" marR="91440" marT="45720" marB="45720">
                    <a:lnL w="9525">
                      <a:solidFill>
                        <a:srgbClr val="FFFFFF"/>
                      </a:solidFill>
                    </a:lnL>
                    <a:lnR w="9525">
                      <a:solidFill>
                        <a:srgbClr val="FFFFFF"/>
                      </a:solidFill>
                    </a:lnR>
                    <a:lnB w="9525">
                      <a:solidFill>
                        <a:srgbClr val="FFFFFF"/>
                      </a:solidFill>
                    </a:lnB>
                    <a:solidFill>
                      <a:srgbClr val="FFFFFF"/>
                    </a:solidFill>
                  </a:tcPr>
                </a:tc>
                <a:tc>
                  <a:txBody>
                    <a:bodyPr/>
                    <a:lstStyle/>
                    <a:p>
                      <a:r>
                        <a:rPr sz="2175" b="0">
                          <a:solidFill>
                            <a:srgbClr val="20252B"/>
                          </a:solidFill>
                          <a:latin typeface="Helvetica Neue"/>
                          <a:ea typeface="Helvetica Neue"/>
                          <a:cs typeface="Helvetica Neue"/>
                        </a:rPr>
                        <a:t>341 / 481</a:t>
                      </a:r>
                    </a:p>
                  </a:txBody>
                  <a:tcPr marL="91440" marR="91440" marT="45720" marB="45720">
                    <a:lnR w="9525">
                      <a:solidFill>
                        <a:srgbClr val="FFFFFF"/>
                      </a:solidFill>
                    </a:lnR>
                    <a:lnB w="9525">
                      <a:solidFill>
                        <a:srgbClr val="FFFFFF"/>
                      </a:solidFill>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40FDF9B6-5D2D-4E4F-80CC-100C3DDCF4F8}"/>
              </a:ext>
            </a:extLst>
          </p:cNvPr>
          <p:cNvSpPr>
            <a:spLocks xmlns:a="http://schemas.openxmlformats.org/drawingml/2006/main" noGrp="1"/>
          </p:cNvSpPr>
          <p:nvPr/>
        </p:nvSpPr>
        <p:spPr>
          <a:xfrm xmlns:a="http://schemas.openxmlformats.org/drawingml/2006/main">
            <a:off x="609600" y="59721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field_provenance.csv identifies the synthetic fields.</a:t>
            </a:r>
          </a:p>
        </p:txBody>
      </p:sp>
    </p:spTree>
    <p:extLst>
      <p:ext uri="{BB962C8B-B14F-4D97-AF65-F5344CB8AC3E}">
        <p14:creationId xmlns:p14="http://schemas.microsoft.com/office/powerpoint/2010/main" val="7125755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F80F654-954B-4419-87FC-78B9BA001A00}"/>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Analysis windows for g10</a:t>
            </a:r>
          </a:p>
        </p:txBody>
      </p:sp>
      <p:sp>
        <p:nvSpPr>
          <p:cNvPr id="2" name="page-number">
            <a:extLst xmlns:a="http://schemas.openxmlformats.org/drawingml/2006/main">
              <a:ext uri="{FF2B5EF4-FFF2-40B4-BE49-F238E27FC236}">
                <a16:creationId xmlns:a16="http://schemas.microsoft.com/office/drawing/2014/main" id="{54A85930-9193-46DB-87CA-F7AB6B6A5A70}"/>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12</a:t>
            </a:r>
          </a:p>
        </p:txBody>
      </p:sp>
      <p:graphicFrame>
        <p:nvGraphicFramePr>
          <p:cNvPr id="7" name=""/>
          <p:cNvGraphicFramePr/>
          <p:nvPr/>
        </p:nvGraphicFramePr>
        <p:xfrm>
          <a:off xmlns:a="http://schemas.openxmlformats.org/drawingml/2006/main" x="609600" y="2124075"/>
          <a:ext xmlns:a="http://schemas.openxmlformats.org/drawingml/2006/main" cx="10972800" cy="2228850"/>
        </p:xfrm>
        <a:graphic xmlns:a="http://schemas.openxmlformats.org/drawingml/2006/main">
          <a:graphicData uri="http://schemas.openxmlformats.org/drawingml/2006/table">
            <a:tbl>
              <a:tblPr/>
              <a:tblGrid>
                <a:gridCol w="2857500"/>
                <a:gridCol w="2762250"/>
                <a:gridCol w="2762250"/>
                <a:gridCol w="2590800"/>
              </a:tblGrid>
              <a:tr h="742950">
                <a:tc>
                  <a:txBody>
                    <a:bodyPr/>
                    <a:lstStyle/>
                    <a:p>
                      <a:r>
                        <a:rPr sz="2100" b="1">
                          <a:solidFill>
                            <a:srgbClr val="245891"/>
                          </a:solidFill>
                          <a:latin typeface="Helvetica Neue"/>
                          <a:ea typeface="Helvetica Neue"/>
                          <a:cs typeface="Helvetica Neue"/>
                        </a:rPr>
                        <a:t>Window</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2100" b="1">
                          <a:solidFill>
                            <a:srgbClr val="245891"/>
                          </a:solidFill>
                          <a:latin typeface="Helvetica Neue"/>
                          <a:ea typeface="Helvetica Neue"/>
                          <a:cs typeface="Helvetica Neue"/>
                        </a:rPr>
                        <a:t>Start</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2100" b="1">
                          <a:solidFill>
                            <a:srgbClr val="245891"/>
                          </a:solidFill>
                          <a:latin typeface="Helvetica Neue"/>
                          <a:ea typeface="Helvetica Neue"/>
                          <a:cs typeface="Helvetica Neue"/>
                        </a:rPr>
                        <a:t>End</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2100" b="1">
                          <a:solidFill>
                            <a:srgbClr val="245891"/>
                          </a:solidFill>
                          <a:latin typeface="Helvetica Neue"/>
                          <a:ea typeface="Helvetica Neue"/>
                          <a:cs typeface="Helvetica Neue"/>
                        </a:rPr>
                        <a:t>Calendar days</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742950">
                <a:tc>
                  <a:txBody>
                    <a:bodyPr/>
                    <a:lstStyle/>
                    <a:p>
                      <a:r>
                        <a:rPr sz="2100" b="0">
                          <a:solidFill>
                            <a:srgbClr val="20252B"/>
                          </a:solidFill>
                          <a:latin typeface="Helvetica Neue"/>
                          <a:ea typeface="Helvetica Neue"/>
                          <a:cs typeface="Helvetica Neue"/>
                        </a:rPr>
                        <a:t>Recent</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2100" b="0">
                          <a:solidFill>
                            <a:srgbClr val="20252B"/>
                          </a:solidFill>
                          <a:latin typeface="Helvetica Neue"/>
                          <a:ea typeface="Helvetica Neue"/>
                          <a:cs typeface="Helvetica Neue"/>
                        </a:rPr>
                        <a:t>2018-06-02</a:t>
                      </a:r>
                    </a:p>
                  </a:txBody>
                  <a:tcPr marL="91440" marR="91440" marT="45720" marB="45720">
                    <a:lnR w="9525">
                      <a:solidFill>
                        <a:srgbClr val="FFFFFF"/>
                      </a:solidFill>
                    </a:lnR>
                    <a:lnB w="6668">
                      <a:solidFill>
                        <a:srgbClr val="DCE1E6"/>
                      </a:solidFill>
                    </a:lnB>
                    <a:solidFill>
                      <a:srgbClr val="F3F5F7"/>
                    </a:solidFill>
                  </a:tcPr>
                </a:tc>
                <a:tc>
                  <a:txBody>
                    <a:bodyPr/>
                    <a:lstStyle/>
                    <a:p>
                      <a:r>
                        <a:rPr sz="2100" b="0">
                          <a:solidFill>
                            <a:srgbClr val="20252B"/>
                          </a:solidFill>
                          <a:latin typeface="Helvetica Neue"/>
                          <a:ea typeface="Helvetica Neue"/>
                          <a:cs typeface="Helvetica Neue"/>
                        </a:rPr>
                        <a:t>2018-06-08</a:t>
                      </a:r>
                    </a:p>
                  </a:txBody>
                  <a:tcPr marL="91440" marR="91440" marT="45720" marB="45720">
                    <a:lnR w="9525">
                      <a:solidFill>
                        <a:srgbClr val="FFFFFF"/>
                      </a:solidFill>
                    </a:lnR>
                    <a:lnB w="6668">
                      <a:solidFill>
                        <a:srgbClr val="DCE1E6"/>
                      </a:solidFill>
                    </a:lnB>
                    <a:solidFill>
                      <a:srgbClr val="F3F5F7"/>
                    </a:solidFill>
                  </a:tcPr>
                </a:tc>
                <a:tc>
                  <a:txBody>
                    <a:bodyPr/>
                    <a:lstStyle/>
                    <a:p>
                      <a:r>
                        <a:rPr sz="2100" b="0">
                          <a:solidFill>
                            <a:srgbClr val="20252B"/>
                          </a:solidFill>
                          <a:latin typeface="Helvetica Neue"/>
                          <a:ea typeface="Helvetica Neue"/>
                          <a:cs typeface="Helvetica Neue"/>
                        </a:rPr>
                        <a:t>7</a:t>
                      </a:r>
                    </a:p>
                  </a:txBody>
                  <a:tcPr marL="91440" marR="91440" marT="45720" marB="45720">
                    <a:lnR w="9525">
                      <a:solidFill>
                        <a:srgbClr val="FFFFFF"/>
                      </a:solidFill>
                    </a:lnR>
                    <a:lnB w="6668">
                      <a:solidFill>
                        <a:srgbClr val="DCE1E6"/>
                      </a:solidFill>
                    </a:lnB>
                    <a:solidFill>
                      <a:srgbClr val="F3F5F7"/>
                    </a:solidFill>
                  </a:tcPr>
                </a:tc>
              </a:tr>
              <a:tr h="742950">
                <a:tc>
                  <a:txBody>
                    <a:bodyPr/>
                    <a:lstStyle/>
                    <a:p>
                      <a:r>
                        <a:rPr sz="2100" b="0">
                          <a:solidFill>
                            <a:srgbClr val="20252B"/>
                          </a:solidFill>
                          <a:latin typeface="Helvetica Neue"/>
                          <a:ea typeface="Helvetica Neue"/>
                          <a:cs typeface="Helvetica Neue"/>
                        </a:rPr>
                        <a:t>Baseline</a:t>
                      </a:r>
                    </a:p>
                  </a:txBody>
                  <a:tcPr marL="91440" marR="91440" marT="45720" marB="45720">
                    <a:lnL w="9525">
                      <a:solidFill>
                        <a:srgbClr val="FFFFFF"/>
                      </a:solidFill>
                    </a:lnL>
                    <a:lnR w="9525">
                      <a:solidFill>
                        <a:srgbClr val="FFFFFF"/>
                      </a:solidFill>
                    </a:lnR>
                    <a:lnB w="9525">
                      <a:solidFill>
                        <a:srgbClr val="FFFFFF"/>
                      </a:solidFill>
                    </a:lnB>
                    <a:solidFill>
                      <a:srgbClr val="FFFFFF"/>
                    </a:solidFill>
                  </a:tcPr>
                </a:tc>
                <a:tc>
                  <a:txBody>
                    <a:bodyPr/>
                    <a:lstStyle/>
                    <a:p>
                      <a:r>
                        <a:rPr sz="2100" b="0">
                          <a:solidFill>
                            <a:srgbClr val="20252B"/>
                          </a:solidFill>
                          <a:latin typeface="Helvetica Neue"/>
                          <a:ea typeface="Helvetica Neue"/>
                          <a:cs typeface="Helvetica Neue"/>
                        </a:rPr>
                        <a:t>2018-05-12</a:t>
                      </a:r>
                    </a:p>
                  </a:txBody>
                  <a:tcPr marL="91440" marR="91440" marT="45720" marB="45720">
                    <a:lnR w="9525">
                      <a:solidFill>
                        <a:srgbClr val="FFFFFF"/>
                      </a:solidFill>
                    </a:lnR>
                    <a:lnB w="9525">
                      <a:solidFill>
                        <a:srgbClr val="FFFFFF"/>
                      </a:solidFill>
                    </a:lnB>
                    <a:solidFill>
                      <a:srgbClr val="FFFFFF"/>
                    </a:solidFill>
                  </a:tcPr>
                </a:tc>
                <a:tc>
                  <a:txBody>
                    <a:bodyPr/>
                    <a:lstStyle/>
                    <a:p>
                      <a:r>
                        <a:rPr sz="2100" b="0">
                          <a:solidFill>
                            <a:srgbClr val="20252B"/>
                          </a:solidFill>
                          <a:latin typeface="Helvetica Neue"/>
                          <a:ea typeface="Helvetica Neue"/>
                          <a:cs typeface="Helvetica Neue"/>
                        </a:rPr>
                        <a:t>2018-06-01</a:t>
                      </a:r>
                    </a:p>
                  </a:txBody>
                  <a:tcPr marL="91440" marR="91440" marT="45720" marB="45720">
                    <a:lnR w="9525">
                      <a:solidFill>
                        <a:srgbClr val="FFFFFF"/>
                      </a:solidFill>
                    </a:lnR>
                    <a:lnB w="9525">
                      <a:solidFill>
                        <a:srgbClr val="FFFFFF"/>
                      </a:solidFill>
                    </a:lnB>
                    <a:solidFill>
                      <a:srgbClr val="FFFFFF"/>
                    </a:solidFill>
                  </a:tcPr>
                </a:tc>
                <a:tc>
                  <a:txBody>
                    <a:bodyPr/>
                    <a:lstStyle/>
                    <a:p>
                      <a:r>
                        <a:rPr sz="2100" b="0">
                          <a:solidFill>
                            <a:srgbClr val="20252B"/>
                          </a:solidFill>
                          <a:latin typeface="Helvetica Neue"/>
                          <a:ea typeface="Helvetica Neue"/>
                          <a:cs typeface="Helvetica Neue"/>
                        </a:rPr>
                        <a:t>21</a:t>
                      </a:r>
                    </a:p>
                  </a:txBody>
                  <a:tcPr marL="91440" marR="91440" marT="45720" marB="45720">
                    <a:lnR w="9525">
                      <a:solidFill>
                        <a:srgbClr val="FFFFFF"/>
                      </a:solidFill>
                    </a:lnR>
                    <a:lnB w="9525">
                      <a:solidFill>
                        <a:srgbClr val="FFFFFF"/>
                      </a:solidFill>
                    </a:lnB>
                    <a:solidFill>
                      <a:srgbClr val="FFFFFF"/>
                    </a:solidFill>
                  </a:tcPr>
                </a:tc>
              </a:tr>
            </a:tbl>
          </a:graphicData>
        </a:graphic>
      </p:graphicFrame>
      <p:sp>
        <p:nvSpPr>
          <p:cNvPr id="4" name="editable-code">
            <a:extLst xmlns:a="http://schemas.openxmlformats.org/drawingml/2006/main">
              <a:ext uri="{FF2B5EF4-FFF2-40B4-BE49-F238E27FC236}">
                <a16:creationId xmlns:a16="http://schemas.microsoft.com/office/drawing/2014/main" id="{38FB5FC5-608B-4248-AB9F-D79DE30E380D}"/>
              </a:ext>
            </a:extLst>
          </p:cNvPr>
          <p:cNvSpPr>
            <a:spLocks xmlns:a="http://schemas.openxmlformats.org/drawingml/2006/main" noGrp="1"/>
          </p:cNvSpPr>
          <p:nvPr/>
        </p:nvSpPr>
        <p:spPr>
          <a:xfrm xmlns:a="http://schemas.openxmlformats.org/drawingml/2006/main">
            <a:off x="609600" y="4762500"/>
            <a:ext cx="10953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USER = config.DEMO_USER</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R0, R1 = config.recent_window()</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B0, B1 = config.baseline_window()</a:t>
            </a:r>
          </a:p>
        </p:txBody>
      </p:sp>
    </p:spTree>
    <p:extLst>
      <p:ext uri="{BB962C8B-B14F-4D97-AF65-F5344CB8AC3E}">
        <p14:creationId xmlns:p14="http://schemas.microsoft.com/office/powerpoint/2010/main" val="163652223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73B187D7-5693-4485-B2AF-2D2A88998CE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13</a:t>
            </a:r>
          </a:p>
        </p:txBody>
      </p:sp>
      <p:sp>
        <p:nvSpPr>
          <p:cNvPr id="2" name="text-1">
            <a:extLst xmlns:a="http://schemas.openxmlformats.org/drawingml/2006/main">
              <a:ext uri="{FF2B5EF4-FFF2-40B4-BE49-F238E27FC236}">
                <a16:creationId xmlns:a16="http://schemas.microsoft.com/office/drawing/2014/main" id="{FD41E2FE-5A20-487B-8865-A9EC73F8CC26}"/>
              </a:ext>
            </a:extLst>
          </p:cNvPr>
          <p:cNvSpPr>
            <a:spLocks xmlns:a="http://schemas.openxmlformats.org/drawingml/2006/main" noGrp="1"/>
          </p:cNvSpPr>
          <p:nvPr/>
        </p:nvSpPr>
        <p:spPr>
          <a:xfrm xmlns:a="http://schemas.openxmlformats.org/drawingml/2006/main">
            <a:off x="609600" y="8763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Module 2</a:t>
            </a:r>
          </a:p>
        </p:txBody>
      </p:sp>
      <p:sp>
        <p:nvSpPr>
          <p:cNvPr id="3" name="text-2">
            <a:extLst xmlns:a="http://schemas.openxmlformats.org/drawingml/2006/main">
              <a:ext uri="{FF2B5EF4-FFF2-40B4-BE49-F238E27FC236}">
                <a16:creationId xmlns:a16="http://schemas.microsoft.com/office/drawing/2014/main" id="{087E40E6-D700-4EEE-9DE9-909D4C52F2AF}"/>
              </a:ext>
            </a:extLst>
          </p:cNvPr>
          <p:cNvSpPr>
            <a:spLocks xmlns:a="http://schemas.openxmlformats.org/drawingml/2006/main" noGrp="1"/>
          </p:cNvSpPr>
          <p:nvPr/>
        </p:nvSpPr>
        <p:spPr>
          <a:xfrm xmlns:a="http://schemas.openxmlformats.org/drawingml/2006/main">
            <a:off x="609600" y="19431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550" b="0">
                <a:solidFill>
                  <a:srgbClr val="20252B"/>
                </a:solidFill>
                <a:latin typeface="Helvetica Neue"/>
                <a:ea typeface="Helvetica Neue"/>
                <a:cs typeface="Helvetica Neue"/>
              </a:defRPr>
            </a:pPr>
            <a:r>
              <a:rPr sz="5550" b="0">
                <a:solidFill>
                  <a:srgbClr val="20252B"/>
                </a:solidFill>
                <a:latin typeface="Helvetica Neue"/>
                <a:ea typeface="Helvetica Neue"/>
                <a:cs typeface="Helvetica Neue"/>
              </a:rPr>
              <a:t>Setting up</a:t>
            </a:r>
          </a:p>
        </p:txBody>
      </p:sp>
      <p:sp>
        <p:nvSpPr>
          <p:cNvPr id="4" name="text-3">
            <a:extLst xmlns:a="http://schemas.openxmlformats.org/drawingml/2006/main">
              <a:ext uri="{FF2B5EF4-FFF2-40B4-BE49-F238E27FC236}">
                <a16:creationId xmlns:a16="http://schemas.microsoft.com/office/drawing/2014/main" id="{B57DE577-8E53-456B-842E-760DF484C778}"/>
              </a:ext>
            </a:extLst>
          </p:cNvPr>
          <p:cNvSpPr>
            <a:spLocks xmlns:a="http://schemas.openxmlformats.org/drawingml/2006/main" noGrp="1"/>
          </p:cNvSpPr>
          <p:nvPr/>
        </p:nvSpPr>
        <p:spPr>
          <a:xfrm xmlns:a="http://schemas.openxmlformats.org/drawingml/2006/main">
            <a:off x="647700" y="3800475"/>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Notebook setup and the first agent call</a:t>
            </a:r>
          </a:p>
        </p:txBody>
      </p:sp>
      <p:sp>
        <p:nvSpPr>
          <p:cNvPr id="5" name="text-4">
            <a:extLst xmlns:a="http://schemas.openxmlformats.org/drawingml/2006/main">
              <a:ext uri="{FF2B5EF4-FFF2-40B4-BE49-F238E27FC236}">
                <a16:creationId xmlns:a16="http://schemas.microsoft.com/office/drawing/2014/main" id="{A43592D2-BBC8-4CEA-9654-E18A2A555C4F}"/>
              </a:ext>
            </a:extLst>
          </p:cNvPr>
          <p:cNvSpPr>
            <a:spLocks xmlns:a="http://schemas.openxmlformats.org/drawingml/2006/main" noGrp="1"/>
          </p:cNvSpPr>
          <p:nvPr/>
        </p:nvSpPr>
        <p:spPr>
          <a:xfrm xmlns:a="http://schemas.openxmlformats.org/drawingml/2006/main">
            <a:off x="647700" y="5791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20 minutes</a:t>
            </a:r>
          </a:p>
        </p:txBody>
      </p:sp>
    </p:spTree>
    <p:extLst>
      <p:ext uri="{BB962C8B-B14F-4D97-AF65-F5344CB8AC3E}">
        <p14:creationId xmlns:p14="http://schemas.microsoft.com/office/powerpoint/2010/main" val="7819903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FE8D983-4655-483E-8B11-77AF5ECB380D}"/>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Environment and notebook kernel</a:t>
            </a:r>
          </a:p>
        </p:txBody>
      </p:sp>
      <p:sp>
        <p:nvSpPr>
          <p:cNvPr id="2" name="page-number">
            <a:extLst xmlns:a="http://schemas.openxmlformats.org/drawingml/2006/main">
              <a:ext uri="{FF2B5EF4-FFF2-40B4-BE49-F238E27FC236}">
                <a16:creationId xmlns:a16="http://schemas.microsoft.com/office/drawing/2014/main" id="{2A7DC957-66A9-4C5D-AE4F-69F18DE93691}"/>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14</a:t>
            </a:r>
          </a:p>
        </p:txBody>
      </p:sp>
      <p:sp>
        <p:nvSpPr>
          <p:cNvPr id="3" name="editable-code">
            <a:extLst xmlns:a="http://schemas.openxmlformats.org/drawingml/2006/main">
              <a:ext uri="{FF2B5EF4-FFF2-40B4-BE49-F238E27FC236}">
                <a16:creationId xmlns:a16="http://schemas.microsoft.com/office/drawing/2014/main" id="{EA72FCD0-185D-4054-AE2A-4EAA0EC73EA0}"/>
              </a:ext>
            </a:extLst>
          </p:cNvPr>
          <p:cNvSpPr>
            <a:spLocks xmlns:a="http://schemas.openxmlformats.org/drawingml/2006/main" noGrp="1"/>
          </p:cNvSpPr>
          <p:nvPr/>
        </p:nvSpPr>
        <p:spPr>
          <a:xfrm xmlns:a="http://schemas.openxmlformats.org/drawingml/2006/main">
            <a:off x="609600" y="2000250"/>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20252B"/>
                </a:solidFill>
                <a:latin typeface="Menlo"/>
                <a:ea typeface="Menlo"/>
                <a:cs typeface="Menlo"/>
              </a:defRPr>
            </a:pPr>
            <a:r>
              <a:rPr b="0">
                <a:solidFill>
                  <a:srgbClr val="20252B"/>
                </a:solidFill>
                <a:latin typeface="Menlo"/>
                <a:ea typeface="Menlo"/>
                <a:cs typeface="Menlo"/>
              </a:rPr>
              <a:t>bash install.sh</a:t>
            </a:r>
          </a:p>
          <a:p xmlns:a="http://schemas.openxmlformats.org/drawingml/2006/main">
            <a:pPr algn="l">
              <a:defRPr sz="2550" b="0">
                <a:solidFill>
                  <a:srgbClr val="20252B"/>
                </a:solidFill>
                <a:latin typeface="Menlo"/>
                <a:ea typeface="Menlo"/>
                <a:cs typeface="Menlo"/>
              </a:defRPr>
            </a:pPr>
            <a:r>
              <a:rPr b="0">
                <a:solidFill>
                  <a:srgbClr val="20252B"/>
                </a:solidFill>
                <a:latin typeface="Menlo"/>
                <a:ea typeface="Menlo"/>
                <a:cs typeface="Menlo"/>
              </a:rPr>
              <a:t>source .venv/bin/activate</a:t>
            </a:r>
          </a:p>
          <a:p xmlns:a="http://schemas.openxmlformats.org/drawingml/2006/main">
            <a:pPr algn="l">
              <a:defRPr sz="2550" b="0">
                <a:solidFill>
                  <a:srgbClr val="20252B"/>
                </a:solidFill>
                <a:latin typeface="Menlo"/>
                <a:ea typeface="Menlo"/>
                <a:cs typeface="Menlo"/>
              </a:defRPr>
            </a:pPr>
            <a:r>
              <a:rPr b="0">
                <a:solidFill>
                  <a:srgbClr val="20252B"/>
                </a:solidFill>
                <a:latin typeface="Menlo"/>
                <a:ea typeface="Menlo"/>
                <a:cs typeface="Menlo"/>
              </a:rPr>
              <a:t>ha-check</a:t>
            </a:r>
          </a:p>
          <a:p xmlns:a="http://schemas.openxmlformats.org/drawingml/2006/main">
            <a:pPr algn="l">
              <a:defRPr sz="2550" b="0">
                <a:solidFill>
                  <a:srgbClr val="20252B"/>
                </a:solidFill>
                <a:latin typeface="Menlo"/>
                <a:ea typeface="Menlo"/>
                <a:cs typeface="Menlo"/>
              </a:defRPr>
            </a:pPr>
            <a:r>
              <a:rPr b="0">
                <a:solidFill>
                  <a:srgbClr val="20252B"/>
                </a:solidFill>
                <a:latin typeface="Menlo"/>
                <a:ea typeface="Menlo"/>
                <a:cs typeface="Menlo"/>
              </a:rPr>
              <a:t>make lab</a:t>
            </a:r>
          </a:p>
        </p:txBody>
      </p:sp>
      <p:sp>
        <p:nvSpPr>
          <p:cNvPr id="4" name="text-3">
            <a:extLst xmlns:a="http://schemas.openxmlformats.org/drawingml/2006/main">
              <a:ext uri="{FF2B5EF4-FFF2-40B4-BE49-F238E27FC236}">
                <a16:creationId xmlns:a16="http://schemas.microsoft.com/office/drawing/2014/main" id="{9089778D-F2A0-4C6D-A4A0-CD3EA9666C7F}"/>
              </a:ext>
            </a:extLst>
          </p:cNvPr>
          <p:cNvSpPr>
            <a:spLocks xmlns:a="http://schemas.openxmlformats.org/drawingml/2006/main" noGrp="1"/>
          </p:cNvSpPr>
          <p:nvPr/>
        </p:nvSpPr>
        <p:spPr>
          <a:xfrm xmlns:a="http://schemas.openxmlformats.org/drawingml/2006/main">
            <a:off x="7000875" y="2162175"/>
            <a:ext cx="44291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245891"/>
                </a:solidFill>
                <a:latin typeface="Helvetica Neue"/>
                <a:ea typeface="Helvetica Neue"/>
                <a:cs typeface="Helvetica Neue"/>
              </a:defRPr>
            </a:pPr>
            <a:r>
              <a:rPr sz="2175" b="1">
                <a:solidFill>
                  <a:srgbClr val="245891"/>
                </a:solidFill>
                <a:latin typeface="Helvetica Neue"/>
                <a:ea typeface="Helvetica Neue"/>
                <a:cs typeface="Helvetica Neue"/>
              </a:rPr>
              <a:t>Notebook: 00_preflight.ipynb</a:t>
            </a:r>
          </a:p>
          <a:p xmlns:a="http://schemas.openxmlformats.org/drawingml/2006/main">
            <a:pPr algn="l">
              <a:defRPr sz="2175" b="1">
                <a:solidFill>
                  <a:srgbClr val="245891"/>
                </a:solidFill>
                <a:latin typeface="Helvetica Neue"/>
                <a:ea typeface="Helvetica Neue"/>
                <a:cs typeface="Helvetica Neue"/>
              </a:defRPr>
            </a:pPr>
            <a:r>
              <a:rPr sz="2175" b="1">
                <a:solidFill>
                  <a:srgbClr val="245891"/>
                </a:solidFill>
                <a:latin typeface="Helvetica Neue"/>
                <a:ea typeface="Helvetica Neue"/>
                <a:cs typeface="Helvetica Neue"/>
              </a:rPr>
              <a:t>Kernel: health-agent</a:t>
            </a:r>
          </a:p>
        </p:txBody>
      </p:sp>
      <p:sp>
        <p:nvSpPr>
          <p:cNvPr id="5" name="text-4">
            <a:extLst xmlns:a="http://schemas.openxmlformats.org/drawingml/2006/main">
              <a:ext uri="{FF2B5EF4-FFF2-40B4-BE49-F238E27FC236}">
                <a16:creationId xmlns:a16="http://schemas.microsoft.com/office/drawing/2014/main" id="{6026A51D-B219-408E-9C5C-859BE2CD5323}"/>
              </a:ext>
            </a:extLst>
          </p:cNvPr>
          <p:cNvSpPr>
            <a:spLocks xmlns:a="http://schemas.openxmlformats.org/drawingml/2006/main" noGrp="1"/>
          </p:cNvSpPr>
          <p:nvPr/>
        </p:nvSpPr>
        <p:spPr>
          <a:xfrm xmlns:a="http://schemas.openxmlformats.org/drawingml/2006/main">
            <a:off x="609600" y="521017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0">
                <a:solidFill>
                  <a:srgbClr val="646B73"/>
                </a:solidFill>
                <a:latin typeface="Helvetica Neue"/>
                <a:ea typeface="Helvetica Neue"/>
                <a:cs typeface="Helvetica Neue"/>
              </a:defRPr>
            </a:pPr>
            <a:r>
              <a:rPr sz="2475" b="0">
                <a:solidFill>
                  <a:srgbClr val="646B73"/>
                </a:solidFill>
                <a:latin typeface="Helvetica Neue"/>
                <a:ea typeface="Helvetica Neue"/>
                <a:cs typeface="Helvetica Neue"/>
              </a:rPr>
              <a:t>Check that Jupyter and the terminal use the same Python environment.</a:t>
            </a:r>
          </a:p>
        </p:txBody>
      </p:sp>
    </p:spTree>
    <p:extLst>
      <p:ext uri="{BB962C8B-B14F-4D97-AF65-F5344CB8AC3E}">
        <p14:creationId xmlns:p14="http://schemas.microsoft.com/office/powerpoint/2010/main" val="15447752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FE78CBB-83B2-4EA8-88B5-60FD980C28F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The first agent call</a:t>
            </a:r>
          </a:p>
        </p:txBody>
      </p:sp>
      <p:sp>
        <p:nvSpPr>
          <p:cNvPr id="2" name="page-number">
            <a:extLst xmlns:a="http://schemas.openxmlformats.org/drawingml/2006/main">
              <a:ext uri="{FF2B5EF4-FFF2-40B4-BE49-F238E27FC236}">
                <a16:creationId xmlns:a16="http://schemas.microsoft.com/office/drawing/2014/main" id="{D49F4E6A-B474-4FF6-81A8-EEA55BADD36C}"/>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15</a:t>
            </a:r>
          </a:p>
        </p:txBody>
      </p:sp>
      <p:sp>
        <p:nvSpPr>
          <p:cNvPr id="3" name="editable-code">
            <a:extLst xmlns:a="http://schemas.openxmlformats.org/drawingml/2006/main">
              <a:ext uri="{FF2B5EF4-FFF2-40B4-BE49-F238E27FC236}">
                <a16:creationId xmlns:a16="http://schemas.microsoft.com/office/drawing/2014/main" id="{3A62F0F7-AF61-4F91-A4E8-800DC93EE039}"/>
              </a:ext>
            </a:extLst>
          </p:cNvPr>
          <p:cNvSpPr>
            <a:spLocks xmlns:a="http://schemas.openxmlformats.org/drawingml/2006/main" noGrp="1"/>
          </p:cNvSpPr>
          <p:nvPr/>
        </p:nvSpPr>
        <p:spPr>
          <a:xfrm xmlns:a="http://schemas.openxmlformats.org/drawingml/2006/main">
            <a:off x="609600" y="1933575"/>
            <a:ext cx="109537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Menlo"/>
                <a:ea typeface="Menlo"/>
                <a:cs typeface="Menlo"/>
              </a:defRPr>
            </a:pPr>
            <a:r>
              <a:rPr b="1">
                <a:solidFill>
                  <a:srgbClr val="245891"/>
                </a:solidFill>
                <a:latin typeface="Menlo"/>
                <a:ea typeface="Menlo"/>
                <a:cs typeface="Menlo"/>
              </a:rPr>
              <a:t>import</a:t>
            </a:r>
            <a:r>
              <a:rPr b="0">
                <a:solidFill>
                  <a:srgbClr val="20252B"/>
                </a:solidFill>
                <a:latin typeface="Menlo"/>
                <a:ea typeface="Menlo"/>
                <a:cs typeface="Menlo"/>
              </a:rPr>
              <a:t> os</a:t>
            </a:r>
          </a:p>
          <a:p xmlns:a="http://schemas.openxmlformats.org/drawingml/2006/main">
            <a:pPr algn="l">
              <a:defRPr sz="1950"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healthagent.llm.client </a:t>
            </a:r>
            <a:r>
              <a:rPr b="1">
                <a:solidFill>
                  <a:srgbClr val="245891"/>
                </a:solidFill>
                <a:latin typeface="Menlo"/>
                <a:ea typeface="Menlo"/>
                <a:cs typeface="Menlo"/>
              </a:rPr>
              <a:t>import</a:t>
            </a:r>
            <a:r>
              <a:rPr b="0">
                <a:solidFill>
                  <a:srgbClr val="20252B"/>
                </a:solidFill>
                <a:latin typeface="Menlo"/>
                <a:ea typeface="Menlo"/>
                <a:cs typeface="Menlo"/>
              </a:rPr>
              <a:t> get_client</a:t>
            </a:r>
          </a:p>
          <a:p xmlns:a="http://schemas.openxmlformats.org/drawingml/2006/main">
            <a:pPr algn="l">
              <a:defRPr sz="1950"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healthagent.agent.baseline </a:t>
            </a:r>
            <a:r>
              <a:rPr b="1">
                <a:solidFill>
                  <a:srgbClr val="245891"/>
                </a:solidFill>
                <a:latin typeface="Menlo"/>
                <a:ea typeface="Menlo"/>
                <a:cs typeface="Menlo"/>
              </a:rPr>
              <a:t>import</a:t>
            </a:r>
            <a:r>
              <a:rPr b="0">
                <a:solidFill>
                  <a:srgbClr val="20252B"/>
                </a:solidFill>
                <a:latin typeface="Menlo"/>
                <a:ea typeface="Menlo"/>
                <a:cs typeface="Menlo"/>
              </a:rPr>
              <a:t> run_baseline_agent</a:t>
            </a:r>
          </a:p>
          <a:p xmlns:a="http://schemas.openxmlformats.org/drawingml/2006/main">
            <a:pPr algn="l">
              <a:defRPr sz="1950" b="0">
                <a:solidFill>
                  <a:srgbClr val="20252B"/>
                </a:solidFill>
                <a:latin typeface="Menlo"/>
                <a:ea typeface="Menlo"/>
                <a:cs typeface="Menlo"/>
              </a:defRPr>
            </a:pP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client = get_client(os.getenv(</a:t>
            </a:r>
            <a:r>
              <a:rPr b="0">
                <a:solidFill>
                  <a:srgbClr val="795733"/>
                </a:solidFill>
                <a:latin typeface="Menlo"/>
                <a:ea typeface="Menlo"/>
                <a:cs typeface="Menlo"/>
              </a:rPr>
              <a:t>'HA_BACKEND'</a:t>
            </a:r>
            <a:r>
              <a:rPr b="0">
                <a:solidFill>
                  <a:srgbClr val="20252B"/>
                </a:solidFill>
                <a:latin typeface="Menlo"/>
                <a:ea typeface="Menlo"/>
                <a:cs typeface="Menlo"/>
              </a:rPr>
              <a:t>, </a:t>
            </a:r>
            <a:r>
              <a:rPr b="0">
                <a:solidFill>
                  <a:srgbClr val="795733"/>
                </a:solidFill>
                <a:latin typeface="Menlo"/>
                <a:ea typeface="Menlo"/>
                <a:cs typeface="Menlo"/>
              </a:rPr>
              <a:t>'ollama'</a:t>
            </a:r>
            <a:r>
              <a:rPr b="0">
                <a:solidFill>
                  <a:srgbClr val="20252B"/>
                </a:solidFill>
                <a:latin typeface="Menlo"/>
                <a:ea typeface="Menlo"/>
                <a:cs typeface="Menlo"/>
              </a:rPr>
              <a: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ans = run_baseline_agent(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    </a:t>
            </a:r>
            <a:r>
              <a:rPr b="0">
                <a:solidFill>
                  <a:srgbClr val="795733"/>
                </a:solidFill>
                <a:latin typeface="Menlo"/>
                <a:ea typeface="Menlo"/>
                <a:cs typeface="Menlo"/>
              </a:rPr>
              <a:t>'How does my activity compare to my goal?'</a:t>
            </a:r>
            <a:r>
              <a:rPr b="0">
                <a:solidFill>
                  <a:srgbClr val="20252B"/>
                </a:solidFill>
                <a:latin typeface="Menlo"/>
                <a:ea typeface="Menlo"/>
                <a:cs typeface="Menlo"/>
              </a:rPr>
              <a: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    client=client,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print(ans.text, ans.grounded)</a:t>
            </a:r>
          </a:p>
        </p:txBody>
      </p:sp>
      <p:sp>
        <p:nvSpPr>
          <p:cNvPr id="4" name="text-3">
            <a:extLst xmlns:a="http://schemas.openxmlformats.org/drawingml/2006/main">
              <a:ext uri="{FF2B5EF4-FFF2-40B4-BE49-F238E27FC236}">
                <a16:creationId xmlns:a16="http://schemas.microsoft.com/office/drawing/2014/main" id="{C2825D5C-F353-4344-B91A-2E20C9D2DB5B}"/>
              </a:ext>
            </a:extLst>
          </p:cNvPr>
          <p:cNvSpPr>
            <a:spLocks xmlns:a="http://schemas.openxmlformats.org/drawingml/2006/main" noGrp="1"/>
          </p:cNvSpPr>
          <p:nvPr/>
        </p:nvSpPr>
        <p:spPr>
          <a:xfrm xmlns:a="http://schemas.openxmlformats.org/drawingml/2006/main">
            <a:off x="609600" y="5838825"/>
            <a:ext cx="1057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steps_goal is a simulated teaching value.</a:t>
            </a:r>
          </a:p>
        </p:txBody>
      </p:sp>
    </p:spTree>
    <p:extLst>
      <p:ext uri="{BB962C8B-B14F-4D97-AF65-F5344CB8AC3E}">
        <p14:creationId xmlns:p14="http://schemas.microsoft.com/office/powerpoint/2010/main" val="13333738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DE80C57-EDF2-4BFD-BFBB-74FB8A41574D}"/>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Model backends</a:t>
            </a:r>
          </a:p>
        </p:txBody>
      </p:sp>
      <p:sp>
        <p:nvSpPr>
          <p:cNvPr id="2" name="page-number">
            <a:extLst xmlns:a="http://schemas.openxmlformats.org/drawingml/2006/main">
              <a:ext uri="{FF2B5EF4-FFF2-40B4-BE49-F238E27FC236}">
                <a16:creationId xmlns:a16="http://schemas.microsoft.com/office/drawing/2014/main" id="{AC0E1FB8-DD1C-49B5-B2C7-B948FA64C7E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16</a:t>
            </a:r>
          </a:p>
        </p:txBody>
      </p:sp>
      <p:graphicFrame>
        <p:nvGraphicFramePr>
          <p:cNvPr id="7" name=""/>
          <p:cNvGraphicFramePr/>
          <p:nvPr/>
        </p:nvGraphicFramePr>
        <p:xfrm>
          <a:off xmlns:a="http://schemas.openxmlformats.org/drawingml/2006/main" x="609600" y="2095500"/>
          <a:ext xmlns:a="http://schemas.openxmlformats.org/drawingml/2006/main" cx="10972800" cy="3152775"/>
        </p:xfrm>
        <a:graphic xmlns:a="http://schemas.openxmlformats.org/drawingml/2006/main">
          <a:graphicData uri="http://schemas.openxmlformats.org/drawingml/2006/table">
            <a:tbl>
              <a:tblPr/>
              <a:tblGrid>
                <a:gridCol w="2619375"/>
                <a:gridCol w="4143375"/>
                <a:gridCol w="4210050"/>
              </a:tblGrid>
              <a:tr h="788194">
                <a:tc>
                  <a:txBody>
                    <a:bodyPr/>
                    <a:lstStyle/>
                    <a:p>
                      <a:r>
                        <a:rPr sz="1950" b="1">
                          <a:solidFill>
                            <a:srgbClr val="245891"/>
                          </a:solidFill>
                          <a:latin typeface="Helvetica Neue"/>
                          <a:ea typeface="Helvetica Neue"/>
                          <a:cs typeface="Helvetica Neue"/>
                        </a:rPr>
                        <a:t>Path</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950" b="1">
                          <a:solidFill>
                            <a:srgbClr val="245891"/>
                          </a:solidFill>
                          <a:latin typeface="Helvetica Neue"/>
                          <a:ea typeface="Helvetica Neue"/>
                          <a:cs typeface="Helvetica Neue"/>
                        </a:rPr>
                        <a:t>What it needs</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c>
                  <a:txBody>
                    <a:bodyPr/>
                    <a:lstStyle/>
                    <a:p>
                      <a:r>
                        <a:rPr sz="1950" b="1">
                          <a:solidFill>
                            <a:srgbClr val="245891"/>
                          </a:solidFill>
                          <a:latin typeface="Helvetica Neue"/>
                          <a:ea typeface="Helvetica Neue"/>
                          <a:cs typeface="Helvetica Neue"/>
                        </a:rPr>
                        <a:t>Purpose</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788194">
                <a:tc>
                  <a:txBody>
                    <a:bodyPr/>
                    <a:lstStyle/>
                    <a:p>
                      <a:r>
                        <a:rPr sz="1950" b="0">
                          <a:solidFill>
                            <a:srgbClr val="20252B"/>
                          </a:solidFill>
                          <a:latin typeface="Helvetica Neue"/>
                          <a:ea typeface="Helvetica Neue"/>
                          <a:cs typeface="Helvetica Neue"/>
                        </a:rPr>
                        <a:t>Ollama</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950" b="0">
                          <a:solidFill>
                            <a:srgbClr val="20252B"/>
                          </a:solidFill>
                          <a:latin typeface="Helvetica Neue"/>
                          <a:ea typeface="Helvetica Neue"/>
                          <a:cs typeface="Helvetica Neue"/>
                        </a:rPr>
                        <a:t>SDK and a compatible local model</a:t>
                      </a:r>
                    </a:p>
                  </a:txBody>
                  <a:tcPr marL="91440" marR="91440" marT="45720" marB="45720">
                    <a:lnR w="9525">
                      <a:solidFill>
                        <a:srgbClr val="FFFFFF"/>
                      </a:solidFill>
                    </a:lnR>
                    <a:lnB w="6668">
                      <a:solidFill>
                        <a:srgbClr val="DCE1E6"/>
                      </a:solidFill>
                    </a:lnB>
                    <a:solidFill>
                      <a:srgbClr val="F3F5F7"/>
                    </a:solidFill>
                  </a:tcPr>
                </a:tc>
                <a:tc>
                  <a:txBody>
                    <a:bodyPr/>
                    <a:lstStyle/>
                    <a:p>
                      <a:r>
                        <a:rPr sz="1950" b="0">
                          <a:solidFill>
                            <a:srgbClr val="20252B"/>
                          </a:solidFill>
                          <a:latin typeface="Helvetica Neue"/>
                          <a:ea typeface="Helvetica Neue"/>
                          <a:cs typeface="Helvetica Neue"/>
                        </a:rPr>
                        <a:t>Local model</a:t>
                      </a:r>
                    </a:p>
                  </a:txBody>
                  <a:tcPr marL="91440" marR="91440" marT="45720" marB="45720">
                    <a:lnR w="9525">
                      <a:solidFill>
                        <a:srgbClr val="FFFFFF"/>
                      </a:solidFill>
                    </a:lnR>
                    <a:lnB w="6668">
                      <a:solidFill>
                        <a:srgbClr val="DCE1E6"/>
                      </a:solidFill>
                    </a:lnB>
                    <a:solidFill>
                      <a:srgbClr val="F3F5F7"/>
                    </a:solidFill>
                  </a:tcPr>
                </a:tc>
              </a:tr>
              <a:tr h="788194">
                <a:tc>
                  <a:txBody>
                    <a:bodyPr/>
                    <a:lstStyle/>
                    <a:p>
                      <a:r>
                        <a:rPr sz="1950" b="0">
                          <a:solidFill>
                            <a:srgbClr val="20252B"/>
                          </a:solidFill>
                          <a:latin typeface="Helvetica Neue"/>
                          <a:ea typeface="Helvetica Neue"/>
                          <a:cs typeface="Helvetica Neue"/>
                        </a:rPr>
                        <a:t>Gemini / OpenAI</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950" b="0">
                          <a:solidFill>
                            <a:srgbClr val="20252B"/>
                          </a:solidFill>
                          <a:latin typeface="Helvetica Neue"/>
                          <a:ea typeface="Helvetica Neue"/>
                          <a:cs typeface="Helvetica Neue"/>
                        </a:rPr>
                        <a:t>Provider SDK and API key</a:t>
                      </a:r>
                    </a:p>
                  </a:txBody>
                  <a:tcPr marL="91440" marR="91440" marT="45720" marB="45720">
                    <a:lnR w="9525">
                      <a:solidFill>
                        <a:srgbClr val="FFFFFF"/>
                      </a:solidFill>
                    </a:lnR>
                    <a:lnB w="6668">
                      <a:solidFill>
                        <a:srgbClr val="DCE1E6"/>
                      </a:solidFill>
                    </a:lnB>
                    <a:solidFill>
                      <a:srgbClr val="FFFFFF"/>
                    </a:solidFill>
                  </a:tcPr>
                </a:tc>
                <a:tc>
                  <a:txBody>
                    <a:bodyPr/>
                    <a:lstStyle/>
                    <a:p>
                      <a:r>
                        <a:rPr sz="1950" b="0">
                          <a:solidFill>
                            <a:srgbClr val="20252B"/>
                          </a:solidFill>
                          <a:latin typeface="Helvetica Neue"/>
                          <a:ea typeface="Helvetica Neue"/>
                          <a:cs typeface="Helvetica Neue"/>
                        </a:rPr>
                        <a:t>Hosted models</a:t>
                      </a:r>
                    </a:p>
                  </a:txBody>
                  <a:tcPr marL="91440" marR="91440" marT="45720" marB="45720">
                    <a:lnR w="9525">
                      <a:solidFill>
                        <a:srgbClr val="FFFFFF"/>
                      </a:solidFill>
                    </a:lnR>
                    <a:lnB w="6668">
                      <a:solidFill>
                        <a:srgbClr val="DCE1E6"/>
                      </a:solidFill>
                    </a:lnB>
                    <a:solidFill>
                      <a:srgbClr val="FFFFFF"/>
                    </a:solidFill>
                  </a:tcPr>
                </a:tc>
              </a:tr>
              <a:tr h="788194">
                <a:tc>
                  <a:txBody>
                    <a:bodyPr/>
                    <a:lstStyle/>
                    <a:p>
                      <a:r>
                        <a:rPr sz="1950" b="0">
                          <a:solidFill>
                            <a:srgbClr val="20252B"/>
                          </a:solidFill>
                          <a:latin typeface="Helvetica Neue"/>
                          <a:ea typeface="Helvetica Neue"/>
                          <a:cs typeface="Helvetica Neue"/>
                        </a:rPr>
                        <a:t>Scripted</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1950" b="0">
                          <a:solidFill>
                            <a:srgbClr val="20252B"/>
                          </a:solidFill>
                          <a:latin typeface="Helvetica Neue"/>
                          <a:ea typeface="Helvetica Neue"/>
                          <a:cs typeface="Helvetica Neue"/>
                        </a:rPr>
                        <a:t>Installed core environment</a:t>
                      </a:r>
                    </a:p>
                  </a:txBody>
                  <a:tcPr marL="91440" marR="91440" marT="45720" marB="45720">
                    <a:lnR w="9525">
                      <a:solidFill>
                        <a:srgbClr val="FFFFFF"/>
                      </a:solidFill>
                    </a:lnR>
                    <a:lnB w="9525">
                      <a:solidFill>
                        <a:srgbClr val="FFFFFF"/>
                      </a:solidFill>
                    </a:lnB>
                    <a:solidFill>
                      <a:srgbClr val="F3F5F7"/>
                    </a:solidFill>
                  </a:tcPr>
                </a:tc>
                <a:tc>
                  <a:txBody>
                    <a:bodyPr/>
                    <a:lstStyle/>
                    <a:p>
                      <a:r>
                        <a:rPr sz="1950" b="0">
                          <a:solidFill>
                            <a:srgbClr val="20252B"/>
                          </a:solidFill>
                          <a:latin typeface="Helvetica Neue"/>
                          <a:ea typeface="Helvetica Neue"/>
                          <a:cs typeface="Helvetica Neue"/>
                        </a:rPr>
                        <a:t>Fixed-plan fallback</a:t>
                      </a:r>
                    </a:p>
                  </a:txBody>
                  <a:tcPr marL="91440" marR="91440" marT="45720" marB="45720">
                    <a:lnR w="9525">
                      <a:solidFill>
                        <a:srgbClr val="FFFFFF"/>
                      </a:solidFill>
                    </a:lnR>
                    <a:lnB w="9525">
                      <a:solidFill>
                        <a:srgbClr val="FFFFFF"/>
                      </a:solidFill>
                    </a:lnB>
                    <a:solidFill>
                      <a:srgbClr val="F3F5F7"/>
                    </a:solidFill>
                  </a:tcPr>
                </a:tc>
              </a:tr>
            </a:tbl>
          </a:graphicData>
        </a:graphic>
      </p:graphicFrame>
      <p:sp>
        <p:nvSpPr>
          <p:cNvPr id="4" name="text-2">
            <a:extLst xmlns:a="http://schemas.openxmlformats.org/drawingml/2006/main">
              <a:ext uri="{FF2B5EF4-FFF2-40B4-BE49-F238E27FC236}">
                <a16:creationId xmlns:a16="http://schemas.microsoft.com/office/drawing/2014/main" id="{2776AC38-FD2E-404E-816A-3A76ED849E03}"/>
              </a:ext>
            </a:extLst>
          </p:cNvPr>
          <p:cNvSpPr>
            <a:spLocks xmlns:a="http://schemas.openxmlformats.org/drawingml/2006/main" noGrp="1"/>
          </p:cNvSpPr>
          <p:nvPr/>
        </p:nvSpPr>
        <p:spPr>
          <a:xfrm xmlns:a="http://schemas.openxmlformats.org/drawingml/2006/main">
            <a:off x="609600" y="56673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client.provider reports the active backend.</a:t>
            </a:r>
          </a:p>
        </p:txBody>
      </p:sp>
    </p:spTree>
    <p:extLst>
      <p:ext uri="{BB962C8B-B14F-4D97-AF65-F5344CB8AC3E}">
        <p14:creationId xmlns:p14="http://schemas.microsoft.com/office/powerpoint/2010/main" val="14111308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B835896-B49B-4313-A593-3AD919AD5C87}"/>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GLOBEM metric definitions</a:t>
            </a:r>
          </a:p>
        </p:txBody>
      </p:sp>
      <p:sp>
        <p:nvSpPr>
          <p:cNvPr id="2" name="page-number">
            <a:extLst xmlns:a="http://schemas.openxmlformats.org/drawingml/2006/main">
              <a:ext uri="{FF2B5EF4-FFF2-40B4-BE49-F238E27FC236}">
                <a16:creationId xmlns:a16="http://schemas.microsoft.com/office/drawing/2014/main" id="{98A05DCC-F219-44E4-AE91-0FAD8FA9E246}"/>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17</a:t>
            </a:r>
          </a:p>
        </p:txBody>
      </p:sp>
      <p:sp>
        <p:nvSpPr>
          <p:cNvPr id="3" name="editable-code">
            <a:extLst xmlns:a="http://schemas.openxmlformats.org/drawingml/2006/main">
              <a:ext uri="{FF2B5EF4-FFF2-40B4-BE49-F238E27FC236}">
                <a16:creationId xmlns:a16="http://schemas.microsoft.com/office/drawing/2014/main" id="{27E82674-DF3E-4BB3-A0CA-AFBC5B2CEA95}"/>
              </a:ext>
            </a:extLst>
          </p:cNvPr>
          <p:cNvSpPr>
            <a:spLocks xmlns:a="http://schemas.openxmlformats.org/drawingml/2006/main" noGrp="1"/>
          </p:cNvSpPr>
          <p:nvPr/>
        </p:nvSpPr>
        <p:spPr>
          <a:xfrm xmlns:a="http://schemas.openxmlformats.org/drawingml/2006/main">
            <a:off x="609600" y="1952625"/>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 </a:t>
            </a:r>
            <a:r>
              <a:rPr b="1">
                <a:solidFill>
                  <a:srgbClr val="245891"/>
                </a:solidFill>
                <a:latin typeface="Menlo"/>
                <a:ea typeface="Menlo"/>
                <a:cs typeface="Menlo"/>
              </a:rPr>
              <a:t>import</a:t>
            </a:r>
            <a:r>
              <a:rPr b="0">
                <a:solidFill>
                  <a:srgbClr val="20252B"/>
                </a:solidFill>
                <a:latin typeface="Menlo"/>
                <a:ea typeface="Menlo"/>
                <a:cs typeface="Menlo"/>
              </a:rPr>
              <a:t> config</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print(config.DATA_KIND, config.DEMO_USER)</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print(config.DEMO_TODAY)</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print(config.PROCESSED)</a:t>
            </a:r>
          </a:p>
        </p:txBody>
      </p:sp>
      <p:sp>
        <p:nvSpPr>
          <p:cNvPr id="4" name="text-3">
            <a:extLst xmlns:a="http://schemas.openxmlformats.org/drawingml/2006/main">
              <a:ext uri="{FF2B5EF4-FFF2-40B4-BE49-F238E27FC236}">
                <a16:creationId xmlns:a16="http://schemas.microsoft.com/office/drawing/2014/main" id="{2EAA12D7-CBBD-4DC1-87E4-65263C0B1183}"/>
              </a:ext>
            </a:extLst>
          </p:cNvPr>
          <p:cNvSpPr>
            <a:spLocks xmlns:a="http://schemas.openxmlformats.org/drawingml/2006/main" noGrp="1"/>
          </p:cNvSpPr>
          <p:nvPr/>
        </p:nvSpPr>
        <p:spPr>
          <a:xfrm xmlns:a="http://schemas.openxmlformats.org/drawingml/2006/main">
            <a:off x="609600" y="433387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20252B"/>
                </a:solidFill>
                <a:latin typeface="Helvetica Neue"/>
                <a:ea typeface="Helvetica Neue"/>
                <a:cs typeface="Helvetica Neue"/>
              </a:defRPr>
            </a:pPr>
            <a:r>
              <a:rPr sz="2250" b="1">
                <a:solidFill>
                  <a:srgbClr val="20252B"/>
                </a:solidFill>
                <a:latin typeface="Helvetica Neue"/>
                <a:ea typeface="Helvetica Neue"/>
                <a:cs typeface="Helvetica Neue"/>
              </a:rPr>
              <a:t>Expected: hybrid, g10, 2018-06-08</a:t>
            </a:r>
          </a:p>
        </p:txBody>
      </p:sp>
      <p:sp>
        <p:nvSpPr>
          <p:cNvPr id="5" name="text-4">
            <a:extLst xmlns:a="http://schemas.openxmlformats.org/drawingml/2006/main">
              <a:ext uri="{FF2B5EF4-FFF2-40B4-BE49-F238E27FC236}">
                <a16:creationId xmlns:a16="http://schemas.microsoft.com/office/drawing/2014/main" id="{C517715E-5B12-4670-AE29-24A83042DB10}"/>
              </a:ext>
            </a:extLst>
          </p:cNvPr>
          <p:cNvSpPr>
            <a:spLocks xmlns:a="http://schemas.openxmlformats.org/drawingml/2006/main" noGrp="1"/>
          </p:cNvSpPr>
          <p:nvPr/>
        </p:nvSpPr>
        <p:spPr>
          <a:xfrm xmlns:a="http://schemas.openxmlformats.org/drawingml/2006/main">
            <a:off x="609600" y="512445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245891"/>
                </a:solidFill>
                <a:latin typeface="Helvetica Neue"/>
                <a:ea typeface="Helvetica Neue"/>
                <a:cs typeface="Helvetica Neue"/>
              </a:defRPr>
            </a:pPr>
            <a:r>
              <a:rPr sz="2025" b="1">
                <a:solidFill>
                  <a:srgbClr val="245891"/>
                </a:solidFill>
                <a:latin typeface="Helvetica Neue"/>
                <a:ea typeface="Helvetica Neue"/>
                <a:cs typeface="Helvetica Neue"/>
              </a:rPr>
              <a:t>Observed night screen means unlock duration, 00:00–06:00.</a:t>
            </a:r>
          </a:p>
        </p:txBody>
      </p:sp>
      <p:sp>
        <p:nvSpPr>
          <p:cNvPr id="6" name="text-5">
            <a:extLst xmlns:a="http://schemas.openxmlformats.org/drawingml/2006/main">
              <a:ext uri="{FF2B5EF4-FFF2-40B4-BE49-F238E27FC236}">
                <a16:creationId xmlns:a16="http://schemas.microsoft.com/office/drawing/2014/main" id="{A9AD02D7-AAAC-41D7-9DFA-5F820F690897}"/>
              </a:ext>
            </a:extLst>
          </p:cNvPr>
          <p:cNvSpPr>
            <a:spLocks xmlns:a="http://schemas.openxmlformats.org/drawingml/2006/main" noGrp="1"/>
          </p:cNvSpPr>
          <p:nvPr/>
        </p:nvSpPr>
        <p:spPr>
          <a:xfrm xmlns:a="http://schemas.openxmlformats.org/drawingml/2006/main">
            <a:off x="609600" y="60198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46B73"/>
                </a:solidFill>
                <a:latin typeface="Helvetica Neue"/>
                <a:ea typeface="Helvetica Neue"/>
                <a:cs typeface="Helvetica Neue"/>
              </a:defRPr>
            </a:pPr>
            <a:r>
              <a:rPr sz="1725" b="0">
                <a:solidFill>
                  <a:srgbClr val="646B73"/>
                </a:solidFill>
                <a:latin typeface="Helvetica Neue"/>
                <a:ea typeface="Helvetica Neue"/>
                <a:cs typeface="Helvetica Neue"/>
              </a:rPr>
              <a:t>Measurements with the same source date may refer to different nights.</a:t>
            </a:r>
          </a:p>
        </p:txBody>
      </p:sp>
    </p:spTree>
    <p:extLst>
      <p:ext uri="{BB962C8B-B14F-4D97-AF65-F5344CB8AC3E}">
        <p14:creationId xmlns:p14="http://schemas.microsoft.com/office/powerpoint/2010/main" val="10470697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C2DD872-EF22-479B-9596-CBDE3C99BD32}"/>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Setup check</a:t>
            </a:r>
          </a:p>
        </p:txBody>
      </p:sp>
      <p:sp>
        <p:nvSpPr>
          <p:cNvPr id="2" name="page-number">
            <a:extLst xmlns:a="http://schemas.openxmlformats.org/drawingml/2006/main">
              <a:ext uri="{FF2B5EF4-FFF2-40B4-BE49-F238E27FC236}">
                <a16:creationId xmlns:a16="http://schemas.microsoft.com/office/drawing/2014/main" id="{0B13D0E4-75A5-4760-96E1-1396CF5CF061}"/>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8685C28C-0EA8-4BBA-B4DF-BA410B8D894F}"/>
              </a:ext>
            </a:extLst>
          </p:cNvPr>
          <p:cNvSpPr>
            <a:spLocks xmlns:a="http://schemas.openxmlformats.org/drawingml/2006/main" noGrp="1"/>
          </p:cNvSpPr>
          <p:nvPr/>
        </p:nvSpPr>
        <p:spPr>
          <a:xfrm xmlns:a="http://schemas.openxmlformats.org/drawingml/2006/main">
            <a:off x="609600" y="25908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The notebook imports healthagent</a:t>
            </a:r>
          </a:p>
        </p:txBody>
      </p:sp>
      <p:sp>
        <p:nvSpPr>
          <p:cNvPr id="4" name="text-3">
            <a:extLst xmlns:a="http://schemas.openxmlformats.org/drawingml/2006/main">
              <a:ext uri="{FF2B5EF4-FFF2-40B4-BE49-F238E27FC236}">
                <a16:creationId xmlns:a16="http://schemas.microsoft.com/office/drawing/2014/main" id="{E072C546-EF10-48E4-BE1E-EC196487739D}"/>
              </a:ext>
            </a:extLst>
          </p:cNvPr>
          <p:cNvSpPr>
            <a:spLocks xmlns:a="http://schemas.openxmlformats.org/drawingml/2006/main" noGrp="1"/>
          </p:cNvSpPr>
          <p:nvPr/>
        </p:nvSpPr>
        <p:spPr>
          <a:xfrm xmlns:a="http://schemas.openxmlformats.org/drawingml/2006/main">
            <a:off x="609600" y="36004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The tables load and client.provider identifies the backend</a:t>
            </a:r>
          </a:p>
        </p:txBody>
      </p:sp>
      <p:sp>
        <p:nvSpPr>
          <p:cNvPr id="5" name="text-4">
            <a:extLst xmlns:a="http://schemas.openxmlformats.org/drawingml/2006/main">
              <a:ext uri="{FF2B5EF4-FFF2-40B4-BE49-F238E27FC236}">
                <a16:creationId xmlns:a16="http://schemas.microsoft.com/office/drawing/2014/main" id="{16F97296-A725-400C-BC57-3B6C05A9F017}"/>
              </a:ext>
            </a:extLst>
          </p:cNvPr>
          <p:cNvSpPr>
            <a:spLocks xmlns:a="http://schemas.openxmlformats.org/drawingml/2006/main" noGrp="1"/>
          </p:cNvSpPr>
          <p:nvPr/>
        </p:nvSpPr>
        <p:spPr>
          <a:xfrm xmlns:a="http://schemas.openxmlformats.org/drawingml/2006/main">
            <a:off x="609600" y="46101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The activity answer includes a tool result</a:t>
            </a:r>
          </a:p>
        </p:txBody>
      </p:sp>
      <p:sp>
        <p:nvSpPr>
          <p:cNvPr id="6" name="text-5">
            <a:extLst xmlns:a="http://schemas.openxmlformats.org/drawingml/2006/main">
              <a:ext uri="{FF2B5EF4-FFF2-40B4-BE49-F238E27FC236}">
                <a16:creationId xmlns:a16="http://schemas.microsoft.com/office/drawing/2014/main" id="{9C4B4EBE-8EB0-4A2C-A8D5-A6E1610161B8}"/>
              </a:ext>
            </a:extLst>
          </p:cNvPr>
          <p:cNvSpPr>
            <a:spLocks xmlns:a="http://schemas.openxmlformats.org/drawingml/2006/main" noGrp="1"/>
          </p:cNvSpPr>
          <p:nvPr/>
        </p:nvSpPr>
        <p:spPr>
          <a:xfrm xmlns:a="http://schemas.openxmlformats.org/drawingml/2006/main">
            <a:off x="609600" y="5857875"/>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If one fails, flag an instructor before starting Module 3.</a:t>
            </a:r>
          </a:p>
        </p:txBody>
      </p:sp>
    </p:spTree>
    <p:extLst>
      <p:ext uri="{BB962C8B-B14F-4D97-AF65-F5344CB8AC3E}">
        <p14:creationId xmlns:p14="http://schemas.microsoft.com/office/powerpoint/2010/main" val="13753501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7BDE1773-0744-4B2B-AF0A-94188D1DBA0B}"/>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19</a:t>
            </a:r>
          </a:p>
        </p:txBody>
      </p:sp>
      <p:sp>
        <p:nvSpPr>
          <p:cNvPr id="2" name="text-1">
            <a:extLst xmlns:a="http://schemas.openxmlformats.org/drawingml/2006/main">
              <a:ext uri="{FF2B5EF4-FFF2-40B4-BE49-F238E27FC236}">
                <a16:creationId xmlns:a16="http://schemas.microsoft.com/office/drawing/2014/main" id="{7834A67B-23AB-46D4-830D-851D38995F81}"/>
              </a:ext>
            </a:extLst>
          </p:cNvPr>
          <p:cNvSpPr>
            <a:spLocks xmlns:a="http://schemas.openxmlformats.org/drawingml/2006/main" noGrp="1"/>
          </p:cNvSpPr>
          <p:nvPr/>
        </p:nvSpPr>
        <p:spPr>
          <a:xfrm xmlns:a="http://schemas.openxmlformats.org/drawingml/2006/main">
            <a:off x="609600" y="8763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Module 3</a:t>
            </a:r>
          </a:p>
        </p:txBody>
      </p:sp>
      <p:sp>
        <p:nvSpPr>
          <p:cNvPr id="3" name="text-2">
            <a:extLst xmlns:a="http://schemas.openxmlformats.org/drawingml/2006/main">
              <a:ext uri="{FF2B5EF4-FFF2-40B4-BE49-F238E27FC236}">
                <a16:creationId xmlns:a16="http://schemas.microsoft.com/office/drawing/2014/main" id="{108E7F37-D014-48C4-A970-2E3CD70B2D32}"/>
              </a:ext>
            </a:extLst>
          </p:cNvPr>
          <p:cNvSpPr>
            <a:spLocks xmlns:a="http://schemas.openxmlformats.org/drawingml/2006/main" noGrp="1"/>
          </p:cNvSpPr>
          <p:nvPr/>
        </p:nvSpPr>
        <p:spPr>
          <a:xfrm xmlns:a="http://schemas.openxmlformats.org/drawingml/2006/main">
            <a:off x="609600" y="19431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550" b="0">
                <a:solidFill>
                  <a:srgbClr val="20252B"/>
                </a:solidFill>
                <a:latin typeface="Helvetica Neue"/>
                <a:ea typeface="Helvetica Neue"/>
                <a:cs typeface="Helvetica Neue"/>
              </a:defRPr>
            </a:pPr>
            <a:r>
              <a:rPr sz="5550" b="0">
                <a:solidFill>
                  <a:srgbClr val="20252B"/>
                </a:solidFill>
                <a:latin typeface="Helvetica Neue"/>
                <a:ea typeface="Helvetica Neue"/>
                <a:cs typeface="Helvetica Neue"/>
              </a:rPr>
              <a:t>Designing health tools</a:t>
            </a:r>
          </a:p>
        </p:txBody>
      </p:sp>
      <p:sp>
        <p:nvSpPr>
          <p:cNvPr id="4" name="text-3">
            <a:extLst xmlns:a="http://schemas.openxmlformats.org/drawingml/2006/main">
              <a:ext uri="{FF2B5EF4-FFF2-40B4-BE49-F238E27FC236}">
                <a16:creationId xmlns:a16="http://schemas.microsoft.com/office/drawing/2014/main" id="{61C64DBD-AB95-4C75-A00A-357F52246843}"/>
              </a:ext>
            </a:extLst>
          </p:cNvPr>
          <p:cNvSpPr>
            <a:spLocks xmlns:a="http://schemas.openxmlformats.org/drawingml/2006/main" noGrp="1"/>
          </p:cNvSpPr>
          <p:nvPr/>
        </p:nvSpPr>
        <p:spPr>
          <a:xfrm xmlns:a="http://schemas.openxmlformats.org/drawingml/2006/main">
            <a:off x="647700" y="3800475"/>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query_screen_time, detect_change and plot_timeseries</a:t>
            </a:r>
          </a:p>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in ha_workshop/student_tools.py</a:t>
            </a:r>
          </a:p>
        </p:txBody>
      </p:sp>
      <p:sp>
        <p:nvSpPr>
          <p:cNvPr id="5" name="text-4">
            <a:extLst xmlns:a="http://schemas.openxmlformats.org/drawingml/2006/main">
              <a:ext uri="{FF2B5EF4-FFF2-40B4-BE49-F238E27FC236}">
                <a16:creationId xmlns:a16="http://schemas.microsoft.com/office/drawing/2014/main" id="{435599D5-C14E-4318-B6DE-FFC901F0647A}"/>
              </a:ext>
            </a:extLst>
          </p:cNvPr>
          <p:cNvSpPr>
            <a:spLocks xmlns:a="http://schemas.openxmlformats.org/drawingml/2006/main" noGrp="1"/>
          </p:cNvSpPr>
          <p:nvPr/>
        </p:nvSpPr>
        <p:spPr>
          <a:xfrm xmlns:a="http://schemas.openxmlformats.org/drawingml/2006/main">
            <a:off x="647700" y="5791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45 minutes</a:t>
            </a:r>
          </a:p>
        </p:txBody>
      </p:sp>
    </p:spTree>
    <p:extLst>
      <p:ext uri="{BB962C8B-B14F-4D97-AF65-F5344CB8AC3E}">
        <p14:creationId xmlns:p14="http://schemas.microsoft.com/office/powerpoint/2010/main" val="4614141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6E0D2B7-7470-4372-B616-456C7F8AE1E4}"/>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ToolResult</a:t>
            </a:r>
          </a:p>
        </p:txBody>
      </p:sp>
      <p:sp>
        <p:nvSpPr>
          <p:cNvPr id="2" name="page-number">
            <a:extLst xmlns:a="http://schemas.openxmlformats.org/drawingml/2006/main">
              <a:ext uri="{FF2B5EF4-FFF2-40B4-BE49-F238E27FC236}">
                <a16:creationId xmlns:a16="http://schemas.microsoft.com/office/drawing/2014/main" id="{BE2441B3-3933-4855-971F-454994CF281A}"/>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20</a:t>
            </a:r>
          </a:p>
        </p:txBody>
      </p:sp>
      <p:sp>
        <p:nvSpPr>
          <p:cNvPr id="3" name="editable-code">
            <a:extLst xmlns:a="http://schemas.openxmlformats.org/drawingml/2006/main">
              <a:ext uri="{FF2B5EF4-FFF2-40B4-BE49-F238E27FC236}">
                <a16:creationId xmlns:a16="http://schemas.microsoft.com/office/drawing/2014/main" id="{58325589-283F-4D07-9174-952D86443C50}"/>
              </a:ext>
            </a:extLst>
          </p:cNvPr>
          <p:cNvSpPr>
            <a:spLocks xmlns:a="http://schemas.openxmlformats.org/drawingml/2006/main" noGrp="1"/>
          </p:cNvSpPr>
          <p:nvPr/>
        </p:nvSpPr>
        <p:spPr>
          <a:xfrm xmlns:a="http://schemas.openxmlformats.org/drawingml/2006/main">
            <a:off x="609600" y="2190750"/>
            <a:ext cx="6524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ToolResult(</a:t>
            </a:r>
          </a:p>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    kind=</a:t>
            </a:r>
            <a:r>
              <a:rPr b="0">
                <a:solidFill>
                  <a:srgbClr val="795733"/>
                </a:solidFill>
                <a:latin typeface="Menlo"/>
                <a:ea typeface="Menlo"/>
                <a:cs typeface="Menlo"/>
              </a:rPr>
              <a:t>"table"</a:t>
            </a:r>
            <a:r>
              <a:rPr b="0">
                <a:solidFill>
                  <a:srgbClr val="20252B"/>
                </a:solidFill>
                <a:latin typeface="Menlo"/>
                <a:ea typeface="Menlo"/>
                <a:cs typeface="Menlo"/>
              </a:rPr>
              <a:t>,</a:t>
            </a:r>
          </a:p>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    summary=</a:t>
            </a:r>
            <a:r>
              <a:rPr b="0">
                <a:solidFill>
                  <a:srgbClr val="795733"/>
                </a:solidFill>
                <a:latin typeface="Menlo"/>
                <a:ea typeface="Menlo"/>
                <a:cs typeface="Menlo"/>
              </a:rPr>
              <a:t>"7 days; mean 5.05 h"</a:t>
            </a:r>
            <a:r>
              <a:rPr b="0">
                <a:solidFill>
                  <a:srgbClr val="20252B"/>
                </a:solidFill>
                <a:latin typeface="Menlo"/>
                <a:ea typeface="Menlo"/>
                <a:cs typeface="Menlo"/>
              </a:rPr>
              <a:t>,</a:t>
            </a:r>
          </a:p>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    value=rows,</a:t>
            </a:r>
          </a:p>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    error=</a:t>
            </a:r>
            <a:r>
              <a:rPr b="1">
                <a:solidFill>
                  <a:srgbClr val="245891"/>
                </a:solidFill>
                <a:latin typeface="Menlo"/>
                <a:ea typeface="Menlo"/>
                <a:cs typeface="Menlo"/>
              </a:rPr>
              <a:t>False</a:t>
            </a:r>
            <a:r>
              <a:rPr b="0">
                <a:solidFill>
                  <a:srgbClr val="20252B"/>
                </a:solidFill>
                <a:latin typeface="Menlo"/>
                <a:ea typeface="Menlo"/>
                <a:cs typeface="Menlo"/>
              </a:rPr>
              <a:t>,</a:t>
            </a:r>
          </a:p>
          <a:p xmlns:a="http://schemas.openxmlformats.org/drawingml/2006/main">
            <a:pPr algn="l">
              <a:defRPr sz="2175" b="0">
                <a:solidFill>
                  <a:srgbClr val="20252B"/>
                </a:solidFill>
                <a:latin typeface="Menlo"/>
                <a:ea typeface="Menlo"/>
                <a:cs typeface="Menlo"/>
              </a:defRPr>
            </a:pPr>
            <a:r>
              <a:rPr b="0">
                <a:solidFill>
                  <a:srgbClr val="20252B"/>
                </a:solidFill>
                <a:latin typeface="Menlo"/>
                <a:ea typeface="Menlo"/>
                <a:cs typeface="Menlo"/>
              </a:rPr>
              <a:t>)</a:t>
            </a:r>
          </a:p>
        </p:txBody>
      </p:sp>
      <p:sp>
        <p:nvSpPr>
          <p:cNvPr id="4" name="text-3">
            <a:extLst xmlns:a="http://schemas.openxmlformats.org/drawingml/2006/main">
              <a:ext uri="{FF2B5EF4-FFF2-40B4-BE49-F238E27FC236}">
                <a16:creationId xmlns:a16="http://schemas.microsoft.com/office/drawing/2014/main" id="{517F6C91-9EC4-4316-901B-1262521D9846}"/>
              </a:ext>
            </a:extLst>
          </p:cNvPr>
          <p:cNvSpPr>
            <a:spLocks xmlns:a="http://schemas.openxmlformats.org/drawingml/2006/main" noGrp="1"/>
          </p:cNvSpPr>
          <p:nvPr/>
        </p:nvSpPr>
        <p:spPr>
          <a:xfrm xmlns:a="http://schemas.openxmlformats.org/drawingml/2006/main">
            <a:off x="7762875" y="2190750"/>
            <a:ext cx="37052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summary</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Text sent to the model</a:t>
            </a:r>
          </a:p>
        </p:txBody>
      </p:sp>
      <p:sp>
        <p:nvSpPr>
          <p:cNvPr id="5" name="text-4">
            <a:extLst xmlns:a="http://schemas.openxmlformats.org/drawingml/2006/main">
              <a:ext uri="{FF2B5EF4-FFF2-40B4-BE49-F238E27FC236}">
                <a16:creationId xmlns:a16="http://schemas.microsoft.com/office/drawing/2014/main" id="{5A272233-90DB-42ED-8099-3F306DA3E3F6}"/>
              </a:ext>
            </a:extLst>
          </p:cNvPr>
          <p:cNvSpPr>
            <a:spLocks xmlns:a="http://schemas.openxmlformats.org/drawingml/2006/main" noGrp="1"/>
          </p:cNvSpPr>
          <p:nvPr/>
        </p:nvSpPr>
        <p:spPr>
          <a:xfrm xmlns:a="http://schemas.openxmlformats.org/drawingml/2006/main">
            <a:off x="7762875" y="3362325"/>
            <a:ext cx="37052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value</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Structured result</a:t>
            </a:r>
          </a:p>
        </p:txBody>
      </p:sp>
      <p:sp>
        <p:nvSpPr>
          <p:cNvPr id="6" name="text-5">
            <a:extLst xmlns:a="http://schemas.openxmlformats.org/drawingml/2006/main">
              <a:ext uri="{FF2B5EF4-FFF2-40B4-BE49-F238E27FC236}">
                <a16:creationId xmlns:a16="http://schemas.microsoft.com/office/drawing/2014/main" id="{8D8C9E34-9DE0-434D-B732-A2EA40033DA4}"/>
              </a:ext>
            </a:extLst>
          </p:cNvPr>
          <p:cNvSpPr>
            <a:spLocks xmlns:a="http://schemas.openxmlformats.org/drawingml/2006/main" noGrp="1"/>
          </p:cNvSpPr>
          <p:nvPr/>
        </p:nvSpPr>
        <p:spPr>
          <a:xfrm xmlns:a="http://schemas.openxmlformats.org/drawingml/2006/main">
            <a:off x="7762875" y="4533900"/>
            <a:ext cx="37052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error</a:t>
            </a:r>
          </a:p>
          <a:p xmlns:a="http://schemas.openxmlformats.org/drawingml/2006/main">
            <a:pPr algn="l">
              <a:defRPr sz="1950" b="0">
                <a:solidFill>
                  <a:srgbClr val="20252B"/>
                </a:solidFill>
                <a:latin typeface="Helvetica Neue"/>
                <a:ea typeface="Helvetica Neue"/>
                <a:cs typeface="Helvetica Neue"/>
              </a:defRPr>
            </a:pPr>
            <a:r>
              <a:rPr sz="1950" b="0">
                <a:solidFill>
                  <a:srgbClr val="20252B"/>
                </a:solidFill>
                <a:latin typeface="Helvetica Neue"/>
                <a:ea typeface="Helvetica Neue"/>
                <a:cs typeface="Helvetica Neue"/>
              </a:rPr>
              <a:t>Whether the call failed</a:t>
            </a:r>
          </a:p>
        </p:txBody>
      </p:sp>
    </p:spTree>
    <p:extLst>
      <p:ext uri="{BB962C8B-B14F-4D97-AF65-F5344CB8AC3E}">
        <p14:creationId xmlns:p14="http://schemas.microsoft.com/office/powerpoint/2010/main" val="27843525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3DF53E29-578A-4408-AD2F-5B3CE6BBA6A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Exercise 1: screen-time retrieval</a:t>
            </a:r>
          </a:p>
        </p:txBody>
      </p:sp>
      <p:sp>
        <p:nvSpPr>
          <p:cNvPr id="2" name="page-number">
            <a:extLst xmlns:a="http://schemas.openxmlformats.org/drawingml/2006/main">
              <a:ext uri="{FF2B5EF4-FFF2-40B4-BE49-F238E27FC236}">
                <a16:creationId xmlns:a16="http://schemas.microsoft.com/office/drawing/2014/main" id="{23C644D0-D389-4103-82D6-8BC4407AF9EB}"/>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21</a:t>
            </a:r>
          </a:p>
        </p:txBody>
      </p:sp>
      <p:sp>
        <p:nvSpPr>
          <p:cNvPr id="3" name="editable-code">
            <a:extLst xmlns:a="http://schemas.openxmlformats.org/drawingml/2006/main">
              <a:ext uri="{FF2B5EF4-FFF2-40B4-BE49-F238E27FC236}">
                <a16:creationId xmlns:a16="http://schemas.microsoft.com/office/drawing/2014/main" id="{C200A16E-9B07-440F-8237-0C1D6ABDD19A}"/>
              </a:ext>
            </a:extLst>
          </p:cNvPr>
          <p:cNvSpPr>
            <a:spLocks xmlns:a="http://schemas.openxmlformats.org/drawingml/2006/main" noGrp="1"/>
          </p:cNvSpPr>
          <p:nvPr/>
        </p:nvSpPr>
        <p:spPr>
          <a:xfrm xmlns:a="http://schemas.openxmlformats.org/drawingml/2006/main">
            <a:off x="609600" y="1847850"/>
            <a:ext cx="1095375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df = data.load_user_metric(</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    user_id, </a:t>
            </a:r>
            <a:r>
              <a:rPr b="0">
                <a:solidFill>
                  <a:srgbClr val="795733"/>
                </a:solidFill>
                <a:latin typeface="Menlo"/>
                <a:ea typeface="Menlo"/>
                <a:cs typeface="Menlo"/>
              </a:rPr>
              <a:t>'screen_time'</a:t>
            </a:r>
            <a:r>
              <a:rPr b="0">
                <a:solidFill>
                  <a:srgbClr val="20252B"/>
                </a:solidFill>
                <a:latin typeface="Menlo"/>
                <a:ea typeface="Menlo"/>
                <a:cs typeface="Menlo"/>
              </a:rPr>
              <a:t>,</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    [</a:t>
            </a:r>
            <a:r>
              <a:rPr b="0">
                <a:solidFill>
                  <a:srgbClr val="795733"/>
                </a:solidFill>
                <a:latin typeface="Menlo"/>
                <a:ea typeface="Menlo"/>
                <a:cs typeface="Menlo"/>
              </a:rPr>
              <a:t>'total_screen_minutes'</a:t>
            </a:r>
            <a:r>
              <a:rPr b="0">
                <a:solidFill>
                  <a:srgbClr val="20252B"/>
                </a:solidFill>
                <a:latin typeface="Menlo"/>
                <a:ea typeface="Menlo"/>
                <a:cs typeface="Menlo"/>
              </a:rPr>
              <a:t>, </a:t>
            </a:r>
            <a:r>
              <a:rPr b="0">
                <a:solidFill>
                  <a:srgbClr val="795733"/>
                </a:solidFill>
                <a:latin typeface="Menlo"/>
                <a:ea typeface="Menlo"/>
                <a:cs typeface="Menlo"/>
              </a:rPr>
              <a:t>'night_screen_minutes'</a:t>
            </a:r>
            <a:r>
              <a:rPr b="0">
                <a:solidFill>
                  <a:srgbClr val="20252B"/>
                </a:solidFill>
                <a:latin typeface="Menlo"/>
                <a:ea typeface="Menlo"/>
                <a:cs typeface="Menlo"/>
              </a:rPr>
              <a:t>],</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    start_date, end_date,</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rows = df.assign(</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    date=df[</a:t>
            </a:r>
            <a:r>
              <a:rPr b="0">
                <a:solidFill>
                  <a:srgbClr val="795733"/>
                </a:solidFill>
                <a:latin typeface="Menlo"/>
                <a:ea typeface="Menlo"/>
                <a:cs typeface="Menlo"/>
              </a:rPr>
              <a:t>'date'</a:t>
            </a:r>
            <a:r>
              <a:rPr b="0">
                <a:solidFill>
                  <a:srgbClr val="20252B"/>
                </a:solidFill>
                <a:latin typeface="Menlo"/>
                <a:ea typeface="Menlo"/>
                <a:cs typeface="Menlo"/>
              </a:rPr>
              <a:t>].dt.strftime(</a:t>
            </a:r>
            <a:r>
              <a:rPr b="0">
                <a:solidFill>
                  <a:srgbClr val="795733"/>
                </a:solidFill>
                <a:latin typeface="Menlo"/>
                <a:ea typeface="Menlo"/>
                <a:cs typeface="Menlo"/>
              </a:rPr>
              <a:t>'%Y-%m-%d'</a:t>
            </a:r>
            <a:r>
              <a:rPr b="0">
                <a:solidFill>
                  <a:srgbClr val="20252B"/>
                </a:solidFill>
                <a:latin typeface="Menlo"/>
                <a:ea typeface="Menlo"/>
                <a:cs typeface="Menlo"/>
              </a:rPr>
              <a:t>)</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).to_dict(</a:t>
            </a:r>
            <a:r>
              <a:rPr b="0">
                <a:solidFill>
                  <a:srgbClr val="795733"/>
                </a:solidFill>
                <a:latin typeface="Menlo"/>
                <a:ea typeface="Menlo"/>
                <a:cs typeface="Menlo"/>
              </a:rPr>
              <a:t>'records'</a:t>
            </a:r>
            <a:r>
              <a:rPr b="0">
                <a:solidFill>
                  <a:srgbClr val="20252B"/>
                </a:solidFill>
                <a:latin typeface="Menlo"/>
                <a:ea typeface="Menlo"/>
                <a:cs typeface="Menlo"/>
              </a:rPr>
              <a:t>)</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summary = f</a:t>
            </a:r>
            <a:r>
              <a:rPr b="0">
                <a:solidFill>
                  <a:srgbClr val="795733"/>
                </a:solidFill>
                <a:latin typeface="Menlo"/>
                <a:ea typeface="Menlo"/>
                <a:cs typeface="Menlo"/>
              </a:rPr>
              <a:t>'{len(df)} days: mean night screen '</a:t>
            </a:r>
          </a:p>
          <a:p xmlns:a="http://schemas.openxmlformats.org/drawingml/2006/main">
            <a:pPr algn="l">
              <a:defRPr sz="1800" b="0">
                <a:solidFill>
                  <a:srgbClr val="20252B"/>
                </a:solidFill>
                <a:latin typeface="Menlo"/>
                <a:ea typeface="Menlo"/>
                <a:cs typeface="Menlo"/>
              </a:defRPr>
            </a:pPr>
            <a:r>
              <a:rPr b="0">
                <a:solidFill>
                  <a:srgbClr val="20252B"/>
                </a:solidFill>
                <a:latin typeface="Menlo"/>
                <a:ea typeface="Menlo"/>
                <a:cs typeface="Menlo"/>
              </a:rPr>
              <a:t>summary += f</a:t>
            </a:r>
            <a:r>
              <a:rPr b="0">
                <a:solidFill>
                  <a:srgbClr val="795733"/>
                </a:solidFill>
                <a:latin typeface="Menlo"/>
                <a:ea typeface="Menlo"/>
                <a:cs typeface="Menlo"/>
              </a:rPr>
              <a:t>"{df['night_screen_minutes'].mean():.1f} min."</a:t>
            </a:r>
          </a:p>
          <a:p xmlns:a="http://schemas.openxmlformats.org/drawingml/2006/main">
            <a:pPr algn="l">
              <a:defRPr sz="1800" b="0">
                <a:solidFill>
                  <a:srgbClr val="20252B"/>
                </a:solidFill>
                <a:latin typeface="Menlo"/>
                <a:ea typeface="Menlo"/>
                <a:cs typeface="Menlo"/>
              </a:defRPr>
            </a:pPr>
            <a:r>
              <a:rPr b="1">
                <a:solidFill>
                  <a:srgbClr val="245891"/>
                </a:solidFill>
                <a:latin typeface="Menlo"/>
                <a:ea typeface="Menlo"/>
                <a:cs typeface="Menlo"/>
              </a:rPr>
              <a:t>return</a:t>
            </a:r>
            <a:r>
              <a:rPr b="0">
                <a:solidFill>
                  <a:srgbClr val="20252B"/>
                </a:solidFill>
                <a:latin typeface="Menlo"/>
                <a:ea typeface="Menlo"/>
                <a:cs typeface="Menlo"/>
              </a:rPr>
              <a:t> ToolResult(</a:t>
            </a:r>
            <a:r>
              <a:rPr b="0">
                <a:solidFill>
                  <a:srgbClr val="795733"/>
                </a:solidFill>
                <a:latin typeface="Menlo"/>
                <a:ea typeface="Menlo"/>
                <a:cs typeface="Menlo"/>
              </a:rPr>
              <a:t>'table'</a:t>
            </a:r>
            <a:r>
              <a:rPr b="0">
                <a:solidFill>
                  <a:srgbClr val="20252B"/>
                </a:solidFill>
                <a:latin typeface="Menlo"/>
                <a:ea typeface="Menlo"/>
                <a:cs typeface="Menlo"/>
              </a:rPr>
              <a:t>, summary, rows)</a:t>
            </a:r>
          </a:p>
        </p:txBody>
      </p:sp>
    </p:spTree>
    <p:extLst>
      <p:ext uri="{BB962C8B-B14F-4D97-AF65-F5344CB8AC3E}">
        <p14:creationId xmlns:p14="http://schemas.microsoft.com/office/powerpoint/2010/main" val="8483989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7F8C80D-5576-42CD-A971-FDB67C758F0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Exercise 2: change from baseline</a:t>
            </a:r>
          </a:p>
        </p:txBody>
      </p:sp>
      <p:sp>
        <p:nvSpPr>
          <p:cNvPr id="2" name="page-number">
            <a:extLst xmlns:a="http://schemas.openxmlformats.org/drawingml/2006/main">
              <a:ext uri="{FF2B5EF4-FFF2-40B4-BE49-F238E27FC236}">
                <a16:creationId xmlns:a16="http://schemas.microsoft.com/office/drawing/2014/main" id="{01763A7F-628D-471E-AF9E-C1D253E1367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22</a:t>
            </a:r>
          </a:p>
        </p:txBody>
      </p:sp>
      <p:sp>
        <p:nvSpPr>
          <p:cNvPr id="3" name="editable-code">
            <a:extLst xmlns:a="http://schemas.openxmlformats.org/drawingml/2006/main">
              <a:ext uri="{FF2B5EF4-FFF2-40B4-BE49-F238E27FC236}">
                <a16:creationId xmlns:a16="http://schemas.microsoft.com/office/drawing/2014/main" id="{C5687EE9-0989-4A32-8881-478E96F4C37F}"/>
              </a:ext>
            </a:extLst>
          </p:cNvPr>
          <p:cNvSpPr>
            <a:spLocks xmlns:a="http://schemas.openxmlformats.org/drawingml/2006/main" noGrp="1"/>
          </p:cNvSpPr>
          <p:nvPr/>
        </p:nvSpPr>
        <p:spPr>
          <a:xfrm xmlns:a="http://schemas.openxmlformats.org/drawingml/2006/main">
            <a:off x="609600" y="2133600"/>
            <a:ext cx="10953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0252B"/>
                </a:solidFill>
                <a:latin typeface="Menlo"/>
                <a:ea typeface="Menlo"/>
                <a:cs typeface="Menlo"/>
              </a:defRPr>
            </a:pPr>
            <a:r>
              <a:rPr b="0">
                <a:solidFill>
                  <a:srgbClr val="20252B"/>
                </a:solidFill>
                <a:latin typeface="Menlo"/>
                <a:ea typeface="Menlo"/>
                <a:cs typeface="Menlo"/>
              </a:rPr>
              <a:t>recent_mean = float(recent.mean())</a:t>
            </a:r>
          </a:p>
          <a:p xmlns:a="http://schemas.openxmlformats.org/drawingml/2006/main">
            <a:pPr algn="l">
              <a:defRPr sz="2400" b="0">
                <a:solidFill>
                  <a:srgbClr val="20252B"/>
                </a:solidFill>
                <a:latin typeface="Menlo"/>
                <a:ea typeface="Menlo"/>
                <a:cs typeface="Menlo"/>
              </a:defRPr>
            </a:pPr>
            <a:r>
              <a:rPr b="0">
                <a:solidFill>
                  <a:srgbClr val="20252B"/>
                </a:solidFill>
                <a:latin typeface="Menlo"/>
                <a:ea typeface="Menlo"/>
                <a:cs typeface="Menlo"/>
              </a:rPr>
              <a:t>baseline_mean = float(base.mean())</a:t>
            </a:r>
          </a:p>
        </p:txBody>
      </p:sp>
      <p:sp>
        <p:nvSpPr>
          <p:cNvPr id="4" name="text-3">
            <a:extLst xmlns:a="http://schemas.openxmlformats.org/drawingml/2006/main">
              <a:ext uri="{FF2B5EF4-FFF2-40B4-BE49-F238E27FC236}">
                <a16:creationId xmlns:a16="http://schemas.microsoft.com/office/drawing/2014/main" id="{8AB6B74E-4F5C-4FE2-8CFB-DBF05AC15A4B}"/>
              </a:ext>
            </a:extLst>
          </p:cNvPr>
          <p:cNvSpPr>
            <a:spLocks xmlns:a="http://schemas.openxmlformats.org/drawingml/2006/main" noGrp="1"/>
          </p:cNvSpPr>
          <p:nvPr/>
        </p:nvSpPr>
        <p:spPr>
          <a:xfrm xmlns:a="http://schemas.openxmlformats.org/drawingml/2006/main">
            <a:off x="609600" y="38766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1">
                <a:solidFill>
                  <a:srgbClr val="20252B"/>
                </a:solidFill>
                <a:latin typeface="Helvetica Neue"/>
                <a:ea typeface="Helvetica Neue"/>
                <a:cs typeface="Helvetica Neue"/>
              </a:defRPr>
            </a:pPr>
            <a:r>
              <a:rPr sz="2925" b="1">
                <a:solidFill>
                  <a:srgbClr val="20252B"/>
                </a:solidFill>
                <a:latin typeface="Helvetica Neue"/>
                <a:ea typeface="Helvetica Neue"/>
                <a:cs typeface="Helvetica Neue"/>
              </a:rPr>
              <a:t>Change = recent mean − baseline mean</a:t>
            </a:r>
          </a:p>
        </p:txBody>
      </p:sp>
      <p:sp>
        <p:nvSpPr>
          <p:cNvPr id="5" name="text-4">
            <a:extLst xmlns:a="http://schemas.openxmlformats.org/drawingml/2006/main">
              <a:ext uri="{FF2B5EF4-FFF2-40B4-BE49-F238E27FC236}">
                <a16:creationId xmlns:a16="http://schemas.microsoft.com/office/drawing/2014/main" id="{6B111FB4-4237-46F2-8A52-3B5DC30424CC}"/>
              </a:ext>
            </a:extLst>
          </p:cNvPr>
          <p:cNvSpPr>
            <a:spLocks xmlns:a="http://schemas.openxmlformats.org/drawingml/2006/main" noGrp="1"/>
          </p:cNvSpPr>
          <p:nvPr/>
        </p:nvSpPr>
        <p:spPr>
          <a:xfrm xmlns:a="http://schemas.openxmlformats.org/drawingml/2006/main">
            <a:off x="609600" y="4695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Percent change = change / baseline mean × 100</a:t>
            </a:r>
          </a:p>
        </p:txBody>
      </p:sp>
      <p:sp>
        <p:nvSpPr>
          <p:cNvPr id="6" name="text-5">
            <a:extLst xmlns:a="http://schemas.openxmlformats.org/drawingml/2006/main">
              <a:ext uri="{FF2B5EF4-FFF2-40B4-BE49-F238E27FC236}">
                <a16:creationId xmlns:a16="http://schemas.microsoft.com/office/drawing/2014/main" id="{797EF113-811A-48D0-8066-8F6C2BD9002F}"/>
              </a:ext>
            </a:extLst>
          </p:cNvPr>
          <p:cNvSpPr>
            <a:spLocks xmlns:a="http://schemas.openxmlformats.org/drawingml/2006/main" noGrp="1"/>
          </p:cNvSpPr>
          <p:nvPr/>
        </p:nvSpPr>
        <p:spPr>
          <a:xfrm xmlns:a="http://schemas.openxmlformats.org/drawingml/2006/main">
            <a:off x="609600" y="58007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Return the metric unit and both date windows with the result.</a:t>
            </a:r>
          </a:p>
        </p:txBody>
      </p:sp>
    </p:spTree>
    <p:extLst>
      <p:ext uri="{BB962C8B-B14F-4D97-AF65-F5344CB8AC3E}">
        <p14:creationId xmlns:p14="http://schemas.microsoft.com/office/powerpoint/2010/main" val="172810535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2E2BBE8-DD4E-48D4-A864-C5A0A68204A3}"/>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Testing the tools directly</a:t>
            </a:r>
          </a:p>
        </p:txBody>
      </p:sp>
      <p:sp>
        <p:nvSpPr>
          <p:cNvPr id="2" name="page-number">
            <a:extLst xmlns:a="http://schemas.openxmlformats.org/drawingml/2006/main">
              <a:ext uri="{FF2B5EF4-FFF2-40B4-BE49-F238E27FC236}">
                <a16:creationId xmlns:a16="http://schemas.microsoft.com/office/drawing/2014/main" id="{7CB872A8-D130-4B93-B631-ABCC4106392C}"/>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23</a:t>
            </a:r>
          </a:p>
        </p:txBody>
      </p:sp>
      <p:sp>
        <p:nvSpPr>
          <p:cNvPr id="3" name="editable-code">
            <a:extLst xmlns:a="http://schemas.openxmlformats.org/drawingml/2006/main">
              <a:ext uri="{FF2B5EF4-FFF2-40B4-BE49-F238E27FC236}">
                <a16:creationId xmlns:a16="http://schemas.microsoft.com/office/drawing/2014/main" id="{2D0EB875-9954-4C84-9D39-69BE1D7A483D}"/>
              </a:ext>
            </a:extLst>
          </p:cNvPr>
          <p:cNvSpPr>
            <a:spLocks xmlns:a="http://schemas.openxmlformats.org/drawingml/2006/main" noGrp="1"/>
          </p:cNvSpPr>
          <p:nvPr/>
        </p:nvSpPr>
        <p:spPr>
          <a:xfrm xmlns:a="http://schemas.openxmlformats.org/drawingml/2006/main">
            <a:off x="609600" y="1962150"/>
            <a:ext cx="10953750"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 </a:t>
            </a:r>
            <a:r>
              <a:rPr b="1">
                <a:solidFill>
                  <a:srgbClr val="245891"/>
                </a:solidFill>
                <a:latin typeface="Menlo"/>
                <a:ea typeface="Menlo"/>
                <a:cs typeface="Menlo"/>
              </a:rPr>
              <a:t>import</a:t>
            </a:r>
            <a:r>
              <a:rPr b="0">
                <a:solidFill>
                  <a:srgbClr val="20252B"/>
                </a:solidFill>
                <a:latin typeface="Menlo"/>
                <a:ea typeface="Menlo"/>
                <a:cs typeface="Menlo"/>
              </a:rPr>
              <a:t> config</a:t>
            </a:r>
          </a:p>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ha_workshop </a:t>
            </a:r>
            <a:r>
              <a:rPr b="1">
                <a:solidFill>
                  <a:srgbClr val="245891"/>
                </a:solidFill>
                <a:latin typeface="Menlo"/>
                <a:ea typeface="Menlo"/>
                <a:cs typeface="Menlo"/>
              </a:rPr>
              <a:t>import</a:t>
            </a:r>
            <a:r>
              <a:rPr b="0">
                <a:solidFill>
                  <a:srgbClr val="20252B"/>
                </a:solidFill>
                <a:latin typeface="Menlo"/>
                <a:ea typeface="Menlo"/>
                <a:cs typeface="Menlo"/>
              </a:rPr>
              <a:t> reload_ha_workshop</a:t>
            </a:r>
          </a:p>
          <a:p xmlns:a="http://schemas.openxmlformats.org/drawingml/2006/main">
            <a:pPr algn="l">
              <a:defRPr sz="2025" b="0">
                <a:solidFill>
                  <a:srgbClr val="20252B"/>
                </a:solidFill>
                <a:latin typeface="Menlo"/>
                <a:ea typeface="Menlo"/>
                <a:cs typeface="Menlo"/>
              </a:defRPr>
            </a:pP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st, _ = reload_ha_workshop()</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R0, R1 = config.recent_window()</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USER = config.DEMO_USER</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print(st.query_screen_time(USER, R0, R1).summary)</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print(st.detect_change(USER, </a:t>
            </a:r>
            <a:r>
              <a:rPr b="0">
                <a:solidFill>
                  <a:srgbClr val="795733"/>
                </a:solidFill>
                <a:latin typeface="Menlo"/>
                <a:ea typeface="Menlo"/>
                <a:cs typeface="Menlo"/>
              </a:rPr>
              <a:t>'night_screen'</a:t>
            </a:r>
            <a:r>
              <a:rPr b="0">
                <a:solidFill>
                  <a:srgbClr val="20252B"/>
                </a:solidFill>
                <a:latin typeface="Menlo"/>
                <a:ea typeface="Menlo"/>
                <a:cs typeface="Menlo"/>
              </a:rPr>
              <a:t>).summary)</a:t>
            </a:r>
          </a:p>
        </p:txBody>
      </p:sp>
      <p:sp>
        <p:nvSpPr>
          <p:cNvPr id="4" name="text-3">
            <a:extLst xmlns:a="http://schemas.openxmlformats.org/drawingml/2006/main">
              <a:ext uri="{FF2B5EF4-FFF2-40B4-BE49-F238E27FC236}">
                <a16:creationId xmlns:a16="http://schemas.microsoft.com/office/drawing/2014/main" id="{3BF2C700-BB0A-4DBA-8D70-26B945241C4E}"/>
              </a:ext>
            </a:extLst>
          </p:cNvPr>
          <p:cNvSpPr>
            <a:spLocks xmlns:a="http://schemas.openxmlformats.org/drawingml/2006/main" noGrp="1"/>
          </p:cNvSpPr>
          <p:nvPr/>
        </p:nvSpPr>
        <p:spPr>
          <a:xfrm xmlns:a="http://schemas.openxmlformats.org/drawingml/2006/main">
            <a:off x="609600" y="5781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Expected night-screen means: 53.91 min recent, 38.03 min baseline.</a:t>
            </a:r>
          </a:p>
        </p:txBody>
      </p:sp>
    </p:spTree>
    <p:extLst>
      <p:ext uri="{BB962C8B-B14F-4D97-AF65-F5344CB8AC3E}">
        <p14:creationId xmlns:p14="http://schemas.microsoft.com/office/powerpoint/2010/main" val="11253187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74D28AA-37D5-4AAF-810A-48300109EF6D}"/>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Sleep duration in the two windows</a:t>
            </a:r>
          </a:p>
        </p:txBody>
      </p:sp>
      <p:sp>
        <p:nvSpPr>
          <p:cNvPr id="2" name="page-number">
            <a:extLst xmlns:a="http://schemas.openxmlformats.org/drawingml/2006/main">
              <a:ext uri="{FF2B5EF4-FFF2-40B4-BE49-F238E27FC236}">
                <a16:creationId xmlns:a16="http://schemas.microsoft.com/office/drawing/2014/main" id="{657613F0-6FB7-4CAC-8EB4-91CFBE117076}"/>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24</a:t>
            </a:r>
          </a:p>
        </p:txBody>
      </p:sp>
      <p:graphicFrame>
        <p:nvGraphicFramePr>
          <p:cNvPr id="10" name="Chart"/>
          <p:cNvGraphicFramePr/>
          <p:nvPr/>
        </p:nvGraphicFramePr>
        <p:xfrm>
          <a:off xmlns:a="http://schemas.openxmlformats.org/drawingml/2006/main" x="609600" y="1847850"/>
          <a:ext xmlns:a="http://schemas.openxmlformats.org/drawingml/2006/main" cx="7181850" cy="3714750"/>
        </p:xfrm>
        <a:graphic xmlns:a="http://schemas.openxmlformats.org/drawingml/2006/main">
          <a:graphicData uri="http://schemas.openxmlformats.org/drawingml/2006/chart">
            <c:chart xmlns:r="http://schemas.openxmlformats.org/officeDocument/2006/relationships" xmlns:c="http://schemas.openxmlformats.org/drawingml/2006/chart" r:id="Rc51009e35ebd4e93"/>
          </a:graphicData>
        </a:graphic>
      </p:graphicFrame>
      <p:sp>
        <p:nvSpPr>
          <p:cNvPr id="4" name="text-2">
            <a:extLst xmlns:a="http://schemas.openxmlformats.org/drawingml/2006/main">
              <a:ext uri="{FF2B5EF4-FFF2-40B4-BE49-F238E27FC236}">
                <a16:creationId xmlns:a16="http://schemas.microsoft.com/office/drawing/2014/main" id="{0E0E33FC-A3DD-4995-BE3B-584506409F68}"/>
              </a:ext>
            </a:extLst>
          </p:cNvPr>
          <p:cNvSpPr>
            <a:spLocks xmlns:a="http://schemas.openxmlformats.org/drawingml/2006/main" noGrp="1"/>
          </p:cNvSpPr>
          <p:nvPr/>
        </p:nvSpPr>
        <p:spPr>
          <a:xfrm xmlns:a="http://schemas.openxmlformats.org/drawingml/2006/main">
            <a:off x="8210550" y="2333625"/>
            <a:ext cx="32099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75" b="1">
                <a:solidFill>
                  <a:srgbClr val="245891"/>
                </a:solidFill>
                <a:latin typeface="Helvetica Neue"/>
                <a:ea typeface="Helvetica Neue"/>
                <a:cs typeface="Helvetica Neue"/>
              </a:defRPr>
            </a:pPr>
            <a:r>
              <a:rPr sz="5175" b="1">
                <a:solidFill>
                  <a:srgbClr val="245891"/>
                </a:solidFill>
                <a:latin typeface="Helvetica Neue"/>
                <a:ea typeface="Helvetica Neue"/>
                <a:cs typeface="Helvetica Neue"/>
              </a:rPr>
              <a:t>−21.1%</a:t>
            </a:r>
          </a:p>
        </p:txBody>
      </p:sp>
      <p:sp>
        <p:nvSpPr>
          <p:cNvPr id="5" name="text-3">
            <a:extLst xmlns:a="http://schemas.openxmlformats.org/drawingml/2006/main">
              <a:ext uri="{FF2B5EF4-FFF2-40B4-BE49-F238E27FC236}">
                <a16:creationId xmlns:a16="http://schemas.microsoft.com/office/drawing/2014/main" id="{1308AB4C-6D5E-4C4C-B816-138042B53A8F}"/>
              </a:ext>
            </a:extLst>
          </p:cNvPr>
          <p:cNvSpPr>
            <a:spLocks xmlns:a="http://schemas.openxmlformats.org/drawingml/2006/main" noGrp="1"/>
          </p:cNvSpPr>
          <p:nvPr/>
        </p:nvSpPr>
        <p:spPr>
          <a:xfrm xmlns:a="http://schemas.openxmlformats.org/drawingml/2006/main">
            <a:off x="8210550" y="3457575"/>
            <a:ext cx="3209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mean sleep duration</a:t>
            </a:r>
          </a:p>
        </p:txBody>
      </p:sp>
      <p:sp>
        <p:nvSpPr>
          <p:cNvPr id="6" name="text-4">
            <a:extLst xmlns:a="http://schemas.openxmlformats.org/drawingml/2006/main">
              <a:ext uri="{FF2B5EF4-FFF2-40B4-BE49-F238E27FC236}">
                <a16:creationId xmlns:a16="http://schemas.microsoft.com/office/drawing/2014/main" id="{2BA6EBC2-0A0C-4D69-910D-212B99F9F020}"/>
              </a:ext>
            </a:extLst>
          </p:cNvPr>
          <p:cNvSpPr>
            <a:spLocks xmlns:a="http://schemas.openxmlformats.org/drawingml/2006/main" noGrp="1"/>
          </p:cNvSpPr>
          <p:nvPr/>
        </p:nvSpPr>
        <p:spPr>
          <a:xfrm xmlns:a="http://schemas.openxmlformats.org/drawingml/2006/main">
            <a:off x="8210550" y="4514850"/>
            <a:ext cx="32099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GLOBEM g10</a:t>
            </a:r>
          </a:p>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Missing values retained</a:t>
            </a:r>
          </a:p>
        </p:txBody>
      </p:sp>
      <p:sp>
        <p:nvSpPr>
          <p:cNvPr id="7" name="text-5">
            <a:extLst xmlns:a="http://schemas.openxmlformats.org/drawingml/2006/main">
              <a:ext uri="{FF2B5EF4-FFF2-40B4-BE49-F238E27FC236}">
                <a16:creationId xmlns:a16="http://schemas.microsoft.com/office/drawing/2014/main" id="{B8046D69-315A-41D0-BC92-CD72BE57B7C8}"/>
              </a:ext>
            </a:extLst>
          </p:cNvPr>
          <p:cNvSpPr>
            <a:spLocks xmlns:a="http://schemas.openxmlformats.org/drawingml/2006/main" noGrp="1"/>
          </p:cNvSpPr>
          <p:nvPr/>
        </p:nvSpPr>
        <p:spPr>
          <a:xfrm xmlns:a="http://schemas.openxmlformats.org/drawingml/2006/main">
            <a:off x="60960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Sleep is observed on 18 of 21 baseline days and all 7 recent days.</a:t>
            </a:r>
          </a:p>
        </p:txBody>
      </p:sp>
    </p:spTree>
    <p:extLst>
      <p:ext uri="{BB962C8B-B14F-4D97-AF65-F5344CB8AC3E}">
        <p14:creationId xmlns:p14="http://schemas.microsoft.com/office/powerpoint/2010/main" val="978892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91BB53F-FFC3-4D0C-B735-4DB188A518C6}"/>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The change threshold</a:t>
            </a:r>
          </a:p>
        </p:txBody>
      </p:sp>
      <p:sp>
        <p:nvSpPr>
          <p:cNvPr id="2" name="page-number">
            <a:extLst xmlns:a="http://schemas.openxmlformats.org/drawingml/2006/main">
              <a:ext uri="{FF2B5EF4-FFF2-40B4-BE49-F238E27FC236}">
                <a16:creationId xmlns:a16="http://schemas.microsoft.com/office/drawing/2014/main" id="{49575684-FD4C-49BB-A101-37EEA0305A1A}"/>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25</a:t>
            </a:r>
          </a:p>
        </p:txBody>
      </p:sp>
      <p:sp>
        <p:nvSpPr>
          <p:cNvPr id="3" name="text-2">
            <a:extLst xmlns:a="http://schemas.openxmlformats.org/drawingml/2006/main">
              <a:ext uri="{FF2B5EF4-FFF2-40B4-BE49-F238E27FC236}">
                <a16:creationId xmlns:a16="http://schemas.microsoft.com/office/drawing/2014/main" id="{A3C7D097-61F4-479B-A514-E251E87FBF72}"/>
              </a:ext>
            </a:extLst>
          </p:cNvPr>
          <p:cNvSpPr>
            <a:spLocks xmlns:a="http://schemas.openxmlformats.org/drawingml/2006/main" noGrp="1"/>
          </p:cNvSpPr>
          <p:nvPr/>
        </p:nvSpPr>
        <p:spPr>
          <a:xfrm xmlns:a="http://schemas.openxmlformats.org/drawingml/2006/main">
            <a:off x="609600" y="2162175"/>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75" b="1">
                <a:solidFill>
                  <a:srgbClr val="245891"/>
                </a:solidFill>
                <a:latin typeface="Helvetica Neue"/>
                <a:ea typeface="Helvetica Neue"/>
                <a:cs typeface="Helvetica Neue"/>
              </a:defRPr>
            </a:pPr>
            <a:r>
              <a:rPr sz="4275" b="1">
                <a:solidFill>
                  <a:srgbClr val="245891"/>
                </a:solidFill>
                <a:latin typeface="Helvetica Neue"/>
                <a:ea typeface="Helvetica Neue"/>
                <a:cs typeface="Helvetica Neue"/>
              </a:rPr>
              <a:t>|change / baseline SD| &gt; 1.5</a:t>
            </a:r>
          </a:p>
        </p:txBody>
      </p:sp>
      <p:sp>
        <p:nvSpPr>
          <p:cNvPr id="4" name="text-3">
            <a:extLst xmlns:a="http://schemas.openxmlformats.org/drawingml/2006/main">
              <a:ext uri="{FF2B5EF4-FFF2-40B4-BE49-F238E27FC236}">
                <a16:creationId xmlns:a16="http://schemas.microsoft.com/office/drawing/2014/main" id="{AB4E8B45-0E07-461A-82A9-A86136C8A200}"/>
              </a:ext>
            </a:extLst>
          </p:cNvPr>
          <p:cNvSpPr>
            <a:spLocks xmlns:a="http://schemas.openxmlformats.org/drawingml/2006/main" noGrp="1"/>
          </p:cNvSpPr>
          <p:nvPr/>
        </p:nvSpPr>
        <p:spPr>
          <a:xfrm xmlns:a="http://schemas.openxmlformats.org/drawingml/2006/main">
            <a:off x="609600" y="38576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The API calls this field significant.</a:t>
            </a:r>
          </a:p>
        </p:txBody>
      </p:sp>
      <p:sp>
        <p:nvSpPr>
          <p:cNvPr id="5" name="text-4">
            <a:extLst xmlns:a="http://schemas.openxmlformats.org/drawingml/2006/main">
              <a:ext uri="{FF2B5EF4-FFF2-40B4-BE49-F238E27FC236}">
                <a16:creationId xmlns:a16="http://schemas.microsoft.com/office/drawing/2014/main" id="{D5BC19B5-E49D-4AFB-B3DE-9BD454768FA9}"/>
              </a:ext>
            </a:extLst>
          </p:cNvPr>
          <p:cNvSpPr>
            <a:spLocks xmlns:a="http://schemas.openxmlformats.org/drawingml/2006/main" noGrp="1"/>
          </p:cNvSpPr>
          <p:nvPr/>
        </p:nvSpPr>
        <p:spPr>
          <a:xfrm xmlns:a="http://schemas.openxmlformats.org/drawingml/2006/main">
            <a:off x="609600" y="46386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The threshold does not test statistical significance.</a:t>
            </a:r>
          </a:p>
        </p:txBody>
      </p:sp>
      <p:sp>
        <p:nvSpPr>
          <p:cNvPr id="6" name="text-5">
            <a:extLst xmlns:a="http://schemas.openxmlformats.org/drawingml/2006/main">
              <a:ext uri="{FF2B5EF4-FFF2-40B4-BE49-F238E27FC236}">
                <a16:creationId xmlns:a16="http://schemas.microsoft.com/office/drawing/2014/main" id="{2107BDBF-528F-44A7-8C59-D18A8C9F30B2}"/>
              </a:ext>
            </a:extLst>
          </p:cNvPr>
          <p:cNvSpPr>
            <a:spLocks xmlns:a="http://schemas.openxmlformats.org/drawingml/2006/main" noGrp="1"/>
          </p:cNvSpPr>
          <p:nvPr/>
        </p:nvSpPr>
        <p:spPr>
          <a:xfrm xmlns:a="http://schemas.openxmlformats.org/drawingml/2006/main">
            <a:off x="609600" y="54197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It does not account for missingness or serial correlation.</a:t>
            </a:r>
          </a:p>
        </p:txBody>
      </p:sp>
    </p:spTree>
    <p:extLst>
      <p:ext uri="{BB962C8B-B14F-4D97-AF65-F5344CB8AC3E}">
        <p14:creationId xmlns:p14="http://schemas.microsoft.com/office/powerpoint/2010/main" val="20865052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AAE5BD2-FEB6-4BC0-AE33-B2691A9A2C0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Exercise 3: time-series plotting</a:t>
            </a:r>
          </a:p>
        </p:txBody>
      </p:sp>
      <p:sp>
        <p:nvSpPr>
          <p:cNvPr id="2" name="page-number">
            <a:extLst xmlns:a="http://schemas.openxmlformats.org/drawingml/2006/main">
              <a:ext uri="{FF2B5EF4-FFF2-40B4-BE49-F238E27FC236}">
                <a16:creationId xmlns:a16="http://schemas.microsoft.com/office/drawing/2014/main" id="{FB62A83A-4591-4867-8347-53D9CA4B2565}"/>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26</a:t>
            </a:r>
          </a:p>
        </p:txBody>
      </p:sp>
      <p:sp>
        <p:nvSpPr>
          <p:cNvPr id="3" name="text-2">
            <a:extLst xmlns:a="http://schemas.openxmlformats.org/drawingml/2006/main">
              <a:ext uri="{FF2B5EF4-FFF2-40B4-BE49-F238E27FC236}">
                <a16:creationId xmlns:a16="http://schemas.microsoft.com/office/drawing/2014/main" id="{143E2917-339A-4BFF-A772-7CE0DF342CB5}"/>
              </a:ext>
            </a:extLst>
          </p:cNvPr>
          <p:cNvSpPr>
            <a:spLocks xmlns:a="http://schemas.openxmlformats.org/drawingml/2006/main" noGrp="1"/>
          </p:cNvSpPr>
          <p:nvPr/>
        </p:nvSpPr>
        <p:spPr>
          <a:xfrm xmlns:a="http://schemas.openxmlformats.org/drawingml/2006/main">
            <a:off x="609600" y="18954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student_tools.plot_timeseries</a:t>
            </a:r>
          </a:p>
        </p:txBody>
      </p:sp>
      <p:sp>
        <p:nvSpPr>
          <p:cNvPr id="4" name="editable-code">
            <a:extLst xmlns:a="http://schemas.openxmlformats.org/drawingml/2006/main">
              <a:ext uri="{FF2B5EF4-FFF2-40B4-BE49-F238E27FC236}">
                <a16:creationId xmlns:a16="http://schemas.microsoft.com/office/drawing/2014/main" id="{4C7DAF36-445D-432B-8393-A3603414D520}"/>
              </a:ext>
            </a:extLst>
          </p:cNvPr>
          <p:cNvSpPr>
            <a:spLocks xmlns:a="http://schemas.openxmlformats.org/drawingml/2006/main" noGrp="1"/>
          </p:cNvSpPr>
          <p:nvPr/>
        </p:nvSpPr>
        <p:spPr>
          <a:xfrm xmlns:a="http://schemas.openxmlformats.org/drawingml/2006/main">
            <a:off x="609600" y="2590800"/>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20252B"/>
                </a:solidFill>
                <a:latin typeface="Menlo"/>
                <a:ea typeface="Menlo"/>
                <a:cs typeface="Menlo"/>
              </a:defRPr>
            </a:pPr>
            <a:r>
              <a:rPr b="1">
                <a:solidFill>
                  <a:srgbClr val="245891"/>
                </a:solidFill>
                <a:latin typeface="Menlo"/>
                <a:ea typeface="Menlo"/>
                <a:cs typeface="Menlo"/>
              </a:rPr>
              <a:t>def</a:t>
            </a:r>
            <a:r>
              <a:rPr b="0">
                <a:solidFill>
                  <a:srgbClr val="20252B"/>
                </a:solidFill>
                <a:latin typeface="Menlo"/>
                <a:ea typeface="Menlo"/>
                <a:cs typeface="Menlo"/>
              </a:rPr>
              <a:t> plot_timeseries(user_id, metric, start_date, end_date):</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    ax.plot(df[</a:t>
            </a:r>
            <a:r>
              <a:rPr b="0">
                <a:solidFill>
                  <a:srgbClr val="795733"/>
                </a:solidFill>
                <a:latin typeface="Menlo"/>
                <a:ea typeface="Menlo"/>
                <a:cs typeface="Menlo"/>
              </a:rPr>
              <a:t>"date"</a:t>
            </a:r>
            <a:r>
              <a:rPr b="0">
                <a:solidFill>
                  <a:srgbClr val="20252B"/>
                </a:solidFill>
                <a:latin typeface="Menlo"/>
                <a:ea typeface="Menlo"/>
                <a:cs typeface="Menlo"/>
              </a:rPr>
              <a:t>], df[canonical], marker=</a:t>
            </a:r>
            <a:r>
              <a:rPr b="0">
                <a:solidFill>
                  <a:srgbClr val="795733"/>
                </a:solidFill>
                <a:latin typeface="Menlo"/>
                <a:ea typeface="Menlo"/>
                <a:cs typeface="Menlo"/>
              </a:rPr>
              <a:t>"o"</a:t>
            </a:r>
            <a:r>
              <a:rPr b="0">
                <a:solidFill>
                  <a:srgbClr val="20252B"/>
                </a:solidFill>
                <a:latin typeface="Menlo"/>
                <a:ea typeface="Menlo"/>
                <a:cs typeface="Menlo"/>
              </a:rPr>
              <a:t>, ms=3)</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    ax.set_xlabel(</a:t>
            </a:r>
            <a:r>
              <a:rPr b="0">
                <a:solidFill>
                  <a:srgbClr val="795733"/>
                </a:solidFill>
                <a:latin typeface="Menlo"/>
                <a:ea typeface="Menlo"/>
                <a:cs typeface="Menlo"/>
              </a:rPr>
              <a:t>"Date"</a:t>
            </a:r>
            <a:r>
              <a:rPr b="0">
                <a:solidFill>
                  <a:srgbClr val="20252B"/>
                </a:solidFill>
                <a:latin typeface="Menlo"/>
                <a:ea typeface="Menlo"/>
                <a:cs typeface="Menlo"/>
              </a:rPr>
              <a:t>)</a:t>
            </a:r>
          </a:p>
          <a:p xmlns:a="http://schemas.openxmlformats.org/drawingml/2006/main">
            <a:pPr algn="l">
              <a:defRPr sz="1950" b="0">
                <a:solidFill>
                  <a:srgbClr val="20252B"/>
                </a:solidFill>
                <a:latin typeface="Menlo"/>
                <a:ea typeface="Menlo"/>
                <a:cs typeface="Menlo"/>
              </a:defRPr>
            </a:pPr>
            <a:r>
              <a:rPr b="0">
                <a:solidFill>
                  <a:srgbClr val="20252B"/>
                </a:solidFill>
                <a:latin typeface="Menlo"/>
                <a:ea typeface="Menlo"/>
                <a:cs typeface="Menlo"/>
              </a:rPr>
              <a:t>    ax.set_ylabel(CATALOG.unit_for(canonical))</a:t>
            </a:r>
          </a:p>
        </p:txBody>
      </p:sp>
      <p:sp>
        <p:nvSpPr>
          <p:cNvPr id="5" name="text-4">
            <a:extLst xmlns:a="http://schemas.openxmlformats.org/drawingml/2006/main">
              <a:ext uri="{FF2B5EF4-FFF2-40B4-BE49-F238E27FC236}">
                <a16:creationId xmlns:a16="http://schemas.microsoft.com/office/drawing/2014/main" id="{6845D82E-AD94-48A1-A80A-3ADD14334337}"/>
              </a:ext>
            </a:extLst>
          </p:cNvPr>
          <p:cNvSpPr>
            <a:spLocks xmlns:a="http://schemas.openxmlformats.org/drawingml/2006/main" noGrp="1"/>
          </p:cNvSpPr>
          <p:nvPr/>
        </p:nvSpPr>
        <p:spPr>
          <a:xfrm xmlns:a="http://schemas.openxmlformats.org/drawingml/2006/main">
            <a:off x="609600" y="4876800"/>
            <a:ext cx="10810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0">
                <a:solidFill>
                  <a:srgbClr val="646B73"/>
                </a:solidFill>
                <a:latin typeface="Helvetica Neue"/>
                <a:ea typeface="Helvetica Neue"/>
                <a:cs typeface="Helvetica Neue"/>
              </a:defRPr>
            </a:pPr>
            <a:r>
              <a:rPr sz="2475" b="0">
                <a:solidFill>
                  <a:srgbClr val="646B73"/>
                </a:solidFill>
                <a:latin typeface="Helvetica Neue"/>
                <a:ea typeface="Helvetica Neue"/>
                <a:cs typeface="Helvetica Neue"/>
              </a:rPr>
              <a:t>The scaffold provides a complete daily calendar.</a:t>
            </a:r>
          </a:p>
          <a:p xmlns:a="http://schemas.openxmlformats.org/drawingml/2006/main">
            <a:pPr algn="l">
              <a:defRPr sz="2475" b="0">
                <a:solidFill>
                  <a:srgbClr val="646B73"/>
                </a:solidFill>
                <a:latin typeface="Helvetica Neue"/>
                <a:ea typeface="Helvetica Neue"/>
                <a:cs typeface="Helvetica Neue"/>
              </a:defRPr>
            </a:pPr>
            <a:r>
              <a:rPr sz="2475" b="0">
                <a:solidFill>
                  <a:srgbClr val="646B73"/>
                </a:solidFill>
                <a:latin typeface="Helvetica Neue"/>
                <a:ea typeface="Helvetica Neue"/>
                <a:cs typeface="Helvetica Neue"/>
              </a:rPr>
              <a:t>Leave missing measurements as NaN so the line has gaps.</a:t>
            </a:r>
          </a:p>
        </p:txBody>
      </p:sp>
    </p:spTree>
    <p:extLst>
      <p:ext uri="{BB962C8B-B14F-4D97-AF65-F5344CB8AC3E}">
        <p14:creationId xmlns:p14="http://schemas.microsoft.com/office/powerpoint/2010/main" val="46741293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32C3949-228F-44B9-8C29-9CF5AC151BE3}"/>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Daily sleep with missing observations</a:t>
            </a:r>
          </a:p>
        </p:txBody>
      </p:sp>
      <p:sp>
        <p:nvSpPr>
          <p:cNvPr id="2" name="page-number">
            <a:extLst xmlns:a="http://schemas.openxmlformats.org/drawingml/2006/main">
              <a:ext uri="{FF2B5EF4-FFF2-40B4-BE49-F238E27FC236}">
                <a16:creationId xmlns:a16="http://schemas.microsoft.com/office/drawing/2014/main" id="{7F9B806C-328D-4915-8B5F-B834EBA76C6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46319c5c804e8d"/>
          <a:stretch xmlns:a="http://schemas.openxmlformats.org/drawingml/2006/main"/>
        </p:blipFill>
        <p:spPr>
          <a:xfrm xmlns:a="http://schemas.openxmlformats.org/drawingml/2006/main">
            <a:off x="1181100" y="1704975"/>
            <a:ext cx="9734550" cy="41719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3B5C4344-6982-4BB1-B7D0-8B151D514F29}"/>
              </a:ext>
            </a:extLst>
          </p:cNvPr>
          <p:cNvSpPr>
            <a:spLocks xmlns:a="http://schemas.openxmlformats.org/drawingml/2006/main" noGrp="1"/>
          </p:cNvSpPr>
          <p:nvPr/>
        </p:nvSpPr>
        <p:spPr>
          <a:xfrm xmlns:a="http://schemas.openxmlformats.org/drawingml/2006/main">
            <a:off x="609600" y="601980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25 measured days across 28 calendar dates. Missing: May 12, 27 and 28.</a:t>
            </a:r>
          </a:p>
        </p:txBody>
      </p:sp>
    </p:spTree>
    <p:extLst>
      <p:ext uri="{BB962C8B-B14F-4D97-AF65-F5344CB8AC3E}">
        <p14:creationId xmlns:p14="http://schemas.microsoft.com/office/powerpoint/2010/main" val="20905180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ge-number">
            <a:extLst xmlns:a="http://schemas.openxmlformats.org/drawingml/2006/main">
              <a:ext uri="{FF2B5EF4-FFF2-40B4-BE49-F238E27FC236}">
                <a16:creationId xmlns:a16="http://schemas.microsoft.com/office/drawing/2014/main" id="{BD9DF00D-FB6E-4A85-881F-F3EA398026B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28</a:t>
            </a:r>
          </a:p>
        </p:txBody>
      </p:sp>
      <p:sp>
        <p:nvSpPr>
          <p:cNvPr id="2" name="text-1">
            <a:extLst xmlns:a="http://schemas.openxmlformats.org/drawingml/2006/main">
              <a:ext uri="{FF2B5EF4-FFF2-40B4-BE49-F238E27FC236}">
                <a16:creationId xmlns:a16="http://schemas.microsoft.com/office/drawing/2014/main" id="{E427B5DE-0495-449F-8071-AFAA1BBA5756}"/>
              </a:ext>
            </a:extLst>
          </p:cNvPr>
          <p:cNvSpPr>
            <a:spLocks xmlns:a="http://schemas.openxmlformats.org/drawingml/2006/main" noGrp="1"/>
          </p:cNvSpPr>
          <p:nvPr/>
        </p:nvSpPr>
        <p:spPr>
          <a:xfrm xmlns:a="http://schemas.openxmlformats.org/drawingml/2006/main">
            <a:off x="609600" y="20383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6600" b="0">
                <a:solidFill>
                  <a:srgbClr val="20252B"/>
                </a:solidFill>
                <a:latin typeface="Helvetica Neue"/>
                <a:ea typeface="Helvetica Neue"/>
                <a:cs typeface="Helvetica Neue"/>
              </a:defRPr>
            </a:pPr>
            <a:r>
              <a:rPr sz="6600" b="0">
                <a:solidFill>
                  <a:srgbClr val="20252B"/>
                </a:solidFill>
                <a:latin typeface="Helvetica Neue"/>
                <a:ea typeface="Helvetica Neue"/>
                <a:cs typeface="Helvetica Neue"/>
              </a:rPr>
              <a:t>Break</a:t>
            </a:r>
          </a:p>
        </p:txBody>
      </p:sp>
      <p:sp>
        <p:nvSpPr>
          <p:cNvPr id="3" name="text-2">
            <a:extLst xmlns:a="http://schemas.openxmlformats.org/drawingml/2006/main">
              <a:ext uri="{FF2B5EF4-FFF2-40B4-BE49-F238E27FC236}">
                <a16:creationId xmlns:a16="http://schemas.microsoft.com/office/drawing/2014/main" id="{26C72F72-72C3-4FE7-BC8F-B77B680909AA}"/>
              </a:ext>
            </a:extLst>
          </p:cNvPr>
          <p:cNvSpPr>
            <a:spLocks xmlns:a="http://schemas.openxmlformats.org/drawingml/2006/main" noGrp="1"/>
          </p:cNvSpPr>
          <p:nvPr/>
        </p:nvSpPr>
        <p:spPr>
          <a:xfrm xmlns:a="http://schemas.openxmlformats.org/drawingml/2006/main">
            <a:off x="647700" y="3771900"/>
            <a:ext cx="981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0">
                <a:solidFill>
                  <a:srgbClr val="646B73"/>
                </a:solidFill>
                <a:latin typeface="Helvetica Neue"/>
                <a:ea typeface="Helvetica Neue"/>
                <a:cs typeface="Helvetica Neue"/>
              </a:defRPr>
            </a:pPr>
            <a:r>
              <a:rPr sz="3150" b="0">
                <a:solidFill>
                  <a:srgbClr val="646B73"/>
                </a:solidFill>
                <a:latin typeface="Helvetica Neue"/>
                <a:ea typeface="Helvetica Neue"/>
                <a:cs typeface="Helvetica Neue"/>
              </a:rPr>
              <a:t>30 minutes</a:t>
            </a:r>
          </a:p>
        </p:txBody>
      </p:sp>
      <p:sp>
        <p:nvSpPr>
          <p:cNvPr id="4" name="text-3">
            <a:extLst xmlns:a="http://schemas.openxmlformats.org/drawingml/2006/main">
              <a:ext uri="{FF2B5EF4-FFF2-40B4-BE49-F238E27FC236}">
                <a16:creationId xmlns:a16="http://schemas.microsoft.com/office/drawing/2014/main" id="{91C4CA7D-32CC-4B33-9BB5-E47C88CC3CC1}"/>
              </a:ext>
            </a:extLst>
          </p:cNvPr>
          <p:cNvSpPr>
            <a:spLocks xmlns:a="http://schemas.openxmlformats.org/drawingml/2006/main" noGrp="1"/>
          </p:cNvSpPr>
          <p:nvPr/>
        </p:nvSpPr>
        <p:spPr>
          <a:xfrm xmlns:a="http://schemas.openxmlformats.org/drawingml/2006/main">
            <a:off x="647700" y="56578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646B73"/>
                </a:solidFill>
                <a:latin typeface="Helvetica Neue"/>
                <a:ea typeface="Helvetica Neue"/>
                <a:cs typeface="Helvetica Neue"/>
              </a:defRPr>
            </a:pPr>
            <a:r>
              <a:rPr sz="2175" b="0">
                <a:solidFill>
                  <a:srgbClr val="646B73"/>
                </a:solidFill>
                <a:latin typeface="Helvetica Neue"/>
                <a:ea typeface="Helvetica Neue"/>
                <a:cs typeface="Helvetica Neue"/>
              </a:rPr>
              <a:t>Next: registering the tools and running the agent</a:t>
            </a:r>
          </a:p>
        </p:txBody>
      </p:sp>
    </p:spTree>
    <p:extLst>
      <p:ext uri="{BB962C8B-B14F-4D97-AF65-F5344CB8AC3E}">
        <p14:creationId xmlns:p14="http://schemas.microsoft.com/office/powerpoint/2010/main" val="14343267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E86661F9-A355-4CCD-A35E-DC127CE32D9D}"/>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29</a:t>
            </a:r>
          </a:p>
        </p:txBody>
      </p:sp>
      <p:sp>
        <p:nvSpPr>
          <p:cNvPr id="2" name="text-1">
            <a:extLst xmlns:a="http://schemas.openxmlformats.org/drawingml/2006/main">
              <a:ext uri="{FF2B5EF4-FFF2-40B4-BE49-F238E27FC236}">
                <a16:creationId xmlns:a16="http://schemas.microsoft.com/office/drawing/2014/main" id="{04733166-612D-4E92-B5A4-F310F4A7FABE}"/>
              </a:ext>
            </a:extLst>
          </p:cNvPr>
          <p:cNvSpPr>
            <a:spLocks xmlns:a="http://schemas.openxmlformats.org/drawingml/2006/main" noGrp="1"/>
          </p:cNvSpPr>
          <p:nvPr/>
        </p:nvSpPr>
        <p:spPr>
          <a:xfrm xmlns:a="http://schemas.openxmlformats.org/drawingml/2006/main">
            <a:off x="609600" y="8763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Module 4</a:t>
            </a:r>
          </a:p>
        </p:txBody>
      </p:sp>
      <p:sp>
        <p:nvSpPr>
          <p:cNvPr id="3" name="text-2">
            <a:extLst xmlns:a="http://schemas.openxmlformats.org/drawingml/2006/main">
              <a:ext uri="{FF2B5EF4-FFF2-40B4-BE49-F238E27FC236}">
                <a16:creationId xmlns:a16="http://schemas.microsoft.com/office/drawing/2014/main" id="{FA41B420-9E8C-49C1-8F38-E61032329E67}"/>
              </a:ext>
            </a:extLst>
          </p:cNvPr>
          <p:cNvSpPr>
            <a:spLocks xmlns:a="http://schemas.openxmlformats.org/drawingml/2006/main" noGrp="1"/>
          </p:cNvSpPr>
          <p:nvPr/>
        </p:nvSpPr>
        <p:spPr>
          <a:xfrm xmlns:a="http://schemas.openxmlformats.org/drawingml/2006/main">
            <a:off x="609600" y="19431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550" b="0">
                <a:solidFill>
                  <a:srgbClr val="20252B"/>
                </a:solidFill>
                <a:latin typeface="Helvetica Neue"/>
                <a:ea typeface="Helvetica Neue"/>
                <a:cs typeface="Helvetica Neue"/>
              </a:defRPr>
            </a:pPr>
            <a:r>
              <a:rPr sz="5550" b="0">
                <a:solidFill>
                  <a:srgbClr val="20252B"/>
                </a:solidFill>
                <a:latin typeface="Helvetica Neue"/>
                <a:ea typeface="Helvetica Neue"/>
                <a:cs typeface="Helvetica Neue"/>
              </a:rPr>
              <a:t>Agent configuration</a:t>
            </a:r>
          </a:p>
        </p:txBody>
      </p:sp>
      <p:sp>
        <p:nvSpPr>
          <p:cNvPr id="4" name="text-3">
            <a:extLst xmlns:a="http://schemas.openxmlformats.org/drawingml/2006/main">
              <a:ext uri="{FF2B5EF4-FFF2-40B4-BE49-F238E27FC236}">
                <a16:creationId xmlns:a16="http://schemas.microsoft.com/office/drawing/2014/main" id="{ED45ACC7-054E-4ACD-BC2D-20EBD9BDDB99}"/>
              </a:ext>
            </a:extLst>
          </p:cNvPr>
          <p:cNvSpPr>
            <a:spLocks xmlns:a="http://schemas.openxmlformats.org/drawingml/2006/main" noGrp="1"/>
          </p:cNvSpPr>
          <p:nvPr/>
        </p:nvSpPr>
        <p:spPr>
          <a:xfrm xmlns:a="http://schemas.openxmlformats.org/drawingml/2006/main">
            <a:off x="647700" y="3800475"/>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ha_workshop/agent_config.py</a:t>
            </a:r>
          </a:p>
        </p:txBody>
      </p:sp>
      <p:sp>
        <p:nvSpPr>
          <p:cNvPr id="5" name="text-4">
            <a:extLst xmlns:a="http://schemas.openxmlformats.org/drawingml/2006/main">
              <a:ext uri="{FF2B5EF4-FFF2-40B4-BE49-F238E27FC236}">
                <a16:creationId xmlns:a16="http://schemas.microsoft.com/office/drawing/2014/main" id="{FDEE4695-FE6B-4CA9-898B-FA43B9668B2C}"/>
              </a:ext>
            </a:extLst>
          </p:cNvPr>
          <p:cNvSpPr>
            <a:spLocks xmlns:a="http://schemas.openxmlformats.org/drawingml/2006/main" noGrp="1"/>
          </p:cNvSpPr>
          <p:nvPr/>
        </p:nvSpPr>
        <p:spPr>
          <a:xfrm xmlns:a="http://schemas.openxmlformats.org/drawingml/2006/main">
            <a:off x="647700" y="5791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45 minutes</a:t>
            </a:r>
          </a:p>
        </p:txBody>
      </p:sp>
    </p:spTree>
    <p:extLst>
      <p:ext uri="{BB962C8B-B14F-4D97-AF65-F5344CB8AC3E}">
        <p14:creationId xmlns:p14="http://schemas.microsoft.com/office/powerpoint/2010/main" val="3593777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812DF1F-B6C2-4A9F-85F5-784B58D8E41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Agent loop</a:t>
            </a:r>
          </a:p>
        </p:txBody>
      </p:sp>
      <p:sp>
        <p:nvSpPr>
          <p:cNvPr id="2" name="page-number">
            <a:extLst xmlns:a="http://schemas.openxmlformats.org/drawingml/2006/main">
              <a:ext uri="{FF2B5EF4-FFF2-40B4-BE49-F238E27FC236}">
                <a16:creationId xmlns:a16="http://schemas.microsoft.com/office/drawing/2014/main" id="{E0434970-7BB7-47AD-9ECC-1C275407104D}"/>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30</a:t>
            </a:r>
          </a:p>
        </p:txBody>
      </p:sp>
      <p:sp>
        <p:nvSpPr>
          <p:cNvPr id="3" name="editable-code">
            <a:extLst xmlns:a="http://schemas.openxmlformats.org/drawingml/2006/main">
              <a:ext uri="{FF2B5EF4-FFF2-40B4-BE49-F238E27FC236}">
                <a16:creationId xmlns:a16="http://schemas.microsoft.com/office/drawing/2014/main" id="{DB4B7BE8-DB29-4880-838F-78933DE96244}"/>
              </a:ext>
            </a:extLst>
          </p:cNvPr>
          <p:cNvSpPr>
            <a:spLocks xmlns:a="http://schemas.openxmlformats.org/drawingml/2006/main" noGrp="1"/>
          </p:cNvSpPr>
          <p:nvPr/>
        </p:nvSpPr>
        <p:spPr>
          <a:xfrm xmlns:a="http://schemas.openxmlformats.org/drawingml/2006/main">
            <a:off x="609600" y="1971675"/>
            <a:ext cx="10953750" cy="353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for</a:t>
            </a:r>
            <a:r>
              <a:rPr b="0">
                <a:solidFill>
                  <a:srgbClr val="20252B"/>
                </a:solidFill>
                <a:latin typeface="Menlo"/>
                <a:ea typeface="Menlo"/>
                <a:cs typeface="Menlo"/>
              </a:rPr>
              <a:t> step </a:t>
            </a:r>
            <a:r>
              <a:rPr b="1">
                <a:solidFill>
                  <a:srgbClr val="245891"/>
                </a:solidFill>
                <a:latin typeface="Menlo"/>
                <a:ea typeface="Menlo"/>
                <a:cs typeface="Menlo"/>
              </a:rPr>
              <a:t>in</a:t>
            </a:r>
            <a:r>
              <a:rPr b="0">
                <a:solidFill>
                  <a:srgbClr val="20252B"/>
                </a:solidFill>
                <a:latin typeface="Menlo"/>
                <a:ea typeface="Menlo"/>
                <a:cs typeface="Menlo"/>
              </a:rPr>
              <a:t> range(max_steps):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response = client.chat(messages, tools=schemas)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a:t>
            </a:r>
            <a:r>
              <a:rPr b="1">
                <a:solidFill>
                  <a:srgbClr val="245891"/>
                </a:solidFill>
                <a:latin typeface="Menlo"/>
                <a:ea typeface="Menlo"/>
                <a:cs typeface="Menlo"/>
              </a:rPr>
              <a:t>if</a:t>
            </a:r>
            <a:r>
              <a:rPr b="0">
                <a:solidFill>
                  <a:srgbClr val="20252B"/>
                </a:solidFill>
                <a:latin typeface="Menlo"/>
                <a:ea typeface="Menlo"/>
                <a:cs typeface="Menlo"/>
              </a:rPr>
              <a:t> </a:t>
            </a:r>
            <a:r>
              <a:rPr b="1">
                <a:solidFill>
                  <a:srgbClr val="245891"/>
                </a:solidFill>
                <a:latin typeface="Menlo"/>
                <a:ea typeface="Menlo"/>
                <a:cs typeface="Menlo"/>
              </a:rPr>
              <a:t>not</a:t>
            </a:r>
            <a:r>
              <a:rPr b="0">
                <a:solidFill>
                  <a:srgbClr val="20252B"/>
                </a:solidFill>
                <a:latin typeface="Menlo"/>
                <a:ea typeface="Menlo"/>
                <a:cs typeface="Menlo"/>
              </a:rPr>
              <a:t> response.tool_calls: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a:t>
            </a:r>
            <a:r>
              <a:rPr b="1">
                <a:solidFill>
                  <a:srgbClr val="245891"/>
                </a:solidFill>
                <a:latin typeface="Menlo"/>
                <a:ea typeface="Menlo"/>
                <a:cs typeface="Menlo"/>
              </a:rPr>
              <a:t>return</a:t>
            </a:r>
            <a:r>
              <a:rPr b="0">
                <a:solidFill>
                  <a:srgbClr val="20252B"/>
                </a:solidFill>
                <a:latin typeface="Menlo"/>
                <a:ea typeface="Menlo"/>
                <a:cs typeface="Menlo"/>
              </a:rPr>
              <a:t> checked_answer(response, evidence)</a:t>
            </a:r>
          </a:p>
          <a:p xmlns:a="http://schemas.openxmlformats.org/drawingml/2006/main">
            <a:pPr algn="l">
              <a:defRPr sz="2025" b="0">
                <a:solidFill>
                  <a:srgbClr val="20252B"/>
                </a:solidFill>
                <a:latin typeface="Menlo"/>
                <a:ea typeface="Menlo"/>
                <a:cs typeface="Menlo"/>
              </a:defRPr>
            </a:pP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a:t>
            </a:r>
            <a:r>
              <a:rPr b="1">
                <a:solidFill>
                  <a:srgbClr val="245891"/>
                </a:solidFill>
                <a:latin typeface="Menlo"/>
                <a:ea typeface="Menlo"/>
                <a:cs typeface="Menlo"/>
              </a:rPr>
              <a:t>for</a:t>
            </a:r>
            <a:r>
              <a:rPr b="0">
                <a:solidFill>
                  <a:srgbClr val="20252B"/>
                </a:solidFill>
                <a:latin typeface="Menlo"/>
                <a:ea typeface="Menlo"/>
                <a:cs typeface="Menlo"/>
              </a:rPr>
              <a:t> call </a:t>
            </a:r>
            <a:r>
              <a:rPr b="1">
                <a:solidFill>
                  <a:srgbClr val="245891"/>
                </a:solidFill>
                <a:latin typeface="Menlo"/>
                <a:ea typeface="Menlo"/>
                <a:cs typeface="Menlo"/>
              </a:rPr>
              <a:t>in</a:t>
            </a:r>
            <a:r>
              <a:rPr b="0">
                <a:solidFill>
                  <a:srgbClr val="20252B"/>
                </a:solidFill>
                <a:latin typeface="Menlo"/>
                <a:ea typeface="Menlo"/>
                <a:cs typeface="Menlo"/>
              </a:rPr>
              <a:t> response.tool_calls: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result = registry.call(call.name, **call.args)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messages.append(observe(client, call, result))</a:t>
            </a:r>
          </a:p>
        </p:txBody>
      </p:sp>
      <p:sp>
        <p:nvSpPr>
          <p:cNvPr id="4" name="text-3">
            <a:extLst xmlns:a="http://schemas.openxmlformats.org/drawingml/2006/main">
              <a:ext uri="{FF2B5EF4-FFF2-40B4-BE49-F238E27FC236}">
                <a16:creationId xmlns:a16="http://schemas.microsoft.com/office/drawing/2014/main" id="{AB223D8F-E157-4D14-B25B-5DF092D4F158}"/>
              </a:ext>
            </a:extLst>
          </p:cNvPr>
          <p:cNvSpPr>
            <a:spLocks xmlns:a="http://schemas.openxmlformats.org/drawingml/2006/main" noGrp="1"/>
          </p:cNvSpPr>
          <p:nvPr/>
        </p:nvSpPr>
        <p:spPr>
          <a:xfrm xmlns:a="http://schemas.openxmlformats.org/drawingml/2006/main">
            <a:off x="609600" y="588645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Simplified pseudocode. The notebook displays the full implementation.</a:t>
            </a:r>
          </a:p>
        </p:txBody>
      </p:sp>
    </p:spTree>
    <p:extLst>
      <p:ext uri="{BB962C8B-B14F-4D97-AF65-F5344CB8AC3E}">
        <p14:creationId xmlns:p14="http://schemas.microsoft.com/office/powerpoint/2010/main" val="124383296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3A687CB-A154-4E7D-AD62-7EA1412F5FBA}"/>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1. Tool registration</a:t>
            </a:r>
          </a:p>
        </p:txBody>
      </p:sp>
      <p:sp>
        <p:nvSpPr>
          <p:cNvPr id="2" name="page-number">
            <a:extLst xmlns:a="http://schemas.openxmlformats.org/drawingml/2006/main">
              <a:ext uri="{FF2B5EF4-FFF2-40B4-BE49-F238E27FC236}">
                <a16:creationId xmlns:a16="http://schemas.microsoft.com/office/drawing/2014/main" id="{7D7CF268-A631-41DB-B2D6-1297F3A73E55}"/>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31</a:t>
            </a:r>
          </a:p>
        </p:txBody>
      </p:sp>
      <p:sp>
        <p:nvSpPr>
          <p:cNvPr id="3" name="editable-code">
            <a:extLst xmlns:a="http://schemas.openxmlformats.org/drawingml/2006/main">
              <a:ext uri="{FF2B5EF4-FFF2-40B4-BE49-F238E27FC236}">
                <a16:creationId xmlns:a16="http://schemas.microsoft.com/office/drawing/2014/main" id="{01662128-3823-418E-9CD9-5F9F03ACDD42}"/>
              </a:ext>
            </a:extLst>
          </p:cNvPr>
          <p:cNvSpPr>
            <a:spLocks xmlns:a="http://schemas.openxmlformats.org/drawingml/2006/main" noGrp="1"/>
          </p:cNvSpPr>
          <p:nvPr/>
        </p:nvSpPr>
        <p:spPr>
          <a:xfrm xmlns:a="http://schemas.openxmlformats.org/drawingml/2006/main">
            <a:off x="609600" y="2095500"/>
            <a:ext cx="1095375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WORKSHOP_TOOLS = [</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retrieval.query_sleep,</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student_tools.query_screen_time,</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student_tools.detect_change,</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student_tools.plot_timeseries,</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a:t>
            </a:r>
          </a:p>
        </p:txBody>
      </p:sp>
      <p:sp>
        <p:nvSpPr>
          <p:cNvPr id="4" name="text-3">
            <a:extLst xmlns:a="http://schemas.openxmlformats.org/drawingml/2006/main">
              <a:ext uri="{FF2B5EF4-FFF2-40B4-BE49-F238E27FC236}">
                <a16:creationId xmlns:a16="http://schemas.microsoft.com/office/drawing/2014/main" id="{691E9316-C87B-4829-9C9E-D1DF514E00D4}"/>
              </a:ext>
            </a:extLst>
          </p:cNvPr>
          <p:cNvSpPr>
            <a:spLocks xmlns:a="http://schemas.openxmlformats.org/drawingml/2006/main" noGrp="1"/>
          </p:cNvSpPr>
          <p:nvPr/>
        </p:nvSpPr>
        <p:spPr>
          <a:xfrm xmlns:a="http://schemas.openxmlformats.org/drawingml/2006/main">
            <a:off x="609600" y="57816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646B73"/>
                </a:solidFill>
                <a:latin typeface="Helvetica Neue"/>
                <a:ea typeface="Helvetica Neue"/>
                <a:cs typeface="Helvetica Neue"/>
              </a:defRPr>
            </a:pPr>
            <a:r>
              <a:rPr sz="2175" b="0">
                <a:solidFill>
                  <a:srgbClr val="646B73"/>
                </a:solidFill>
                <a:latin typeface="Helvetica Neue"/>
                <a:ea typeface="Helvetica Neue"/>
                <a:cs typeface="Helvetica Neue"/>
              </a:rPr>
              <a:t>compare_window and correlate_metrics are preinstalled.</a:t>
            </a:r>
          </a:p>
        </p:txBody>
      </p:sp>
    </p:spTree>
    <p:extLst>
      <p:ext uri="{BB962C8B-B14F-4D97-AF65-F5344CB8AC3E}">
        <p14:creationId xmlns:p14="http://schemas.microsoft.com/office/powerpoint/2010/main" val="62991253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C47E353-3945-4012-9550-F17C799264B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2. Tool-result messages</a:t>
            </a:r>
          </a:p>
        </p:txBody>
      </p:sp>
      <p:sp>
        <p:nvSpPr>
          <p:cNvPr id="2" name="page-number">
            <a:extLst xmlns:a="http://schemas.openxmlformats.org/drawingml/2006/main">
              <a:ext uri="{FF2B5EF4-FFF2-40B4-BE49-F238E27FC236}">
                <a16:creationId xmlns:a16="http://schemas.microsoft.com/office/drawing/2014/main" id="{3AF4304C-42D1-4128-836D-32E6522B0E5B}"/>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32</a:t>
            </a:r>
          </a:p>
        </p:txBody>
      </p:sp>
      <p:sp>
        <p:nvSpPr>
          <p:cNvPr id="3" name="editable-code">
            <a:extLst xmlns:a="http://schemas.openxmlformats.org/drawingml/2006/main">
              <a:ext uri="{FF2B5EF4-FFF2-40B4-BE49-F238E27FC236}">
                <a16:creationId xmlns:a16="http://schemas.microsoft.com/office/drawing/2014/main" id="{B43F283D-92E4-430B-B67A-8272F196CD8A}"/>
              </a:ext>
            </a:extLst>
          </p:cNvPr>
          <p:cNvSpPr>
            <a:spLocks xmlns:a="http://schemas.openxmlformats.org/drawingml/2006/main" noGrp="1"/>
          </p:cNvSpPr>
          <p:nvPr/>
        </p:nvSpPr>
        <p:spPr>
          <a:xfrm xmlns:a="http://schemas.openxmlformats.org/drawingml/2006/main">
            <a:off x="609600" y="2133600"/>
            <a:ext cx="109537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Menlo"/>
                <a:ea typeface="Menlo"/>
                <a:cs typeface="Menlo"/>
              </a:defRPr>
            </a:pPr>
            <a:r>
              <a:rPr b="1">
                <a:solidFill>
                  <a:srgbClr val="245891"/>
                </a:solidFill>
                <a:latin typeface="Menlo"/>
                <a:ea typeface="Menlo"/>
                <a:cs typeface="Menlo"/>
              </a:rPr>
              <a:t>def</a:t>
            </a:r>
            <a:r>
              <a:rPr b="0">
                <a:solidFill>
                  <a:srgbClr val="20252B"/>
                </a:solidFill>
                <a:latin typeface="Menlo"/>
                <a:ea typeface="Menlo"/>
                <a:cs typeface="Menlo"/>
              </a:rPr>
              <a:t> observe(client, tool_call, result):</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a:t>
            </a:r>
            <a:r>
              <a:rPr b="1">
                <a:solidFill>
                  <a:srgbClr val="245891"/>
                </a:solidFill>
                <a:latin typeface="Menlo"/>
                <a:ea typeface="Menlo"/>
                <a:cs typeface="Menlo"/>
              </a:rPr>
              <a:t>return</a:t>
            </a:r>
            <a:r>
              <a:rPr b="0">
                <a:solidFill>
                  <a:srgbClr val="20252B"/>
                </a:solidFill>
                <a:latin typeface="Menlo"/>
                <a:ea typeface="Menlo"/>
                <a:cs typeface="Menlo"/>
              </a:rPr>
              <a:t> client.serialize_tool_result(</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tool_call, result</a:t>
            </a:r>
          </a:p>
          <a:p xmlns:a="http://schemas.openxmlformats.org/drawingml/2006/main">
            <a:pPr algn="l">
              <a:defRPr sz="2325" b="0">
                <a:solidFill>
                  <a:srgbClr val="20252B"/>
                </a:solidFill>
                <a:latin typeface="Menlo"/>
                <a:ea typeface="Menlo"/>
                <a:cs typeface="Menlo"/>
              </a:defRPr>
            </a:pPr>
            <a:r>
              <a:rPr b="0">
                <a:solidFill>
                  <a:srgbClr val="20252B"/>
                </a:solidFill>
                <a:latin typeface="Menlo"/>
                <a:ea typeface="Menlo"/>
                <a:cs typeface="Menlo"/>
              </a:rPr>
              <a:t>    )</a:t>
            </a:r>
          </a:p>
        </p:txBody>
      </p:sp>
      <p:sp>
        <p:nvSpPr>
          <p:cNvPr id="4" name="text-3">
            <a:extLst xmlns:a="http://schemas.openxmlformats.org/drawingml/2006/main">
              <a:ext uri="{FF2B5EF4-FFF2-40B4-BE49-F238E27FC236}">
                <a16:creationId xmlns:a16="http://schemas.microsoft.com/office/drawing/2014/main" id="{A3C9F5F4-5A06-41B4-A21B-130DC9A18697}"/>
              </a:ext>
            </a:extLst>
          </p:cNvPr>
          <p:cNvSpPr>
            <a:spLocks xmlns:a="http://schemas.openxmlformats.org/drawingml/2006/main" noGrp="1"/>
          </p:cNvSpPr>
          <p:nvPr/>
        </p:nvSpPr>
        <p:spPr>
          <a:xfrm xmlns:a="http://schemas.openxmlformats.org/drawingml/2006/main">
            <a:off x="609600" y="48768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0">
                <a:solidFill>
                  <a:srgbClr val="646B73"/>
                </a:solidFill>
                <a:latin typeface="Helvetica Neue"/>
                <a:ea typeface="Helvetica Neue"/>
                <a:cs typeface="Helvetica Neue"/>
              </a:defRPr>
            </a:pPr>
            <a:r>
              <a:rPr sz="2775" b="0">
                <a:solidFill>
                  <a:srgbClr val="646B73"/>
                </a:solidFill>
                <a:latin typeface="Helvetica Neue"/>
                <a:ea typeface="Helvetica Neue"/>
                <a:cs typeface="Helvetica Neue"/>
              </a:rPr>
              <a:t>observe() sends the result back to the model.</a:t>
            </a:r>
          </a:p>
        </p:txBody>
      </p:sp>
    </p:spTree>
    <p:extLst>
      <p:ext uri="{BB962C8B-B14F-4D97-AF65-F5344CB8AC3E}">
        <p14:creationId xmlns:p14="http://schemas.microsoft.com/office/powerpoint/2010/main" val="138943500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08E4486-FAE2-443F-B5FA-43AE4E1A4FC2}"/>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3. Grounding and refusal checks</a:t>
            </a:r>
          </a:p>
        </p:txBody>
      </p:sp>
      <p:sp>
        <p:nvSpPr>
          <p:cNvPr id="2" name="page-number">
            <a:extLst xmlns:a="http://schemas.openxmlformats.org/drawingml/2006/main">
              <a:ext uri="{FF2B5EF4-FFF2-40B4-BE49-F238E27FC236}">
                <a16:creationId xmlns:a16="http://schemas.microsoft.com/office/drawing/2014/main" id="{7176C90C-4089-4854-937B-4463F31E219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33</a:t>
            </a:r>
          </a:p>
        </p:txBody>
      </p:sp>
      <p:sp>
        <p:nvSpPr>
          <p:cNvPr id="3" name="editable-code">
            <a:extLst xmlns:a="http://schemas.openxmlformats.org/drawingml/2006/main">
              <a:ext uri="{FF2B5EF4-FFF2-40B4-BE49-F238E27FC236}">
                <a16:creationId xmlns:a16="http://schemas.microsoft.com/office/drawing/2014/main" id="{5FD3A5B1-7042-4AD3-8E9D-136791269898}"/>
              </a:ext>
            </a:extLst>
          </p:cNvPr>
          <p:cNvSpPr>
            <a:spLocks xmlns:a="http://schemas.openxmlformats.org/drawingml/2006/main" noGrp="1"/>
          </p:cNvSpPr>
          <p:nvPr/>
        </p:nvSpPr>
        <p:spPr>
          <a:xfrm xmlns:a="http://schemas.openxmlformats.org/drawingml/2006/main">
            <a:off x="609600" y="2047875"/>
            <a:ext cx="10953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healthagent.agent.prompts </a:t>
            </a:r>
            <a:r>
              <a:rPr b="1">
                <a:solidFill>
                  <a:srgbClr val="245891"/>
                </a:solidFill>
                <a:latin typeface="Menlo"/>
                <a:ea typeface="Menlo"/>
                <a:cs typeface="Menlo"/>
              </a:rPr>
              <a:t>import</a:t>
            </a:r>
            <a:r>
              <a:rPr b="0">
                <a:solidFill>
                  <a:srgbClr val="20252B"/>
                </a:solidFill>
                <a:latin typeface="Menlo"/>
                <a:ea typeface="Menlo"/>
                <a:cs typeface="Menlo"/>
              </a:rPr>
              <a:t> (</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    BASE_SYSTEM, GROUNDING_CLAUSE, REFUSAL_CLAUSE</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a:t>
            </a:r>
          </a:p>
          <a:p xmlns:a="http://schemas.openxmlformats.org/drawingml/2006/main">
            <a:pPr algn="l">
              <a:defRPr sz="2100" b="0">
                <a:solidFill>
                  <a:srgbClr val="20252B"/>
                </a:solidFill>
                <a:latin typeface="Menlo"/>
                <a:ea typeface="Menlo"/>
                <a:cs typeface="Menlo"/>
              </a:defRPr>
            </a:pP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SYSTEM_PROMPT = </a:t>
            </a:r>
            <a:r>
              <a:rPr b="0">
                <a:solidFill>
                  <a:srgbClr val="795733"/>
                </a:solidFill>
                <a:latin typeface="Menlo"/>
                <a:ea typeface="Menlo"/>
                <a:cs typeface="Menlo"/>
              </a:rPr>
              <a:t>"\n"</a:t>
            </a:r>
            <a:r>
              <a:rPr b="0">
                <a:solidFill>
                  <a:srgbClr val="20252B"/>
                </a:solidFill>
                <a:latin typeface="Menlo"/>
                <a:ea typeface="Menlo"/>
                <a:cs typeface="Menlo"/>
              </a:rPr>
              <a:t>.join([</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    BASE_SYSTEM, GROUNDING_CLAUSE, REFUSAL_CLAUSE</a:t>
            </a:r>
          </a:p>
          <a:p xmlns:a="http://schemas.openxmlformats.org/drawingml/2006/main">
            <a:pPr algn="l">
              <a:defRPr sz="2100" b="0">
                <a:solidFill>
                  <a:srgbClr val="20252B"/>
                </a:solidFill>
                <a:latin typeface="Menlo"/>
                <a:ea typeface="Menlo"/>
                <a:cs typeface="Menlo"/>
              </a:defRPr>
            </a:pPr>
            <a:r>
              <a:rPr b="0">
                <a:solidFill>
                  <a:srgbClr val="20252B"/>
                </a:solidFill>
                <a:latin typeface="Menlo"/>
                <a:ea typeface="Menlo"/>
                <a:cs typeface="Menlo"/>
              </a:rPr>
              <a:t>])</a:t>
            </a:r>
          </a:p>
        </p:txBody>
      </p:sp>
      <p:sp>
        <p:nvSpPr>
          <p:cNvPr id="4" name="text-3">
            <a:extLst xmlns:a="http://schemas.openxmlformats.org/drawingml/2006/main">
              <a:ext uri="{FF2B5EF4-FFF2-40B4-BE49-F238E27FC236}">
                <a16:creationId xmlns:a16="http://schemas.microsoft.com/office/drawing/2014/main" id="{1730D3B6-2EE6-4292-B525-3CAC94AC0FF5}"/>
              </a:ext>
            </a:extLst>
          </p:cNvPr>
          <p:cNvSpPr>
            <a:spLocks xmlns:a="http://schemas.openxmlformats.org/drawingml/2006/main" noGrp="1"/>
          </p:cNvSpPr>
          <p:nvPr/>
        </p:nvSpPr>
        <p:spPr>
          <a:xfrm xmlns:a="http://schemas.openxmlformats.org/drawingml/2006/main">
            <a:off x="609600" y="582930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The clause markers enable the corresponding checks.</a:t>
            </a:r>
          </a:p>
        </p:txBody>
      </p:sp>
    </p:spTree>
    <p:extLst>
      <p:ext uri="{BB962C8B-B14F-4D97-AF65-F5344CB8AC3E}">
        <p14:creationId xmlns:p14="http://schemas.microsoft.com/office/powerpoint/2010/main" val="139903879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8867B5D-36F6-474B-87D0-64550D8E0D3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The sleep question</a:t>
            </a:r>
          </a:p>
        </p:txBody>
      </p:sp>
      <p:sp>
        <p:nvSpPr>
          <p:cNvPr id="2" name="page-number">
            <a:extLst xmlns:a="http://schemas.openxmlformats.org/drawingml/2006/main">
              <a:ext uri="{FF2B5EF4-FFF2-40B4-BE49-F238E27FC236}">
                <a16:creationId xmlns:a16="http://schemas.microsoft.com/office/drawing/2014/main" id="{64FBCD9E-06BF-4F4A-8A13-01026F29CCA1}"/>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34</a:t>
            </a:r>
          </a:p>
        </p:txBody>
      </p:sp>
      <p:sp>
        <p:nvSpPr>
          <p:cNvPr id="3" name="editable-code">
            <a:extLst xmlns:a="http://schemas.openxmlformats.org/drawingml/2006/main">
              <a:ext uri="{FF2B5EF4-FFF2-40B4-BE49-F238E27FC236}">
                <a16:creationId xmlns:a16="http://schemas.microsoft.com/office/drawing/2014/main" id="{4C4CC224-2E88-4437-B849-7B19B8641E3A}"/>
              </a:ext>
            </a:extLst>
          </p:cNvPr>
          <p:cNvSpPr>
            <a:spLocks xmlns:a="http://schemas.openxmlformats.org/drawingml/2006/main" noGrp="1"/>
          </p:cNvSpPr>
          <p:nvPr/>
        </p:nvSpPr>
        <p:spPr>
          <a:xfrm xmlns:a="http://schemas.openxmlformats.org/drawingml/2006/main">
            <a:off x="609600" y="1876425"/>
            <a:ext cx="10953750" cy="3838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ha_workshop </a:t>
            </a:r>
            <a:r>
              <a:rPr b="1">
                <a:solidFill>
                  <a:srgbClr val="245891"/>
                </a:solidFill>
                <a:latin typeface="Menlo"/>
                <a:ea typeface="Menlo"/>
                <a:cs typeface="Menlo"/>
              </a:rPr>
              <a:t>import</a:t>
            </a:r>
            <a:r>
              <a:rPr b="0">
                <a:solidFill>
                  <a:srgbClr val="20252B"/>
                </a:solidFill>
                <a:latin typeface="Menlo"/>
                <a:ea typeface="Menlo"/>
                <a:cs typeface="Menlo"/>
              </a:rPr>
              <a:t> reload_ha_workshop</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_, cfg = reload_ha_workshop()</a:t>
            </a:r>
          </a:p>
          <a:p xmlns:a="http://schemas.openxmlformats.org/drawingml/2006/main">
            <a:pPr algn="l">
              <a:defRPr sz="2025" b="0">
                <a:solidFill>
                  <a:srgbClr val="20252B"/>
                </a:solidFill>
                <a:latin typeface="Menlo"/>
                <a:ea typeface="Menlo"/>
                <a:cs typeface="Menlo"/>
              </a:defRPr>
            </a:pP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ans = cfg.run(</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a:t>
            </a:r>
            <a:r>
              <a:rPr b="0">
                <a:solidFill>
                  <a:srgbClr val="795733"/>
                </a:solidFill>
                <a:latin typeface="Menlo"/>
                <a:ea typeface="Menlo"/>
                <a:cs typeface="Menlo"/>
              </a:rPr>
              <a:t>'How did my sleep change in the final week?'</a:t>
            </a:r>
            <a:r>
              <a:rPr b="0">
                <a:solidFill>
                  <a:srgbClr val="20252B"/>
                </a:solidFill>
                <a:latin typeface="Menlo"/>
                <a:ea typeface="Menlo"/>
                <a:cs typeface="Menlo"/>
              </a:rPr>
              <a:t>,</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client=client,</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print(ans.text)</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print(</a:t>
            </a:r>
            <a:r>
              <a:rPr b="0">
                <a:solidFill>
                  <a:srgbClr val="795733"/>
                </a:solidFill>
                <a:latin typeface="Menlo"/>
                <a:ea typeface="Menlo"/>
                <a:cs typeface="Menlo"/>
              </a:rPr>
              <a:t>'grounded:'</a:t>
            </a:r>
            <a:r>
              <a:rPr b="0">
                <a:solidFill>
                  <a:srgbClr val="20252B"/>
                </a:solidFill>
                <a:latin typeface="Menlo"/>
                <a:ea typeface="Menlo"/>
                <a:cs typeface="Menlo"/>
              </a:rPr>
              <a:t>, ans.grounded)</a:t>
            </a:r>
          </a:p>
        </p:txBody>
      </p:sp>
    </p:spTree>
    <p:extLst>
      <p:ext uri="{BB962C8B-B14F-4D97-AF65-F5344CB8AC3E}">
        <p14:creationId xmlns:p14="http://schemas.microsoft.com/office/powerpoint/2010/main" val="209520178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58D0E4F-EB2F-4AB4-9E8E-FF4179636F00}"/>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Tool-call trace</a:t>
            </a:r>
          </a:p>
        </p:txBody>
      </p:sp>
      <p:sp>
        <p:nvSpPr>
          <p:cNvPr id="2" name="page-number">
            <a:extLst xmlns:a="http://schemas.openxmlformats.org/drawingml/2006/main">
              <a:ext uri="{FF2B5EF4-FFF2-40B4-BE49-F238E27FC236}">
                <a16:creationId xmlns:a16="http://schemas.microsoft.com/office/drawing/2014/main" id="{AC43CFAD-32EF-4308-9181-2A5189F607F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35</a:t>
            </a:r>
          </a:p>
        </p:txBody>
      </p:sp>
      <p:graphicFrame>
        <p:nvGraphicFramePr>
          <p:cNvPr id="7" name=""/>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table">
            <a:tbl>
              <a:tblPr/>
              <a:tblGrid>
                <a:gridCol w="3905250"/>
                <a:gridCol w="7067550"/>
              </a:tblGrid>
              <a:tr h="666750">
                <a:tc>
                  <a:txBody>
                    <a:bodyPr/>
                    <a:lstStyle/>
                    <a:p>
                      <a:r>
                        <a:rPr sz="1875" b="1">
                          <a:solidFill>
                            <a:srgbClr val="245891"/>
                          </a:solidFill>
                          <a:latin typeface="Helvetica Neue"/>
                          <a:ea typeface="Helvetica Neue"/>
                          <a:cs typeface="Helvetica Neue"/>
                        </a:rPr>
                        <a:t>Trace field</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875" b="1">
                          <a:solidFill>
                            <a:srgbClr val="245891"/>
                          </a:solidFill>
                          <a:latin typeface="Helvetica Neue"/>
                          <a:ea typeface="Helvetica Neue"/>
                          <a:cs typeface="Helvetica Neue"/>
                        </a:rPr>
                        <a:t>Question it answers</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666750">
                <a:tc>
                  <a:txBody>
                    <a:bodyPr/>
                    <a:lstStyle/>
                    <a:p>
                      <a:r>
                        <a:rPr sz="1875" b="0">
                          <a:solidFill>
                            <a:srgbClr val="20252B"/>
                          </a:solidFill>
                          <a:latin typeface="Helvetica Neue"/>
                          <a:ea typeface="Helvetica Neue"/>
                          <a:cs typeface="Helvetica Neue"/>
                        </a:rPr>
                        <a:t>calls: name and args</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Which tool, user and window did the model request?</a:t>
                      </a:r>
                    </a:p>
                  </a:txBody>
                  <a:tcPr marL="91440" marR="91440" marT="45720" marB="45720">
                    <a:lnR w="9525">
                      <a:solidFill>
                        <a:srgbClr val="FFFFFF"/>
                      </a:solidFill>
                    </a:lnR>
                    <a:lnB w="6668">
                      <a:solidFill>
                        <a:srgbClr val="DCE1E6"/>
                      </a:solidFill>
                    </a:lnB>
                    <a:solidFill>
                      <a:srgbClr val="F3F5F7"/>
                    </a:solidFill>
                  </a:tcPr>
                </a:tc>
              </a:tr>
              <a:tr h="666750">
                <a:tc>
                  <a:txBody>
                    <a:bodyPr/>
                    <a:lstStyle/>
                    <a:p>
                      <a:r>
                        <a:rPr sz="1875" b="0">
                          <a:solidFill>
                            <a:srgbClr val="20252B"/>
                          </a:solidFill>
                          <a:latin typeface="Helvetica Neue"/>
                          <a:ea typeface="Helvetica Neue"/>
                          <a:cs typeface="Helvetica Neue"/>
                        </a:rPr>
                        <a:t>results: summary and error</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875" b="0">
                          <a:solidFill>
                            <a:srgbClr val="20252B"/>
                          </a:solidFill>
                          <a:latin typeface="Helvetica Neue"/>
                          <a:ea typeface="Helvetica Neue"/>
                          <a:cs typeface="Helvetica Neue"/>
                        </a:rPr>
                        <a:t>What result did the tool return?</a:t>
                      </a:r>
                    </a:p>
                  </a:txBody>
                  <a:tcPr marL="91440" marR="91440" marT="45720" marB="45720">
                    <a:lnR w="9525">
                      <a:solidFill>
                        <a:srgbClr val="FFFFFF"/>
                      </a:solidFill>
                    </a:lnR>
                    <a:lnB w="6668">
                      <a:solidFill>
                        <a:srgbClr val="DCE1E6"/>
                      </a:solidFill>
                    </a:lnB>
                    <a:solidFill>
                      <a:srgbClr val="FFFFFF"/>
                    </a:solidFill>
                  </a:tcPr>
                </a:tc>
              </a:tr>
              <a:tr h="666750">
                <a:tc>
                  <a:txBody>
                    <a:bodyPr/>
                    <a:lstStyle/>
                    <a:p>
                      <a:r>
                        <a:rPr sz="1875" b="0">
                          <a:solidFill>
                            <a:srgbClr val="20252B"/>
                          </a:solidFill>
                          <a:latin typeface="Helvetica Neue"/>
                          <a:ea typeface="Helvetica Neue"/>
                          <a:cs typeface="Helvetica Neue"/>
                        </a:rPr>
                        <a:t>event: nudge or fail_safe</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875" b="0">
                          <a:solidFill>
                            <a:srgbClr val="20252B"/>
                          </a:solidFill>
                          <a:latin typeface="Helvetica Neue"/>
                          <a:ea typeface="Helvetica Neue"/>
                          <a:cs typeface="Helvetica Neue"/>
                        </a:rPr>
                        <a:t>Which required evidence was missing?</a:t>
                      </a:r>
                    </a:p>
                  </a:txBody>
                  <a:tcPr marL="91440" marR="91440" marT="45720" marB="45720">
                    <a:lnR w="9525">
                      <a:solidFill>
                        <a:srgbClr val="FFFFFF"/>
                      </a:solidFill>
                    </a:lnR>
                    <a:lnB w="6668">
                      <a:solidFill>
                        <a:srgbClr val="DCE1E6"/>
                      </a:solidFill>
                    </a:lnB>
                    <a:solidFill>
                      <a:srgbClr val="F3F5F7"/>
                    </a:solidFill>
                  </a:tcPr>
                </a:tc>
              </a:tr>
              <a:tr h="666750">
                <a:tc>
                  <a:txBody>
                    <a:bodyPr/>
                    <a:lstStyle/>
                    <a:p>
                      <a:r>
                        <a:rPr sz="1875" b="0">
                          <a:solidFill>
                            <a:srgbClr val="20252B"/>
                          </a:solidFill>
                          <a:latin typeface="Helvetica Neue"/>
                          <a:ea typeface="Helvetica Neue"/>
                          <a:cs typeface="Helvetica Neue"/>
                        </a:rPr>
                        <a:t>event: safety, kind</a:t>
                      </a:r>
                    </a:p>
                  </a:txBody>
                  <a:tcPr marL="91440" marR="91440" marT="45720" marB="45720">
                    <a:lnL w="9525">
                      <a:solidFill>
                        <a:srgbClr val="FFFFFF"/>
                      </a:solidFill>
                    </a:lnL>
                    <a:lnR w="9525">
                      <a:solidFill>
                        <a:srgbClr val="FFFFFF"/>
                      </a:solidFill>
                    </a:lnR>
                    <a:lnB w="9525">
                      <a:solidFill>
                        <a:srgbClr val="FFFFFF"/>
                      </a:solidFill>
                    </a:lnB>
                    <a:solidFill>
                      <a:srgbClr val="FFFFFF"/>
                    </a:solidFill>
                  </a:tcPr>
                </a:tc>
                <a:tc>
                  <a:txBody>
                    <a:bodyPr/>
                    <a:lstStyle/>
                    <a:p>
                      <a:r>
                        <a:rPr sz="1875" b="0">
                          <a:solidFill>
                            <a:srgbClr val="20252B"/>
                          </a:solidFill>
                          <a:latin typeface="Helvetica Neue"/>
                          <a:ea typeface="Helvetica Neue"/>
                          <a:cs typeface="Helvetica Neue"/>
                        </a:rPr>
                        <a:t>Which safety response ran?</a:t>
                      </a:r>
                    </a:p>
                  </a:txBody>
                  <a:tcPr marL="91440" marR="91440" marT="45720" marB="45720">
                    <a:lnR w="9525">
                      <a:solidFill>
                        <a:srgbClr val="FFFFFF"/>
                      </a:solidFill>
                    </a:lnR>
                    <a:lnB w="9525">
                      <a:solidFill>
                        <a:srgbClr val="FFFFFF"/>
                      </a:solidFill>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44A17C2-88A6-45EB-A4A0-F23A9C9FCDE2}"/>
              </a:ext>
            </a:extLst>
          </p:cNvPr>
          <p:cNvSpPr>
            <a:spLocks xmlns:a="http://schemas.openxmlformats.org/drawingml/2006/main" noGrp="1"/>
          </p:cNvSpPr>
          <p:nvPr/>
        </p:nvSpPr>
        <p:spPr>
          <a:xfrm xmlns:a="http://schemas.openxmlformats.org/drawingml/2006/main">
            <a:off x="609600" y="57912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Find one answer value in the tool results.</a:t>
            </a:r>
          </a:p>
        </p:txBody>
      </p:sp>
    </p:spTree>
    <p:extLst>
      <p:ext uri="{BB962C8B-B14F-4D97-AF65-F5344CB8AC3E}">
        <p14:creationId xmlns:p14="http://schemas.microsoft.com/office/powerpoint/2010/main" val="123671367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DFF3960-0824-4080-BEB0-F6421CB50A07}"/>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Insufficient evidence</a:t>
            </a:r>
          </a:p>
        </p:txBody>
      </p:sp>
      <p:sp>
        <p:nvSpPr>
          <p:cNvPr id="2" name="page-number">
            <a:extLst xmlns:a="http://schemas.openxmlformats.org/drawingml/2006/main">
              <a:ext uri="{FF2B5EF4-FFF2-40B4-BE49-F238E27FC236}">
                <a16:creationId xmlns:a16="http://schemas.microsoft.com/office/drawing/2014/main" id="{05D50FD9-AA8C-48DD-9452-64FB9403BB63}"/>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36</a:t>
            </a:r>
          </a:p>
        </p:txBody>
      </p:sp>
      <p:sp>
        <p:nvSpPr>
          <p:cNvPr id="3" name="text-2">
            <a:extLst xmlns:a="http://schemas.openxmlformats.org/drawingml/2006/main">
              <a:ext uri="{FF2B5EF4-FFF2-40B4-BE49-F238E27FC236}">
                <a16:creationId xmlns:a16="http://schemas.microsoft.com/office/drawing/2014/main" id="{3B8B88A6-864C-4932-B241-6D23EED2A0ED}"/>
              </a:ext>
            </a:extLst>
          </p:cNvPr>
          <p:cNvSpPr>
            <a:spLocks xmlns:a="http://schemas.openxmlformats.org/drawingml/2006/main" noGrp="1"/>
          </p:cNvSpPr>
          <p:nvPr/>
        </p:nvSpPr>
        <p:spPr>
          <a:xfrm xmlns:a="http://schemas.openxmlformats.org/drawingml/2006/main">
            <a:off x="609600" y="2076450"/>
            <a:ext cx="1081087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0">
                <a:solidFill>
                  <a:srgbClr val="20252B"/>
                </a:solidFill>
                <a:latin typeface="Helvetica Neue"/>
                <a:ea typeface="Helvetica Neue"/>
                <a:cs typeface="Helvetica Neue"/>
              </a:defRPr>
            </a:pPr>
            <a:r>
              <a:rPr sz="3675" b="0">
                <a:solidFill>
                  <a:srgbClr val="20252B"/>
                </a:solidFill>
                <a:latin typeface="Helvetica Neue"/>
                <a:ea typeface="Helvetica Neue"/>
                <a:cs typeface="Helvetica Neue"/>
              </a:rPr>
              <a:t>“I could not gather enough evidence</a:t>
            </a:r>
          </a:p>
          <a:p xmlns:a="http://schemas.openxmlformats.org/drawingml/2006/main">
            <a:pPr algn="l">
              <a:defRPr sz="3675" b="0">
                <a:solidFill>
                  <a:srgbClr val="20252B"/>
                </a:solidFill>
                <a:latin typeface="Helvetica Neue"/>
                <a:ea typeface="Helvetica Neue"/>
                <a:cs typeface="Helvetica Neue"/>
              </a:defRPr>
            </a:pPr>
            <a:r>
              <a:rPr sz="3675" b="0">
                <a:solidFill>
                  <a:srgbClr val="20252B"/>
                </a:solidFill>
                <a:latin typeface="Helvetica Neue"/>
                <a:ea typeface="Helvetica Neue"/>
                <a:cs typeface="Helvetica Neue"/>
              </a:rPr>
              <a:t>to answer that confidently.”</a:t>
            </a:r>
          </a:p>
        </p:txBody>
      </p:sp>
      <p:sp>
        <p:nvSpPr>
          <p:cNvPr id="4" name="text-3">
            <a:extLst xmlns:a="http://schemas.openxmlformats.org/drawingml/2006/main">
              <a:ext uri="{FF2B5EF4-FFF2-40B4-BE49-F238E27FC236}">
                <a16:creationId xmlns:a16="http://schemas.microsoft.com/office/drawing/2014/main" id="{EEF199B1-67B4-4966-8385-639E308B647C}"/>
              </a:ext>
            </a:extLst>
          </p:cNvPr>
          <p:cNvSpPr>
            <a:spLocks xmlns:a="http://schemas.openxmlformats.org/drawingml/2006/main" noGrp="1"/>
          </p:cNvSpPr>
          <p:nvPr/>
        </p:nvSpPr>
        <p:spPr>
          <a:xfrm xmlns:a="http://schemas.openxmlformats.org/drawingml/2006/main">
            <a:off x="647700" y="427672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0">
                <a:solidFill>
                  <a:srgbClr val="646B73"/>
                </a:solidFill>
                <a:latin typeface="Helvetica Neue"/>
                <a:ea typeface="Helvetica Neue"/>
                <a:cs typeface="Helvetica Neue"/>
              </a:defRPr>
            </a:pPr>
            <a:r>
              <a:rPr sz="2475" b="0">
                <a:solidFill>
                  <a:srgbClr val="646B73"/>
                </a:solidFill>
                <a:latin typeface="Helvetica Neue"/>
                <a:ea typeface="Helvetica Neue"/>
                <a:cs typeface="Helvetica Neue"/>
              </a:rPr>
              <a:t>For the workshop questions, missing tools or missing</a:t>
            </a:r>
          </a:p>
          <a:p xmlns:a="http://schemas.openxmlformats.org/drawingml/2006/main">
            <a:pPr algn="l">
              <a:defRPr sz="2475" b="0">
                <a:solidFill>
                  <a:srgbClr val="646B73"/>
                </a:solidFill>
                <a:latin typeface="Helvetica Neue"/>
                <a:ea typeface="Helvetica Neue"/>
                <a:cs typeface="Helvetica Neue"/>
              </a:defRPr>
            </a:pPr>
            <a:r>
              <a:rPr sz="2475" b="0">
                <a:solidFill>
                  <a:srgbClr val="646B73"/>
                </a:solidFill>
                <a:latin typeface="Helvetica Neue"/>
                <a:ea typeface="Helvetica Neue"/>
                <a:cs typeface="Helvetica Neue"/>
              </a:rPr>
              <a:t>result messages trigger this response.</a:t>
            </a:r>
          </a:p>
        </p:txBody>
      </p:sp>
      <p:sp>
        <p:nvSpPr>
          <p:cNvPr id="5" name="text-4">
            <a:extLst xmlns:a="http://schemas.openxmlformats.org/drawingml/2006/main">
              <a:ext uri="{FF2B5EF4-FFF2-40B4-BE49-F238E27FC236}">
                <a16:creationId xmlns:a16="http://schemas.microsoft.com/office/drawing/2014/main" id="{AA13E982-0635-4635-9D4C-64EBF9BF12A8}"/>
              </a:ext>
            </a:extLst>
          </p:cNvPr>
          <p:cNvSpPr>
            <a:spLocks xmlns:a="http://schemas.openxmlformats.org/drawingml/2006/main" noGrp="1"/>
          </p:cNvSpPr>
          <p:nvPr/>
        </p:nvSpPr>
        <p:spPr>
          <a:xfrm xmlns:a="http://schemas.openxmlformats.org/drawingml/2006/main">
            <a:off x="647700" y="58197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Open-ended questions may need other completeness checks.</a:t>
            </a:r>
          </a:p>
        </p:txBody>
      </p:sp>
    </p:spTree>
    <p:extLst>
      <p:ext uri="{BB962C8B-B14F-4D97-AF65-F5344CB8AC3E}">
        <p14:creationId xmlns:p14="http://schemas.microsoft.com/office/powerpoint/2010/main" val="199162765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C12BD73-D885-4FC5-BEC7-C4F7F69AE78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Sleep and screen time in the two windows</a:t>
            </a:r>
          </a:p>
        </p:txBody>
      </p:sp>
      <p:sp>
        <p:nvSpPr>
          <p:cNvPr id="2" name="page-number">
            <a:extLst xmlns:a="http://schemas.openxmlformats.org/drawingml/2006/main">
              <a:ext uri="{FF2B5EF4-FFF2-40B4-BE49-F238E27FC236}">
                <a16:creationId xmlns:a16="http://schemas.microsoft.com/office/drawing/2014/main" id="{543D0F56-135F-4BCF-9AB5-5D1CEBD877A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37</a:t>
            </a:r>
          </a:p>
        </p:txBody>
      </p:sp>
      <p:graphicFrame>
        <p:nvGraphicFramePr>
          <p:cNvPr id="8" name="Chart"/>
          <p:cNvGraphicFramePr/>
          <p:nvPr/>
        </p:nvGraphicFramePr>
        <p:xfrm>
          <a:off xmlns:a="http://schemas.openxmlformats.org/drawingml/2006/main" x="609600" y="2047875"/>
          <a:ext xmlns:a="http://schemas.openxmlformats.org/drawingml/2006/main" cx="5048250" cy="3333750"/>
        </p:xfrm>
        <a:graphic xmlns:a="http://schemas.openxmlformats.org/drawingml/2006/main">
          <a:graphicData uri="http://schemas.openxmlformats.org/drawingml/2006/chart">
            <c:chart xmlns:r="http://schemas.openxmlformats.org/officeDocument/2006/relationships" xmlns:c="http://schemas.openxmlformats.org/drawingml/2006/chart" r:id="Rd92ac170f546451e"/>
          </a:graphicData>
        </a:graphic>
      </p:graphicFrame>
      <p:graphicFrame>
        <p:nvGraphicFramePr>
          <p:cNvPr id="9" name="Chart"/>
          <p:cNvGraphicFramePr/>
          <p:nvPr/>
        </p:nvGraphicFramePr>
        <p:xfrm>
          <a:off xmlns:a="http://schemas.openxmlformats.org/drawingml/2006/main" x="6534150" y="2047875"/>
          <a:ext xmlns:a="http://schemas.openxmlformats.org/drawingml/2006/main" cx="5048250" cy="3333750"/>
        </p:xfrm>
        <a:graphic xmlns:a="http://schemas.openxmlformats.org/drawingml/2006/main">
          <a:graphicData uri="http://schemas.openxmlformats.org/drawingml/2006/chart">
            <c:chart xmlns:r="http://schemas.openxmlformats.org/officeDocument/2006/relationships" xmlns:c="http://schemas.openxmlformats.org/drawingml/2006/chart" r:id="R43183d9db1fd446c"/>
          </a:graphicData>
        </a:graphic>
      </p:graphicFrame>
      <p:sp>
        <p:nvSpPr>
          <p:cNvPr id="5" name="text-2">
            <a:extLst xmlns:a="http://schemas.openxmlformats.org/drawingml/2006/main">
              <a:ext uri="{FF2B5EF4-FFF2-40B4-BE49-F238E27FC236}">
                <a16:creationId xmlns:a16="http://schemas.microsoft.com/office/drawing/2014/main" id="{1A95B163-FC40-4096-84D9-0C266F3608EE}"/>
              </a:ext>
            </a:extLst>
          </p:cNvPr>
          <p:cNvSpPr>
            <a:spLocks xmlns:a="http://schemas.openxmlformats.org/drawingml/2006/main" noGrp="1"/>
          </p:cNvSpPr>
          <p:nvPr/>
        </p:nvSpPr>
        <p:spPr>
          <a:xfrm xmlns:a="http://schemas.openxmlformats.org/drawingml/2006/main">
            <a:off x="609600" y="58959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Helvetica Neue"/>
                <a:ea typeface="Helvetica Neue"/>
                <a:cs typeface="Helvetica Neue"/>
              </a:defRPr>
            </a:pPr>
            <a:r>
              <a:rPr sz="1950" b="0">
                <a:solidFill>
                  <a:srgbClr val="646B73"/>
                </a:solidFill>
                <a:latin typeface="Helvetica Neue"/>
                <a:ea typeface="Helvetica Neue"/>
                <a:cs typeface="Helvetica Neue"/>
              </a:rPr>
              <a:t>A shared source date does not establish that screen use preceded sleep.</a:t>
            </a:r>
          </a:p>
        </p:txBody>
      </p:sp>
    </p:spTree>
    <p:extLst>
      <p:ext uri="{BB962C8B-B14F-4D97-AF65-F5344CB8AC3E}">
        <p14:creationId xmlns:p14="http://schemas.microsoft.com/office/powerpoint/2010/main" val="12148733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5C67F16-E3DB-4714-87E7-AD1CBA8DFB23}"/>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Agent check</a:t>
            </a:r>
          </a:p>
        </p:txBody>
      </p:sp>
      <p:sp>
        <p:nvSpPr>
          <p:cNvPr id="2" name="page-number">
            <a:extLst xmlns:a="http://schemas.openxmlformats.org/drawingml/2006/main">
              <a:ext uri="{FF2B5EF4-FFF2-40B4-BE49-F238E27FC236}">
                <a16:creationId xmlns:a16="http://schemas.microsoft.com/office/drawing/2014/main" id="{1B725414-00BD-4992-B13D-128C21090AF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38</a:t>
            </a:r>
          </a:p>
        </p:txBody>
      </p:sp>
      <p:sp>
        <p:nvSpPr>
          <p:cNvPr id="3" name="text-2">
            <a:extLst xmlns:a="http://schemas.openxmlformats.org/drawingml/2006/main">
              <a:ext uri="{FF2B5EF4-FFF2-40B4-BE49-F238E27FC236}">
                <a16:creationId xmlns:a16="http://schemas.microsoft.com/office/drawing/2014/main" id="{327696AD-50A4-41F9-8EB8-AB52D8A0A5D2}"/>
              </a:ext>
            </a:extLst>
          </p:cNvPr>
          <p:cNvSpPr>
            <a:spLocks xmlns:a="http://schemas.openxmlformats.org/drawingml/2006/main" noGrp="1"/>
          </p:cNvSpPr>
          <p:nvPr/>
        </p:nvSpPr>
        <p:spPr>
          <a:xfrm xmlns:a="http://schemas.openxmlformats.org/drawingml/2006/main">
            <a:off x="609600" y="2047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0252B"/>
                </a:solidFill>
                <a:latin typeface="Helvetica Neue"/>
                <a:ea typeface="Helvetica Neue"/>
                <a:cs typeface="Helvetica Neue"/>
              </a:defRPr>
            </a:pPr>
            <a:r>
              <a:rPr sz="2400" b="0">
                <a:solidFill>
                  <a:srgbClr val="20252B"/>
                </a:solidFill>
                <a:latin typeface="Helvetica Neue"/>
                <a:ea typeface="Helvetica Neue"/>
                <a:cs typeface="Helvetica Neue"/>
              </a:rPr>
              <a:t>A sleep answer includes retrieved values and a plot</a:t>
            </a:r>
          </a:p>
        </p:txBody>
      </p:sp>
      <p:sp>
        <p:nvSpPr>
          <p:cNvPr id="4" name="text-3">
            <a:extLst xmlns:a="http://schemas.openxmlformats.org/drawingml/2006/main">
              <a:ext uri="{FF2B5EF4-FFF2-40B4-BE49-F238E27FC236}">
                <a16:creationId xmlns:a16="http://schemas.microsoft.com/office/drawing/2014/main" id="{75D3408F-ED90-42ED-B590-3325D425D1AE}"/>
              </a:ext>
            </a:extLst>
          </p:cNvPr>
          <p:cNvSpPr>
            <a:spLocks xmlns:a="http://schemas.openxmlformats.org/drawingml/2006/main" noGrp="1"/>
          </p:cNvSpPr>
          <p:nvPr/>
        </p:nvSpPr>
        <p:spPr>
          <a:xfrm xmlns:a="http://schemas.openxmlformats.org/drawingml/2006/main">
            <a:off x="609600" y="29908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0252B"/>
                </a:solidFill>
                <a:latin typeface="Helvetica Neue"/>
                <a:ea typeface="Helvetica Neue"/>
                <a:cs typeface="Helvetica Neue"/>
              </a:defRPr>
            </a:pPr>
            <a:r>
              <a:rPr sz="2400" b="0">
                <a:solidFill>
                  <a:srgbClr val="20252B"/>
                </a:solidFill>
                <a:latin typeface="Helvetica Neue"/>
                <a:ea typeface="Helvetica Neue"/>
                <a:cs typeface="Helvetica Neue"/>
              </a:rPr>
              <a:t>The trace shows the intended user and date window</a:t>
            </a:r>
          </a:p>
        </p:txBody>
      </p:sp>
      <p:sp>
        <p:nvSpPr>
          <p:cNvPr id="5" name="text-4">
            <a:extLst xmlns:a="http://schemas.openxmlformats.org/drawingml/2006/main">
              <a:ext uri="{FF2B5EF4-FFF2-40B4-BE49-F238E27FC236}">
                <a16:creationId xmlns:a16="http://schemas.microsoft.com/office/drawing/2014/main" id="{5E1FA737-6975-4E17-8D38-0DF59FD50531}"/>
              </a:ext>
            </a:extLst>
          </p:cNvPr>
          <p:cNvSpPr>
            <a:spLocks xmlns:a="http://schemas.openxmlformats.org/drawingml/2006/main" noGrp="1"/>
          </p:cNvSpPr>
          <p:nvPr/>
        </p:nvSpPr>
        <p:spPr>
          <a:xfrm xmlns:a="http://schemas.openxmlformats.org/drawingml/2006/main">
            <a:off x="609600" y="39338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0252B"/>
                </a:solidFill>
                <a:latin typeface="Helvetica Neue"/>
                <a:ea typeface="Helvetica Neue"/>
                <a:cs typeface="Helvetica Neue"/>
              </a:defRPr>
            </a:pPr>
            <a:r>
              <a:rPr sz="2400" b="0">
                <a:solidFill>
                  <a:srgbClr val="20252B"/>
                </a:solidFill>
                <a:latin typeface="Helvetica Neue"/>
                <a:ea typeface="Helvetica Neue"/>
                <a:cs typeface="Helvetica Neue"/>
              </a:rPr>
              <a:t>A medical-advice probe triggers the safety path</a:t>
            </a:r>
          </a:p>
        </p:txBody>
      </p:sp>
      <p:sp>
        <p:nvSpPr>
          <p:cNvPr id="6" name="text-5">
            <a:extLst xmlns:a="http://schemas.openxmlformats.org/drawingml/2006/main">
              <a:ext uri="{FF2B5EF4-FFF2-40B4-BE49-F238E27FC236}">
                <a16:creationId xmlns:a16="http://schemas.microsoft.com/office/drawing/2014/main" id="{64AB52F4-7C58-4B09-84F6-EE0DCFD6403E}"/>
              </a:ext>
            </a:extLst>
          </p:cNvPr>
          <p:cNvSpPr>
            <a:spLocks xmlns:a="http://schemas.openxmlformats.org/drawingml/2006/main" noGrp="1"/>
          </p:cNvSpPr>
          <p:nvPr/>
        </p:nvSpPr>
        <p:spPr>
          <a:xfrm xmlns:a="http://schemas.openxmlformats.org/drawingml/2006/main">
            <a:off x="609600" y="48768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0">
                <a:solidFill>
                  <a:srgbClr val="20252B"/>
                </a:solidFill>
                <a:latin typeface="Helvetica Neue"/>
                <a:ea typeface="Helvetica Neue"/>
                <a:cs typeface="Helvetica Neue"/>
              </a:defRPr>
            </a:pPr>
            <a:r>
              <a:rPr sz="2400" b="0">
                <a:solidFill>
                  <a:srgbClr val="20252B"/>
                </a:solidFill>
                <a:latin typeface="Helvetica Neue"/>
                <a:ea typeface="Helvetica Neue"/>
                <a:cs typeface="Helvetica Neue"/>
              </a:rPr>
              <a:t>The answer identifies synthetic fields and acknowledges the timing limits</a:t>
            </a:r>
          </a:p>
        </p:txBody>
      </p:sp>
    </p:spTree>
    <p:extLst>
      <p:ext uri="{BB962C8B-B14F-4D97-AF65-F5344CB8AC3E}">
        <p14:creationId xmlns:p14="http://schemas.microsoft.com/office/powerpoint/2010/main" val="174486289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5852A5B-ABF3-4941-9076-AE9EEBC560D9}"/>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Qwen3:8B rehearsal</a:t>
            </a:r>
          </a:p>
        </p:txBody>
      </p:sp>
      <p:sp>
        <p:nvSpPr>
          <p:cNvPr id="2" name="page-number">
            <a:extLst xmlns:a="http://schemas.openxmlformats.org/drawingml/2006/main">
              <a:ext uri="{FF2B5EF4-FFF2-40B4-BE49-F238E27FC236}">
                <a16:creationId xmlns:a16="http://schemas.microsoft.com/office/drawing/2014/main" id="{8AED3B24-097B-4584-B897-EB841F603D03}"/>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39</a:t>
            </a:r>
          </a:p>
        </p:txBody>
      </p:sp>
      <p:sp>
        <p:nvSpPr>
          <p:cNvPr id="3" name="text-2">
            <a:extLst xmlns:a="http://schemas.openxmlformats.org/drawingml/2006/main">
              <a:ext uri="{FF2B5EF4-FFF2-40B4-BE49-F238E27FC236}">
                <a16:creationId xmlns:a16="http://schemas.microsoft.com/office/drawing/2014/main" id="{7CE9D697-0089-4F93-B705-BB9AB294C4F5}"/>
              </a:ext>
            </a:extLst>
          </p:cNvPr>
          <p:cNvSpPr>
            <a:spLocks xmlns:a="http://schemas.openxmlformats.org/drawingml/2006/main" noGrp="1"/>
          </p:cNvSpPr>
          <p:nvPr/>
        </p:nvSpPr>
        <p:spPr>
          <a:xfrm xmlns:a="http://schemas.openxmlformats.org/drawingml/2006/main">
            <a:off x="609600" y="15621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Q4_K_M, thinking disabled. Six model cases and two preflight checks.</a:t>
            </a:r>
          </a:p>
        </p:txBody>
      </p:sp>
      <p:graphicFrame>
        <p:nvGraphicFramePr>
          <p:cNvPr id="12" name=""/>
          <p:cNvGraphicFramePr/>
          <p:nvPr/>
        </p:nvGraphicFramePr>
        <p:xfrm>
          <a:off xmlns:a="http://schemas.openxmlformats.org/drawingml/2006/main" x="609600" y="2667000"/>
          <a:ext xmlns:a="http://schemas.openxmlformats.org/drawingml/2006/main" cx="6572250" cy="2724150"/>
        </p:xfrm>
        <a:graphic xmlns:a="http://schemas.openxmlformats.org/drawingml/2006/main">
          <a:graphicData uri="http://schemas.openxmlformats.org/drawingml/2006/table">
            <a:tbl>
              <a:tblPr/>
              <a:tblGrid>
                <a:gridCol w="4076700"/>
                <a:gridCol w="2495550"/>
              </a:tblGrid>
              <a:tr h="681038">
                <a:tc>
                  <a:txBody>
                    <a:bodyPr/>
                    <a:lstStyle/>
                    <a:p>
                      <a:r>
                        <a:rPr sz="2100" b="1">
                          <a:solidFill>
                            <a:srgbClr val="245891"/>
                          </a:solidFill>
                          <a:latin typeface="Helvetica Neue"/>
                          <a:ea typeface="Helvetica Neue"/>
                          <a:cs typeface="Helvetica Neue"/>
                        </a:rPr>
                        <a:t>Case</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2100" b="1">
                          <a:solidFill>
                            <a:srgbClr val="245891"/>
                          </a:solidFill>
                          <a:latin typeface="Helvetica Neue"/>
                          <a:ea typeface="Helvetica Neue"/>
                          <a:cs typeface="Helvetica Neue"/>
                        </a:rPr>
                        <a:t>Agent time</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681038">
                <a:tc>
                  <a:txBody>
                    <a:bodyPr/>
                    <a:lstStyle/>
                    <a:p>
                      <a:r>
                        <a:rPr sz="2100" b="0">
                          <a:solidFill>
                            <a:srgbClr val="20252B"/>
                          </a:solidFill>
                          <a:latin typeface="Helvetica Neue"/>
                          <a:ea typeface="Helvetica Neue"/>
                          <a:cs typeface="Helvetica Neue"/>
                        </a:rPr>
                        <a:t>Sleep question, repeated</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2100" b="0">
                          <a:solidFill>
                            <a:srgbClr val="20252B"/>
                          </a:solidFill>
                          <a:latin typeface="Helvetica Neue"/>
                          <a:ea typeface="Helvetica Neue"/>
                          <a:cs typeface="Helvetica Neue"/>
                        </a:rPr>
                        <a:t>12.26 / 16.02 s</a:t>
                      </a:r>
                    </a:p>
                  </a:txBody>
                  <a:tcPr marL="91440" marR="91440" marT="45720" marB="45720">
                    <a:lnR w="9525">
                      <a:solidFill>
                        <a:srgbClr val="FFFFFF"/>
                      </a:solidFill>
                    </a:lnR>
                    <a:lnB w="6668">
                      <a:solidFill>
                        <a:srgbClr val="DCE1E6"/>
                      </a:solidFill>
                    </a:lnB>
                    <a:solidFill>
                      <a:srgbClr val="F3F5F7"/>
                    </a:solidFill>
                  </a:tcPr>
                </a:tc>
              </a:tr>
              <a:tr h="681038">
                <a:tc>
                  <a:txBody>
                    <a:bodyPr/>
                    <a:lstStyle/>
                    <a:p>
                      <a:r>
                        <a:rPr sz="2100" b="0">
                          <a:solidFill>
                            <a:srgbClr val="20252B"/>
                          </a:solidFill>
                          <a:latin typeface="Helvetica Neue"/>
                          <a:ea typeface="Helvetica Neue"/>
                          <a:cs typeface="Helvetica Neue"/>
                        </a:rPr>
                        <a:t>Sleep-efficiency plot</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2100" b="0">
                          <a:solidFill>
                            <a:srgbClr val="20252B"/>
                          </a:solidFill>
                          <a:latin typeface="Helvetica Neue"/>
                          <a:ea typeface="Helvetica Neue"/>
                          <a:cs typeface="Helvetica Neue"/>
                        </a:rPr>
                        <a:t>4.41 s</a:t>
                      </a:r>
                    </a:p>
                  </a:txBody>
                  <a:tcPr marL="91440" marR="91440" marT="45720" marB="45720">
                    <a:lnR w="9525">
                      <a:solidFill>
                        <a:srgbClr val="FFFFFF"/>
                      </a:solidFill>
                    </a:lnR>
                    <a:lnB w="6668">
                      <a:solidFill>
                        <a:srgbClr val="DCE1E6"/>
                      </a:solidFill>
                    </a:lnB>
                    <a:solidFill>
                      <a:srgbClr val="FFFFFF"/>
                    </a:solidFill>
                  </a:tcPr>
                </a:tc>
              </a:tr>
              <a:tr h="681038">
                <a:tc>
                  <a:txBody>
                    <a:bodyPr/>
                    <a:lstStyle/>
                    <a:p>
                      <a:r>
                        <a:rPr sz="2100" b="0">
                          <a:solidFill>
                            <a:srgbClr val="20252B"/>
                          </a:solidFill>
                          <a:latin typeface="Helvetica Neue"/>
                          <a:ea typeface="Helvetica Neue"/>
                          <a:cs typeface="Helvetica Neue"/>
                        </a:rPr>
                        <a:t>Synthetic confound case</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2100" b="0">
                          <a:solidFill>
                            <a:srgbClr val="20252B"/>
                          </a:solidFill>
                          <a:latin typeface="Helvetica Neue"/>
                          <a:ea typeface="Helvetica Neue"/>
                          <a:cs typeface="Helvetica Neue"/>
                        </a:rPr>
                        <a:t>20.55 s</a:t>
                      </a:r>
                    </a:p>
                  </a:txBody>
                  <a:tcPr marL="91440" marR="91440" marT="45720" marB="45720">
                    <a:lnR w="9525">
                      <a:solidFill>
                        <a:srgbClr val="FFFFFF"/>
                      </a:solidFill>
                    </a:lnR>
                    <a:lnB w="9525">
                      <a:solidFill>
                        <a:srgbClr val="FFFFFF"/>
                      </a:solidFill>
                    </a:lnB>
                    <a:solidFill>
                      <a:srgbClr val="F3F5F7"/>
                    </a:solidFill>
                  </a:tcPr>
                </a:tc>
              </a:tr>
            </a:tbl>
          </a:graphicData>
        </a:graphic>
      </p:graphicFrame>
      <p:sp>
        <p:nvSpPr>
          <p:cNvPr id="5" name="text-3">
            <a:extLst xmlns:a="http://schemas.openxmlformats.org/drawingml/2006/main">
              <a:ext uri="{FF2B5EF4-FFF2-40B4-BE49-F238E27FC236}">
                <a16:creationId xmlns:a16="http://schemas.microsoft.com/office/drawing/2014/main" id="{335B0E34-154A-4D81-BE0A-EF417BCA2816}"/>
              </a:ext>
            </a:extLst>
          </p:cNvPr>
          <p:cNvSpPr>
            <a:spLocks xmlns:a="http://schemas.openxmlformats.org/drawingml/2006/main" noGrp="1"/>
          </p:cNvSpPr>
          <p:nvPr/>
        </p:nvSpPr>
        <p:spPr>
          <a:xfrm xmlns:a="http://schemas.openxmlformats.org/drawingml/2006/main">
            <a:off x="7848600" y="2667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Synthetic answer</a:t>
            </a:r>
          </a:p>
        </p:txBody>
      </p:sp>
      <p:sp>
        <p:nvSpPr>
          <p:cNvPr id="6" name="text-4">
            <a:extLst xmlns:a="http://schemas.openxmlformats.org/drawingml/2006/main">
              <a:ext uri="{FF2B5EF4-FFF2-40B4-BE49-F238E27FC236}">
                <a16:creationId xmlns:a16="http://schemas.microsoft.com/office/drawing/2014/main" id="{CD375C6A-9A26-4486-A636-46883627AA66}"/>
              </a:ext>
            </a:extLst>
          </p:cNvPr>
          <p:cNvSpPr>
            <a:spLocks xmlns:a="http://schemas.openxmlformats.org/drawingml/2006/main" noGrp="1"/>
          </p:cNvSpPr>
          <p:nvPr/>
        </p:nvSpPr>
        <p:spPr>
          <a:xfrm xmlns:a="http://schemas.openxmlformats.org/drawingml/2006/main">
            <a:off x="7848600" y="3333750"/>
            <a:ext cx="35909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20252B"/>
                </a:solidFill>
                <a:latin typeface="Helvetica Neue"/>
                <a:ea typeface="Helvetica Neue"/>
                <a:cs typeface="Helvetica Neue"/>
              </a:defRPr>
            </a:pPr>
            <a:r>
              <a:rPr sz="2625" b="0">
                <a:solidFill>
                  <a:srgbClr val="20252B"/>
                </a:solidFill>
                <a:latin typeface="Helvetica Neue"/>
                <a:ea typeface="Helvetica Neue"/>
                <a:cs typeface="Helvetica Neue"/>
              </a:rPr>
              <a:t>“strong correlation”</a:t>
            </a:r>
          </a:p>
        </p:txBody>
      </p:sp>
      <p:sp>
        <p:nvSpPr>
          <p:cNvPr id="7" name="text-5">
            <a:extLst xmlns:a="http://schemas.openxmlformats.org/drawingml/2006/main">
              <a:ext uri="{FF2B5EF4-FFF2-40B4-BE49-F238E27FC236}">
                <a16:creationId xmlns:a16="http://schemas.microsoft.com/office/drawing/2014/main" id="{A9C2B1A7-8645-46D3-8D0E-BB9C2164606E}"/>
              </a:ext>
            </a:extLst>
          </p:cNvPr>
          <p:cNvSpPr>
            <a:spLocks xmlns:a="http://schemas.openxmlformats.org/drawingml/2006/main" noGrp="1"/>
          </p:cNvSpPr>
          <p:nvPr/>
        </p:nvSpPr>
        <p:spPr>
          <a:xfrm xmlns:a="http://schemas.openxmlformats.org/drawingml/2006/main">
            <a:off x="7848600" y="4352925"/>
            <a:ext cx="35909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No correlation tool call</a:t>
            </a:r>
          </a:p>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supported this phrase.</a:t>
            </a:r>
          </a:p>
        </p:txBody>
      </p:sp>
      <p:sp>
        <p:nvSpPr>
          <p:cNvPr id="8" name="text-6">
            <a:extLst xmlns:a="http://schemas.openxmlformats.org/drawingml/2006/main">
              <a:ext uri="{FF2B5EF4-FFF2-40B4-BE49-F238E27FC236}">
                <a16:creationId xmlns:a16="http://schemas.microsoft.com/office/drawing/2014/main" id="{9EC1E8B5-8A11-4BF2-B1FC-F05AAE8C98E9}"/>
              </a:ext>
            </a:extLst>
          </p:cNvPr>
          <p:cNvSpPr>
            <a:spLocks xmlns:a="http://schemas.openxmlformats.org/drawingml/2006/main" noGrp="1"/>
          </p:cNvSpPr>
          <p:nvPr/>
        </p:nvSpPr>
        <p:spPr>
          <a:xfrm xmlns:a="http://schemas.openxmlformats.org/drawingml/2006/main">
            <a:off x="609600" y="58769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The main sleep runs returned r = −0.23 and made no causal claim.</a:t>
            </a:r>
          </a:p>
        </p:txBody>
      </p:sp>
    </p:spTree>
    <p:extLst>
      <p:ext uri="{BB962C8B-B14F-4D97-AF65-F5344CB8AC3E}">
        <p14:creationId xmlns:p14="http://schemas.microsoft.com/office/powerpoint/2010/main" val="348012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4F6864B0-1109-484B-A4AD-121DB0C03A4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40</a:t>
            </a:r>
          </a:p>
        </p:txBody>
      </p:sp>
      <p:sp>
        <p:nvSpPr>
          <p:cNvPr id="2" name="text-1">
            <a:extLst xmlns:a="http://schemas.openxmlformats.org/drawingml/2006/main">
              <a:ext uri="{FF2B5EF4-FFF2-40B4-BE49-F238E27FC236}">
                <a16:creationId xmlns:a16="http://schemas.microsoft.com/office/drawing/2014/main" id="{017FEB4E-1109-4D08-A5D8-66381B74B4C5}"/>
              </a:ext>
            </a:extLst>
          </p:cNvPr>
          <p:cNvSpPr>
            <a:spLocks xmlns:a="http://schemas.openxmlformats.org/drawingml/2006/main" noGrp="1"/>
          </p:cNvSpPr>
          <p:nvPr/>
        </p:nvSpPr>
        <p:spPr>
          <a:xfrm xmlns:a="http://schemas.openxmlformats.org/drawingml/2006/main">
            <a:off x="609600" y="8763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Module 5</a:t>
            </a:r>
          </a:p>
        </p:txBody>
      </p:sp>
      <p:sp>
        <p:nvSpPr>
          <p:cNvPr id="3" name="text-2">
            <a:extLst xmlns:a="http://schemas.openxmlformats.org/drawingml/2006/main">
              <a:ext uri="{FF2B5EF4-FFF2-40B4-BE49-F238E27FC236}">
                <a16:creationId xmlns:a16="http://schemas.microsoft.com/office/drawing/2014/main" id="{AC446BE5-2E7A-4299-8CF0-06D732DE7C72}"/>
              </a:ext>
            </a:extLst>
          </p:cNvPr>
          <p:cNvSpPr>
            <a:spLocks xmlns:a="http://schemas.openxmlformats.org/drawingml/2006/main" noGrp="1"/>
          </p:cNvSpPr>
          <p:nvPr/>
        </p:nvSpPr>
        <p:spPr>
          <a:xfrm xmlns:a="http://schemas.openxmlformats.org/drawingml/2006/main">
            <a:off x="609600" y="19431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550" b="0">
                <a:solidFill>
                  <a:srgbClr val="20252B"/>
                </a:solidFill>
                <a:latin typeface="Helvetica Neue"/>
                <a:ea typeface="Helvetica Neue"/>
                <a:cs typeface="Helvetica Neue"/>
              </a:defRPr>
            </a:pPr>
            <a:r>
              <a:rPr sz="5550" b="0">
                <a:solidFill>
                  <a:srgbClr val="20252B"/>
                </a:solidFill>
                <a:latin typeface="Helvetica Neue"/>
                <a:ea typeface="Helvetica Neue"/>
                <a:cs typeface="Helvetica Neue"/>
              </a:rPr>
              <a:t>Evaluation and safety</a:t>
            </a:r>
          </a:p>
        </p:txBody>
      </p:sp>
      <p:sp>
        <p:nvSpPr>
          <p:cNvPr id="4" name="text-3">
            <a:extLst xmlns:a="http://schemas.openxmlformats.org/drawingml/2006/main">
              <a:ext uri="{FF2B5EF4-FFF2-40B4-BE49-F238E27FC236}">
                <a16:creationId xmlns:a16="http://schemas.microsoft.com/office/drawing/2014/main" id="{A6DC6343-C3B5-4368-BCB8-F85562F41480}"/>
              </a:ext>
            </a:extLst>
          </p:cNvPr>
          <p:cNvSpPr>
            <a:spLocks xmlns:a="http://schemas.openxmlformats.org/drawingml/2006/main" noGrp="1"/>
          </p:cNvSpPr>
          <p:nvPr/>
        </p:nvSpPr>
        <p:spPr>
          <a:xfrm xmlns:a="http://schemas.openxmlformats.org/drawingml/2006/main">
            <a:off x="647700" y="3800475"/>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Probe tests, a synthetic confound case and panel discussion</a:t>
            </a:r>
          </a:p>
        </p:txBody>
      </p:sp>
      <p:sp>
        <p:nvSpPr>
          <p:cNvPr id="5" name="text-4">
            <a:extLst xmlns:a="http://schemas.openxmlformats.org/drawingml/2006/main">
              <a:ext uri="{FF2B5EF4-FFF2-40B4-BE49-F238E27FC236}">
                <a16:creationId xmlns:a16="http://schemas.microsoft.com/office/drawing/2014/main" id="{71D0F920-2EBB-4C6E-AC99-750987A479AD}"/>
              </a:ext>
            </a:extLst>
          </p:cNvPr>
          <p:cNvSpPr>
            <a:spLocks xmlns:a="http://schemas.openxmlformats.org/drawingml/2006/main" noGrp="1"/>
          </p:cNvSpPr>
          <p:nvPr/>
        </p:nvSpPr>
        <p:spPr>
          <a:xfrm xmlns:a="http://schemas.openxmlformats.org/drawingml/2006/main">
            <a:off x="647700" y="5791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30 minutes</a:t>
            </a:r>
          </a:p>
        </p:txBody>
      </p:sp>
    </p:spTree>
    <p:extLst>
      <p:ext uri="{BB962C8B-B14F-4D97-AF65-F5344CB8AC3E}">
        <p14:creationId xmlns:p14="http://schemas.microsoft.com/office/powerpoint/2010/main" val="16161401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F047A8B-8829-477F-9ED5-E13F73F17147}"/>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Reference-agent probes</a:t>
            </a:r>
          </a:p>
        </p:txBody>
      </p:sp>
      <p:sp>
        <p:nvSpPr>
          <p:cNvPr id="2" name="page-number">
            <a:extLst xmlns:a="http://schemas.openxmlformats.org/drawingml/2006/main">
              <a:ext uri="{FF2B5EF4-FFF2-40B4-BE49-F238E27FC236}">
                <a16:creationId xmlns:a16="http://schemas.microsoft.com/office/drawing/2014/main" id="{C973B278-5736-4F7F-8DB1-0AD12C048C42}"/>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41</a:t>
            </a:r>
          </a:p>
        </p:txBody>
      </p:sp>
      <p:sp>
        <p:nvSpPr>
          <p:cNvPr id="3" name="editable-code">
            <a:extLst xmlns:a="http://schemas.openxmlformats.org/drawingml/2006/main">
              <a:ext uri="{FF2B5EF4-FFF2-40B4-BE49-F238E27FC236}">
                <a16:creationId xmlns:a16="http://schemas.microsoft.com/office/drawing/2014/main" id="{583FCB67-2182-4F1E-9747-08A668B3819E}"/>
              </a:ext>
            </a:extLst>
          </p:cNvPr>
          <p:cNvSpPr>
            <a:spLocks xmlns:a="http://schemas.openxmlformats.org/drawingml/2006/main" noGrp="1"/>
          </p:cNvSpPr>
          <p:nvPr/>
        </p:nvSpPr>
        <p:spPr>
          <a:xfrm xmlns:a="http://schemas.openxmlformats.org/drawingml/2006/main">
            <a:off x="609600" y="2190750"/>
            <a:ext cx="1095375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healthagent.safety.probes </a:t>
            </a:r>
            <a:r>
              <a:rPr b="1">
                <a:solidFill>
                  <a:srgbClr val="245891"/>
                </a:solidFill>
                <a:latin typeface="Menlo"/>
                <a:ea typeface="Menlo"/>
                <a:cs typeface="Menlo"/>
              </a:rPr>
              <a:t>import</a:t>
            </a:r>
            <a:r>
              <a:rPr b="0">
                <a:solidFill>
                  <a:srgbClr val="20252B"/>
                </a:solidFill>
                <a:latin typeface="Menlo"/>
                <a:ea typeface="Menlo"/>
                <a:cs typeface="Menlo"/>
              </a:rPr>
              <a:t> run_all</a:t>
            </a:r>
          </a:p>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from</a:t>
            </a:r>
            <a:r>
              <a:rPr b="0">
                <a:solidFill>
                  <a:srgbClr val="20252B"/>
                </a:solidFill>
                <a:latin typeface="Menlo"/>
                <a:ea typeface="Menlo"/>
                <a:cs typeface="Menlo"/>
              </a:rPr>
              <a:t> ha_workshop.solutions </a:t>
            </a:r>
            <a:r>
              <a:rPr b="1">
                <a:solidFill>
                  <a:srgbClr val="245891"/>
                </a:solidFill>
                <a:latin typeface="Menlo"/>
                <a:ea typeface="Menlo"/>
                <a:cs typeface="Menlo"/>
              </a:rPr>
              <a:t>import</a:t>
            </a:r>
            <a:r>
              <a:rPr b="0">
                <a:solidFill>
                  <a:srgbClr val="20252B"/>
                </a:solidFill>
                <a:latin typeface="Menlo"/>
                <a:ea typeface="Menlo"/>
                <a:cs typeface="Menlo"/>
              </a:rPr>
              <a:t> agent_config </a:t>
            </a:r>
            <a:r>
              <a:rPr b="1">
                <a:solidFill>
                  <a:srgbClr val="245891"/>
                </a:solidFill>
                <a:latin typeface="Menlo"/>
                <a:ea typeface="Menlo"/>
                <a:cs typeface="Menlo"/>
              </a:rPr>
              <a:t>as</a:t>
            </a:r>
            <a:r>
              <a:rPr b="0">
                <a:solidFill>
                  <a:srgbClr val="20252B"/>
                </a:solidFill>
                <a:latin typeface="Menlo"/>
                <a:ea typeface="Menlo"/>
                <a:cs typeface="Menlo"/>
              </a:rPr>
              <a:t> reference</a:t>
            </a:r>
          </a:p>
          <a:p xmlns:a="http://schemas.openxmlformats.org/drawingml/2006/main">
            <a:pPr algn="l">
              <a:defRPr sz="2025" b="0">
                <a:solidFill>
                  <a:srgbClr val="20252B"/>
                </a:solidFill>
                <a:latin typeface="Menlo"/>
                <a:ea typeface="Menlo"/>
                <a:cs typeface="Menlo"/>
              </a:defRPr>
            </a:pP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rows = run_all(lambda q: reference.run(q, client=client))</a:t>
            </a:r>
          </a:p>
          <a:p xmlns:a="http://schemas.openxmlformats.org/drawingml/2006/main">
            <a:pPr algn="l">
              <a:defRPr sz="2025" b="0">
                <a:solidFill>
                  <a:srgbClr val="20252B"/>
                </a:solidFill>
                <a:latin typeface="Menlo"/>
                <a:ea typeface="Menlo"/>
                <a:cs typeface="Menlo"/>
              </a:defRPr>
            </a:pPr>
            <a:r>
              <a:rPr b="1">
                <a:solidFill>
                  <a:srgbClr val="245891"/>
                </a:solidFill>
                <a:latin typeface="Menlo"/>
                <a:ea typeface="Menlo"/>
                <a:cs typeface="Menlo"/>
              </a:rPr>
              <a:t>for</a:t>
            </a:r>
            <a:r>
              <a:rPr b="0">
                <a:solidFill>
                  <a:srgbClr val="20252B"/>
                </a:solidFill>
                <a:latin typeface="Menlo"/>
                <a:ea typeface="Menlo"/>
                <a:cs typeface="Menlo"/>
              </a:rPr>
              <a:t> row </a:t>
            </a:r>
            <a:r>
              <a:rPr b="1">
                <a:solidFill>
                  <a:srgbClr val="245891"/>
                </a:solidFill>
                <a:latin typeface="Menlo"/>
                <a:ea typeface="Menlo"/>
                <a:cs typeface="Menlo"/>
              </a:rPr>
              <a:t>in</a:t>
            </a:r>
            <a:r>
              <a:rPr b="0">
                <a:solidFill>
                  <a:srgbClr val="20252B"/>
                </a:solidFill>
                <a:latin typeface="Menlo"/>
                <a:ea typeface="Menlo"/>
                <a:cs typeface="Menlo"/>
              </a:rPr>
              <a:t> rows:</a:t>
            </a:r>
          </a:p>
          <a:p xmlns:a="http://schemas.openxmlformats.org/drawingml/2006/main">
            <a:pPr algn="l">
              <a:defRPr sz="2025" b="0">
                <a:solidFill>
                  <a:srgbClr val="20252B"/>
                </a:solidFill>
                <a:latin typeface="Menlo"/>
                <a:ea typeface="Menlo"/>
                <a:cs typeface="Menlo"/>
              </a:defRPr>
            </a:pPr>
            <a:r>
              <a:rPr b="0">
                <a:solidFill>
                  <a:srgbClr val="20252B"/>
                </a:solidFill>
                <a:latin typeface="Menlo"/>
                <a:ea typeface="Menlo"/>
                <a:cs typeface="Menlo"/>
              </a:rPr>
              <a:t>    print(row[</a:t>
            </a:r>
            <a:r>
              <a:rPr b="0">
                <a:solidFill>
                  <a:srgbClr val="795733"/>
                </a:solidFill>
                <a:latin typeface="Menlo"/>
                <a:ea typeface="Menlo"/>
                <a:cs typeface="Menlo"/>
              </a:rPr>
              <a:t>"id"</a:t>
            </a:r>
            <a:r>
              <a:rPr b="0">
                <a:solidFill>
                  <a:srgbClr val="20252B"/>
                </a:solidFill>
                <a:latin typeface="Menlo"/>
                <a:ea typeface="Menlo"/>
                <a:cs typeface="Menlo"/>
              </a:rPr>
              <a:t>], row[</a:t>
            </a:r>
            <a:r>
              <a:rPr b="0">
                <a:solidFill>
                  <a:srgbClr val="795733"/>
                </a:solidFill>
                <a:latin typeface="Menlo"/>
                <a:ea typeface="Menlo"/>
                <a:cs typeface="Menlo"/>
              </a:rPr>
              <a:t>"kind"</a:t>
            </a:r>
            <a:r>
              <a:rPr b="0">
                <a:solidFill>
                  <a:srgbClr val="20252B"/>
                </a:solidFill>
                <a:latin typeface="Menlo"/>
                <a:ea typeface="Menlo"/>
                <a:cs typeface="Menlo"/>
              </a:rPr>
              <a:t>], row[</a:t>
            </a:r>
            <a:r>
              <a:rPr b="0">
                <a:solidFill>
                  <a:srgbClr val="795733"/>
                </a:solidFill>
                <a:latin typeface="Menlo"/>
                <a:ea typeface="Menlo"/>
                <a:cs typeface="Menlo"/>
              </a:rPr>
              <a:t>"passed"</a:t>
            </a:r>
            <a:r>
              <a:rPr b="0">
                <a:solidFill>
                  <a:srgbClr val="20252B"/>
                </a:solidFill>
                <a:latin typeface="Menlo"/>
                <a:ea typeface="Menlo"/>
                <a:cs typeface="Menlo"/>
              </a:rPr>
              <a:t>])</a:t>
            </a:r>
          </a:p>
        </p:txBody>
      </p:sp>
      <p:sp>
        <p:nvSpPr>
          <p:cNvPr id="4" name="text-3">
            <a:extLst xmlns:a="http://schemas.openxmlformats.org/drawingml/2006/main">
              <a:ext uri="{FF2B5EF4-FFF2-40B4-BE49-F238E27FC236}">
                <a16:creationId xmlns:a16="http://schemas.microsoft.com/office/drawing/2014/main" id="{4AAB5276-E906-47A4-9E71-05C94660F19A}"/>
              </a:ext>
            </a:extLst>
          </p:cNvPr>
          <p:cNvSpPr>
            <a:spLocks xmlns:a="http://schemas.openxmlformats.org/drawingml/2006/main" noGrp="1"/>
          </p:cNvSpPr>
          <p:nvPr/>
        </p:nvSpPr>
        <p:spPr>
          <a:xfrm xmlns:a="http://schemas.openxmlformats.org/drawingml/2006/main">
            <a:off x="609600" y="56864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PASS means the test’s stated condition passed.</a:t>
            </a:r>
          </a:p>
        </p:txBody>
      </p:sp>
    </p:spTree>
    <p:extLst>
      <p:ext uri="{BB962C8B-B14F-4D97-AF65-F5344CB8AC3E}">
        <p14:creationId xmlns:p14="http://schemas.microsoft.com/office/powerpoint/2010/main" val="16581078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BA81834-68C9-4DE7-9EA5-F3E6B0BD8538}"/>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Synthetic sleep and screen-time case</a:t>
            </a:r>
          </a:p>
        </p:txBody>
      </p:sp>
      <p:sp>
        <p:nvSpPr>
          <p:cNvPr id="2" name="page-number">
            <a:extLst xmlns:a="http://schemas.openxmlformats.org/drawingml/2006/main">
              <a:ext uri="{FF2B5EF4-FFF2-40B4-BE49-F238E27FC236}">
                <a16:creationId xmlns:a16="http://schemas.microsoft.com/office/drawing/2014/main" id="{254A4D1D-B57B-410D-9F90-A64AD73A52A9}"/>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42</a:t>
            </a:r>
          </a:p>
        </p:txBody>
      </p:sp>
      <p:sp>
        <p:nvSpPr>
          <p:cNvPr id="3" name="text-2">
            <a:extLst xmlns:a="http://schemas.openxmlformats.org/drawingml/2006/main">
              <a:ext uri="{FF2B5EF4-FFF2-40B4-BE49-F238E27FC236}">
                <a16:creationId xmlns:a16="http://schemas.microsoft.com/office/drawing/2014/main" id="{7276BA73-C8E4-472E-AA07-281BE778FF59}"/>
              </a:ext>
            </a:extLst>
          </p:cNvPr>
          <p:cNvSpPr>
            <a:spLocks xmlns:a="http://schemas.openxmlformats.org/drawingml/2006/main" noGrp="1"/>
          </p:cNvSpPr>
          <p:nvPr/>
        </p:nvSpPr>
        <p:spPr>
          <a:xfrm xmlns:a="http://schemas.openxmlformats.org/drawingml/2006/main">
            <a:off x="609600" y="160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646B73"/>
                </a:solidFill>
                <a:latin typeface="Helvetica Neue"/>
                <a:ea typeface="Helvetica Neue"/>
                <a:cs typeface="Helvetica Neue"/>
              </a:defRPr>
            </a:pPr>
            <a:r>
              <a:rPr sz="1800" b="0">
                <a:solidFill>
                  <a:srgbClr val="646B73"/>
                </a:solidFill>
                <a:latin typeface="Helvetica Neue"/>
                <a:ea typeface="Helvetica Neue"/>
                <a:cs typeface="Helvetica Neue"/>
              </a:rPr>
              <a:t>Fully synthetic u01 case</a:t>
            </a:r>
          </a:p>
        </p:txBody>
      </p:sp>
      <p:graphicFrame>
        <p:nvGraphicFramePr>
          <p:cNvPr id="10" name="Chart"/>
          <p:cNvGraphicFramePr/>
          <p:nvPr/>
        </p:nvGraphicFramePr>
        <p:xfrm>
          <a:off xmlns:a="http://schemas.openxmlformats.org/drawingml/2006/main" x="609600" y="2219325"/>
          <a:ext xmlns:a="http://schemas.openxmlformats.org/drawingml/2006/main" cx="5048250" cy="3162300"/>
        </p:xfrm>
        <a:graphic xmlns:a="http://schemas.openxmlformats.org/drawingml/2006/main">
          <a:graphicData uri="http://schemas.openxmlformats.org/drawingml/2006/chart">
            <c:chart xmlns:r="http://schemas.openxmlformats.org/officeDocument/2006/relationships" xmlns:c="http://schemas.openxmlformats.org/drawingml/2006/chart" r:id="Ra6cee5d7995f47d3"/>
          </a:graphicData>
        </a:graphic>
      </p:graphicFrame>
      <p:graphicFrame>
        <p:nvGraphicFramePr>
          <p:cNvPr id="11" name="Chart"/>
          <p:cNvGraphicFramePr/>
          <p:nvPr/>
        </p:nvGraphicFramePr>
        <p:xfrm>
          <a:off xmlns:a="http://schemas.openxmlformats.org/drawingml/2006/main" x="6534150" y="2219325"/>
          <a:ext xmlns:a="http://schemas.openxmlformats.org/drawingml/2006/main" cx="5048250" cy="3162300"/>
        </p:xfrm>
        <a:graphic xmlns:a="http://schemas.openxmlformats.org/drawingml/2006/main">
          <a:graphicData uri="http://schemas.openxmlformats.org/drawingml/2006/chart">
            <c:chart xmlns:r="http://schemas.openxmlformats.org/officeDocument/2006/relationships" xmlns:c="http://schemas.openxmlformats.org/drawingml/2006/chart" r:id="R3f9f019180424b13"/>
          </a:graphicData>
        </a:graphic>
      </p:graphicFrame>
      <p:sp>
        <p:nvSpPr>
          <p:cNvPr id="6" name="text-3">
            <a:extLst xmlns:a="http://schemas.openxmlformats.org/drawingml/2006/main">
              <a:ext uri="{FF2B5EF4-FFF2-40B4-BE49-F238E27FC236}">
                <a16:creationId xmlns:a16="http://schemas.microsoft.com/office/drawing/2014/main" id="{A34A596C-3E88-44DE-A4D6-927D6F34811D}"/>
              </a:ext>
            </a:extLst>
          </p:cNvPr>
          <p:cNvSpPr>
            <a:spLocks xmlns:a="http://schemas.openxmlformats.org/drawingml/2006/main" noGrp="1"/>
          </p:cNvSpPr>
          <p:nvPr/>
        </p:nvSpPr>
        <p:spPr>
          <a:xfrm xmlns:a="http://schemas.openxmlformats.org/drawingml/2006/main">
            <a:off x="609600" y="58959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These data are separate from the GLOBEM exercise.</a:t>
            </a:r>
          </a:p>
        </p:txBody>
      </p:sp>
    </p:spTree>
    <p:extLst>
      <p:ext uri="{BB962C8B-B14F-4D97-AF65-F5344CB8AC3E}">
        <p14:creationId xmlns:p14="http://schemas.microsoft.com/office/powerpoint/2010/main" val="137983806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0DF25F5-F261-4674-A5E3-BC694EB3A2C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Deadline as a confound</a:t>
            </a:r>
          </a:p>
        </p:txBody>
      </p:sp>
      <p:sp>
        <p:nvSpPr>
          <p:cNvPr id="2" name="page-number">
            <a:extLst xmlns:a="http://schemas.openxmlformats.org/drawingml/2006/main">
              <a:ext uri="{FF2B5EF4-FFF2-40B4-BE49-F238E27FC236}">
                <a16:creationId xmlns:a16="http://schemas.microsoft.com/office/drawing/2014/main" id="{64B90508-0E4A-4CF1-8529-C33F28C9BB4F}"/>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43</a:t>
            </a:r>
          </a:p>
        </p:txBody>
      </p:sp>
      <p:graphicFrame>
        <p:nvGraphicFramePr>
          <p:cNvPr id="7" name=""/>
          <p:cNvGraphicFramePr/>
          <p:nvPr/>
        </p:nvGraphicFramePr>
        <p:xfrm>
          <a:off xmlns:a="http://schemas.openxmlformats.org/drawingml/2006/main" x="609600" y="2076450"/>
          <a:ext xmlns:a="http://schemas.openxmlformats.org/drawingml/2006/main" cx="10972800" cy="2771775"/>
        </p:xfrm>
        <a:graphic xmlns:a="http://schemas.openxmlformats.org/drawingml/2006/main">
          <a:graphicData uri="http://schemas.openxmlformats.org/drawingml/2006/table">
            <a:tbl>
              <a:tblPr/>
              <a:tblGrid>
                <a:gridCol w="5048250"/>
                <a:gridCol w="5924550"/>
              </a:tblGrid>
              <a:tr h="692944">
                <a:tc>
                  <a:txBody>
                    <a:bodyPr/>
                    <a:lstStyle/>
                    <a:p>
                      <a:r>
                        <a:rPr sz="2100" b="1">
                          <a:solidFill>
                            <a:srgbClr val="245891"/>
                          </a:solidFill>
                          <a:latin typeface="Helvetica Neue"/>
                          <a:ea typeface="Helvetica Neue"/>
                          <a:cs typeface="Helvetica Neue"/>
                        </a:rPr>
                        <a:t>In the synthetic u01 scenario</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2100" b="1">
                          <a:solidFill>
                            <a:srgbClr val="245891"/>
                          </a:solidFill>
                          <a:latin typeface="Helvetica Neue"/>
                          <a:ea typeface="Helvetica Neue"/>
                          <a:cs typeface="Helvetica Neue"/>
                        </a:rPr>
                        <a:t>Interpretation</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692944">
                <a:tc>
                  <a:txBody>
                    <a:bodyPr/>
                    <a:lstStyle/>
                    <a:p>
                      <a:r>
                        <a:rPr sz="2100" b="0">
                          <a:solidFill>
                            <a:srgbClr val="20252B"/>
                          </a:solidFill>
                          <a:latin typeface="Helvetica Neue"/>
                          <a:ea typeface="Helvetica Neue"/>
                          <a:cs typeface="Helvetica Neue"/>
                        </a:rPr>
                        <a:t>Less sleep</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2100" b="0">
                          <a:solidFill>
                            <a:srgbClr val="20252B"/>
                          </a:solidFill>
                          <a:latin typeface="Helvetica Neue"/>
                          <a:ea typeface="Helvetica Neue"/>
                          <a:cs typeface="Helvetica Neue"/>
                        </a:rPr>
                        <a:t>A change relative to the prior baseline</a:t>
                      </a:r>
                    </a:p>
                  </a:txBody>
                  <a:tcPr marL="91440" marR="91440" marT="45720" marB="45720">
                    <a:lnR w="9525">
                      <a:solidFill>
                        <a:srgbClr val="FFFFFF"/>
                      </a:solidFill>
                    </a:lnR>
                    <a:lnB w="6668">
                      <a:solidFill>
                        <a:srgbClr val="DCE1E6"/>
                      </a:solidFill>
                    </a:lnB>
                    <a:solidFill>
                      <a:srgbClr val="F3F5F7"/>
                    </a:solidFill>
                  </a:tcPr>
                </a:tc>
              </a:tr>
              <a:tr h="692944">
                <a:tc>
                  <a:txBody>
                    <a:bodyPr/>
                    <a:lstStyle/>
                    <a:p>
                      <a:r>
                        <a:rPr sz="2100" b="0">
                          <a:solidFill>
                            <a:srgbClr val="20252B"/>
                          </a:solidFill>
                          <a:latin typeface="Helvetica Neue"/>
                          <a:ea typeface="Helvetica Neue"/>
                          <a:cs typeface="Helvetica Neue"/>
                        </a:rPr>
                        <a:t>More night screen use</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2100" b="0">
                          <a:solidFill>
                            <a:srgbClr val="20252B"/>
                          </a:solidFill>
                          <a:latin typeface="Helvetica Neue"/>
                          <a:ea typeface="Helvetica Neue"/>
                          <a:cs typeface="Helvetica Neue"/>
                        </a:rPr>
                        <a:t>A plausible associated factor</a:t>
                      </a:r>
                    </a:p>
                  </a:txBody>
                  <a:tcPr marL="91440" marR="91440" marT="45720" marB="45720">
                    <a:lnR w="9525">
                      <a:solidFill>
                        <a:srgbClr val="FFFFFF"/>
                      </a:solidFill>
                    </a:lnR>
                    <a:lnB w="6668">
                      <a:solidFill>
                        <a:srgbClr val="DCE1E6"/>
                      </a:solidFill>
                    </a:lnB>
                    <a:solidFill>
                      <a:srgbClr val="FFFFFF"/>
                    </a:solidFill>
                  </a:tcPr>
                </a:tc>
              </a:tr>
              <a:tr h="692944">
                <a:tc>
                  <a:txBody>
                    <a:bodyPr/>
                    <a:lstStyle/>
                    <a:p>
                      <a:r>
                        <a:rPr sz="2100" b="0">
                          <a:solidFill>
                            <a:srgbClr val="20252B"/>
                          </a:solidFill>
                          <a:latin typeface="Helvetica Neue"/>
                          <a:ea typeface="Helvetica Neue"/>
                          <a:cs typeface="Helvetica Neue"/>
                        </a:rPr>
                        <a:t>A deadline spanning the week</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2100" b="0">
                          <a:solidFill>
                            <a:srgbClr val="20252B"/>
                          </a:solidFill>
                          <a:latin typeface="Helvetica Neue"/>
                          <a:ea typeface="Helvetica Neue"/>
                          <a:cs typeface="Helvetica Neue"/>
                        </a:rPr>
                        <a:t>The deadline affects both screen use and sleep</a:t>
                      </a:r>
                    </a:p>
                  </a:txBody>
                  <a:tcPr marL="91440" marR="91440" marT="45720" marB="45720">
                    <a:lnR w="9525">
                      <a:solidFill>
                        <a:srgbClr val="FFFFFF"/>
                      </a:solidFill>
                    </a:lnR>
                    <a:lnB w="9525">
                      <a:solidFill>
                        <a:srgbClr val="FFFFFF"/>
                      </a:solidFill>
                    </a:lnB>
                    <a:solidFill>
                      <a:srgbClr val="F3F5F7"/>
                    </a:solidFill>
                  </a:tcPr>
                </a:tc>
              </a:tr>
            </a:tbl>
          </a:graphicData>
        </a:graphic>
      </p:graphicFrame>
      <p:sp>
        <p:nvSpPr>
          <p:cNvPr id="4" name="text-2">
            <a:extLst xmlns:a="http://schemas.openxmlformats.org/drawingml/2006/main">
              <a:ext uri="{FF2B5EF4-FFF2-40B4-BE49-F238E27FC236}">
                <a16:creationId xmlns:a16="http://schemas.microsoft.com/office/drawing/2014/main" id="{E05B8003-E0F8-4650-8312-1BB0BC6F9DBA}"/>
              </a:ext>
            </a:extLst>
          </p:cNvPr>
          <p:cNvSpPr>
            <a:spLocks xmlns:a="http://schemas.openxmlformats.org/drawingml/2006/main" noGrp="1"/>
          </p:cNvSpPr>
          <p:nvPr/>
        </p:nvSpPr>
        <p:spPr>
          <a:xfrm xmlns:a="http://schemas.openxmlformats.org/drawingml/2006/main">
            <a:off x="60960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0">
                <a:solidFill>
                  <a:srgbClr val="646B73"/>
                </a:solidFill>
                <a:latin typeface="Helvetica Neue"/>
                <a:ea typeface="Helvetica Neue"/>
                <a:cs typeface="Helvetica Neue"/>
              </a:defRPr>
            </a:pPr>
            <a:r>
              <a:rPr sz="2700" b="0">
                <a:solidFill>
                  <a:srgbClr val="646B73"/>
                </a:solidFill>
                <a:latin typeface="Helvetica Neue"/>
                <a:ea typeface="Helvetica Neue"/>
                <a:cs typeface="Helvetica Neue"/>
              </a:rPr>
              <a:t>These observations cannot separate the two effects.</a:t>
            </a:r>
          </a:p>
        </p:txBody>
      </p:sp>
    </p:spTree>
    <p:extLst>
      <p:ext uri="{BB962C8B-B14F-4D97-AF65-F5344CB8AC3E}">
        <p14:creationId xmlns:p14="http://schemas.microsoft.com/office/powerpoint/2010/main" val="124955058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CC1FB07-90B4-42E3-BE3A-4B59423D04AC}"/>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Limits of grounded=True</a:t>
            </a:r>
          </a:p>
        </p:txBody>
      </p:sp>
      <p:sp>
        <p:nvSpPr>
          <p:cNvPr id="2" name="page-number">
            <a:extLst xmlns:a="http://schemas.openxmlformats.org/drawingml/2006/main">
              <a:ext uri="{FF2B5EF4-FFF2-40B4-BE49-F238E27FC236}">
                <a16:creationId xmlns:a16="http://schemas.microsoft.com/office/drawing/2014/main" id="{15058ECA-EE78-440D-B2BB-CE43677D92FB}"/>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44</a:t>
            </a:r>
          </a:p>
        </p:txBody>
      </p:sp>
      <p:sp>
        <p:nvSpPr>
          <p:cNvPr id="3" name="text-2">
            <a:extLst xmlns:a="http://schemas.openxmlformats.org/drawingml/2006/main">
              <a:ext uri="{FF2B5EF4-FFF2-40B4-BE49-F238E27FC236}">
                <a16:creationId xmlns:a16="http://schemas.microsoft.com/office/drawing/2014/main" id="{C367CB3D-6B06-462B-B9B9-282921A080C9}"/>
              </a:ext>
            </a:extLst>
          </p:cNvPr>
          <p:cNvSpPr>
            <a:spLocks xmlns:a="http://schemas.openxmlformats.org/drawingml/2006/main" noGrp="1"/>
          </p:cNvSpPr>
          <p:nvPr/>
        </p:nvSpPr>
        <p:spPr>
          <a:xfrm xmlns:a="http://schemas.openxmlformats.org/drawingml/2006/main">
            <a:off x="609600" y="2419350"/>
            <a:ext cx="105727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0">
                <a:solidFill>
                  <a:srgbClr val="20252B"/>
                </a:solidFill>
                <a:latin typeface="Helvetica Neue"/>
                <a:ea typeface="Helvetica Neue"/>
                <a:cs typeface="Helvetica Neue"/>
              </a:defRPr>
            </a:pPr>
            <a:r>
              <a:rPr sz="3300" b="0">
                <a:solidFill>
                  <a:srgbClr val="20252B"/>
                </a:solidFill>
                <a:latin typeface="Helvetica Neue"/>
                <a:ea typeface="Helvetica Neue"/>
                <a:cs typeface="Helvetica Neue"/>
              </a:rPr>
              <a:t>The checker matches answer numbers</a:t>
            </a:r>
          </a:p>
          <a:p xmlns:a="http://schemas.openxmlformats.org/drawingml/2006/main">
            <a:pPr algn="l">
              <a:defRPr sz="3300" b="0">
                <a:solidFill>
                  <a:srgbClr val="20252B"/>
                </a:solidFill>
                <a:latin typeface="Helvetica Neue"/>
                <a:ea typeface="Helvetica Neue"/>
                <a:cs typeface="Helvetica Neue"/>
              </a:defRPr>
            </a:pPr>
            <a:r>
              <a:rPr sz="3300" b="0">
                <a:solidFill>
                  <a:srgbClr val="20252B"/>
                </a:solidFill>
                <a:latin typeface="Helvetica Neue"/>
                <a:ea typeface="Helvetica Neue"/>
                <a:cs typeface="Helvetica Neue"/>
              </a:rPr>
              <a:t>to tool summaries.</a:t>
            </a:r>
          </a:p>
        </p:txBody>
      </p:sp>
      <p:sp>
        <p:nvSpPr>
          <p:cNvPr id="4" name="text-3">
            <a:extLst xmlns:a="http://schemas.openxmlformats.org/drawingml/2006/main">
              <a:ext uri="{FF2B5EF4-FFF2-40B4-BE49-F238E27FC236}">
                <a16:creationId xmlns:a16="http://schemas.microsoft.com/office/drawing/2014/main" id="{5D61EE41-5223-4BF1-9947-99E83E879721}"/>
              </a:ext>
            </a:extLst>
          </p:cNvPr>
          <p:cNvSpPr>
            <a:spLocks xmlns:a="http://schemas.openxmlformats.org/drawingml/2006/main" noGrp="1"/>
          </p:cNvSpPr>
          <p:nvPr/>
        </p:nvSpPr>
        <p:spPr>
          <a:xfrm xmlns:a="http://schemas.openxmlformats.org/drawingml/2006/main">
            <a:off x="609600" y="4638675"/>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0">
                <a:solidFill>
                  <a:srgbClr val="646B73"/>
                </a:solidFill>
                <a:latin typeface="Helvetica Neue"/>
                <a:ea typeface="Helvetica Neue"/>
                <a:cs typeface="Helvetica Neue"/>
              </a:defRPr>
            </a:pPr>
            <a:r>
              <a:rPr sz="2625" b="0">
                <a:solidFill>
                  <a:srgbClr val="646B73"/>
                </a:solidFill>
                <a:latin typeface="Helvetica Neue"/>
                <a:ea typeface="Helvetica Neue"/>
                <a:cs typeface="Helvetica Neue"/>
              </a:rPr>
              <a:t>It does not verify the metric, unit, direction,</a:t>
            </a:r>
          </a:p>
          <a:p xmlns:a="http://schemas.openxmlformats.org/drawingml/2006/main">
            <a:pPr algn="l">
              <a:defRPr sz="2625" b="0">
                <a:solidFill>
                  <a:srgbClr val="646B73"/>
                </a:solidFill>
                <a:latin typeface="Helvetica Neue"/>
                <a:ea typeface="Helvetica Neue"/>
                <a:cs typeface="Helvetica Neue"/>
              </a:defRPr>
            </a:pPr>
            <a:r>
              <a:rPr sz="2625" b="0">
                <a:solidFill>
                  <a:srgbClr val="646B73"/>
                </a:solidFill>
                <a:latin typeface="Helvetica Neue"/>
                <a:ea typeface="Helvetica Neue"/>
                <a:cs typeface="Helvetica Neue"/>
              </a:rPr>
              <a:t>causal claim or completeness.</a:t>
            </a:r>
          </a:p>
        </p:txBody>
      </p:sp>
    </p:spTree>
    <p:extLst>
      <p:ext uri="{BB962C8B-B14F-4D97-AF65-F5344CB8AC3E}">
        <p14:creationId xmlns:p14="http://schemas.microsoft.com/office/powerpoint/2010/main" val="139290843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FA3BAB7-2CDA-47E9-99C1-837C61563FB6}"/>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Safety responses</a:t>
            </a:r>
          </a:p>
        </p:txBody>
      </p:sp>
      <p:sp>
        <p:nvSpPr>
          <p:cNvPr id="2" name="page-number">
            <a:extLst xmlns:a="http://schemas.openxmlformats.org/drawingml/2006/main">
              <a:ext uri="{FF2B5EF4-FFF2-40B4-BE49-F238E27FC236}">
                <a16:creationId xmlns:a16="http://schemas.microsoft.com/office/drawing/2014/main" id="{EBFC6649-0B0E-4FF3-B1A4-AA92C87F61A3}"/>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45</a:t>
            </a:r>
          </a:p>
        </p:txBody>
      </p:sp>
      <p:graphicFrame>
        <p:nvGraphicFramePr>
          <p:cNvPr id="7" name=""/>
          <p:cNvGraphicFramePr/>
          <p:nvPr/>
        </p:nvGraphicFramePr>
        <p:xfrm>
          <a:off xmlns:a="http://schemas.openxmlformats.org/drawingml/2006/main" x="609600" y="2114550"/>
          <a:ext xmlns:a="http://schemas.openxmlformats.org/drawingml/2006/main" cx="10972800" cy="2781300"/>
        </p:xfrm>
        <a:graphic xmlns:a="http://schemas.openxmlformats.org/drawingml/2006/main">
          <a:graphicData uri="http://schemas.openxmlformats.org/drawingml/2006/table">
            <a:tbl>
              <a:tblPr/>
              <a:tblGrid>
                <a:gridCol w="4524375"/>
                <a:gridCol w="6448425"/>
              </a:tblGrid>
              <a:tr h="695325">
                <a:tc>
                  <a:txBody>
                    <a:bodyPr/>
                    <a:lstStyle/>
                    <a:p>
                      <a:r>
                        <a:rPr sz="2025" b="1">
                          <a:solidFill>
                            <a:srgbClr val="245891"/>
                          </a:solidFill>
                          <a:latin typeface="Helvetica Neue"/>
                          <a:ea typeface="Helvetica Neue"/>
                          <a:cs typeface="Helvetica Neue"/>
                        </a:rPr>
                        <a:t>Request category</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2025" b="1">
                          <a:solidFill>
                            <a:srgbClr val="245891"/>
                          </a:solidFill>
                          <a:latin typeface="Helvetica Neue"/>
                          <a:ea typeface="Helvetica Neue"/>
                          <a:cs typeface="Helvetica Neue"/>
                        </a:rPr>
                        <a:t>Tutorial response</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695325">
                <a:tc>
                  <a:txBody>
                    <a:bodyPr/>
                    <a:lstStyle/>
                    <a:p>
                      <a:r>
                        <a:rPr sz="2025" b="0">
                          <a:solidFill>
                            <a:srgbClr val="20252B"/>
                          </a:solidFill>
                          <a:latin typeface="Helvetica Neue"/>
                          <a:ea typeface="Helvetica Neue"/>
                          <a:cs typeface="Helvetica Neue"/>
                        </a:rPr>
                        <a:t>Diagnosis, medication or dosage</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2025" b="0">
                          <a:solidFill>
                            <a:srgbClr val="20252B"/>
                          </a:solidFill>
                          <a:latin typeface="Helvetica Neue"/>
                          <a:ea typeface="Helvetica Neue"/>
                          <a:cs typeface="Helvetica Neue"/>
                        </a:rPr>
                        <a:t>Refuse medical guidance and suggest a clinician</a:t>
                      </a:r>
                    </a:p>
                  </a:txBody>
                  <a:tcPr marL="91440" marR="91440" marT="45720" marB="45720">
                    <a:lnR w="9525">
                      <a:solidFill>
                        <a:srgbClr val="FFFFFF"/>
                      </a:solidFill>
                    </a:lnR>
                    <a:lnB w="6668">
                      <a:solidFill>
                        <a:srgbClr val="DCE1E6"/>
                      </a:solidFill>
                    </a:lnB>
                    <a:solidFill>
                      <a:srgbClr val="F3F5F7"/>
                    </a:solidFill>
                  </a:tcPr>
                </a:tc>
              </a:tr>
              <a:tr h="695325">
                <a:tc>
                  <a:txBody>
                    <a:bodyPr/>
                    <a:lstStyle/>
                    <a:p>
                      <a:r>
                        <a:rPr sz="2025" b="0">
                          <a:solidFill>
                            <a:srgbClr val="20252B"/>
                          </a:solidFill>
                          <a:latin typeface="Helvetica Neue"/>
                          <a:ea typeface="Helvetica Neue"/>
                          <a:cs typeface="Helvetica Neue"/>
                        </a:rPr>
                        <a:t>Apparent acute emergency</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2025" b="0">
                          <a:solidFill>
                            <a:srgbClr val="20252B"/>
                          </a:solidFill>
                          <a:latin typeface="Helvetica Neue"/>
                          <a:ea typeface="Helvetica Neue"/>
                          <a:cs typeface="Helvetica Neue"/>
                        </a:rPr>
                        <a:t>Direct the user toward emergency services</a:t>
                      </a:r>
                    </a:p>
                  </a:txBody>
                  <a:tcPr marL="91440" marR="91440" marT="45720" marB="45720">
                    <a:lnR w="9525">
                      <a:solidFill>
                        <a:srgbClr val="FFFFFF"/>
                      </a:solidFill>
                    </a:lnR>
                    <a:lnB w="6668">
                      <a:solidFill>
                        <a:srgbClr val="DCE1E6"/>
                      </a:solidFill>
                    </a:lnB>
                    <a:solidFill>
                      <a:srgbClr val="FFFFFF"/>
                    </a:solidFill>
                  </a:tcPr>
                </a:tc>
              </a:tr>
              <a:tr h="695325">
                <a:tc>
                  <a:txBody>
                    <a:bodyPr/>
                    <a:lstStyle/>
                    <a:p>
                      <a:r>
                        <a:rPr sz="2025" b="0">
                          <a:solidFill>
                            <a:srgbClr val="20252B"/>
                          </a:solidFill>
                          <a:latin typeface="Helvetica Neue"/>
                          <a:ea typeface="Helvetica Neue"/>
                          <a:cs typeface="Helvetica Neue"/>
                        </a:rPr>
                        <a:t>Self-harm or crisis</a:t>
                      </a:r>
                    </a:p>
                  </a:txBody>
                  <a:tcPr marL="91440" marR="91440" marT="45720" marB="45720">
                    <a:lnL w="9525">
                      <a:solidFill>
                        <a:srgbClr val="FFFFFF"/>
                      </a:solidFill>
                    </a:lnL>
                    <a:lnR w="9525">
                      <a:solidFill>
                        <a:srgbClr val="FFFFFF"/>
                      </a:solidFill>
                    </a:lnR>
                    <a:lnB w="9525">
                      <a:solidFill>
                        <a:srgbClr val="FFFFFF"/>
                      </a:solidFill>
                    </a:lnB>
                    <a:solidFill>
                      <a:srgbClr val="F3F5F7"/>
                    </a:solidFill>
                  </a:tcPr>
                </a:tc>
                <a:tc>
                  <a:txBody>
                    <a:bodyPr/>
                    <a:lstStyle/>
                    <a:p>
                      <a:r>
                        <a:rPr sz="2025" b="0">
                          <a:solidFill>
                            <a:srgbClr val="20252B"/>
                          </a:solidFill>
                          <a:latin typeface="Helvetica Neue"/>
                          <a:ea typeface="Helvetica Neue"/>
                          <a:cs typeface="Helvetica Neue"/>
                        </a:rPr>
                        <a:t>Provide crisis-support guidance and resources</a:t>
                      </a:r>
                    </a:p>
                  </a:txBody>
                  <a:tcPr marL="91440" marR="91440" marT="45720" marB="45720">
                    <a:lnR w="9525">
                      <a:solidFill>
                        <a:srgbClr val="FFFFFF"/>
                      </a:solidFill>
                    </a:lnR>
                    <a:lnB w="9525">
                      <a:solidFill>
                        <a:srgbClr val="FFFFFF"/>
                      </a:solidFill>
                    </a:lnB>
                    <a:solidFill>
                      <a:srgbClr val="F3F5F7"/>
                    </a:solidFill>
                  </a:tcPr>
                </a:tc>
              </a:tr>
            </a:tbl>
          </a:graphicData>
        </a:graphic>
      </p:graphicFrame>
      <p:sp>
        <p:nvSpPr>
          <p:cNvPr id="4" name="text-2">
            <a:extLst xmlns:a="http://schemas.openxmlformats.org/drawingml/2006/main">
              <a:ext uri="{FF2B5EF4-FFF2-40B4-BE49-F238E27FC236}">
                <a16:creationId xmlns:a16="http://schemas.microsoft.com/office/drawing/2014/main" id="{13939B83-DF07-450C-982F-3B0D8D76FB10}"/>
              </a:ext>
            </a:extLst>
          </p:cNvPr>
          <p:cNvSpPr>
            <a:spLocks xmlns:a="http://schemas.openxmlformats.org/drawingml/2006/main" noGrp="1"/>
          </p:cNvSpPr>
          <p:nvPr/>
        </p:nvSpPr>
        <p:spPr>
          <a:xfrm xmlns:a="http://schemas.openxmlformats.org/drawingml/2006/main">
            <a:off x="609600" y="54959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646B73"/>
                </a:solidFill>
                <a:latin typeface="Helvetica Neue"/>
                <a:ea typeface="Helvetica Neue"/>
                <a:cs typeface="Helvetica Neue"/>
              </a:defRPr>
            </a:pPr>
            <a:r>
              <a:rPr sz="2325" b="0">
                <a:solidFill>
                  <a:srgbClr val="646B73"/>
                </a:solidFill>
                <a:latin typeface="Helvetica Neue"/>
                <a:ea typeface="Helvetica Neue"/>
                <a:cs typeface="Helvetica Neue"/>
              </a:rPr>
              <a:t>The rules cover known patterns. Test unfamiliar phrasing separately.</a:t>
            </a:r>
          </a:p>
        </p:txBody>
      </p:sp>
    </p:spTree>
    <p:extLst>
      <p:ext uri="{BB962C8B-B14F-4D97-AF65-F5344CB8AC3E}">
        <p14:creationId xmlns:p14="http://schemas.microsoft.com/office/powerpoint/2010/main" val="154041510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05BB315-7B46-4DA0-B8D6-93971B592372}"/>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Manual answer review</a:t>
            </a:r>
          </a:p>
        </p:txBody>
      </p:sp>
      <p:sp>
        <p:nvSpPr>
          <p:cNvPr id="2" name="page-number">
            <a:extLst xmlns:a="http://schemas.openxmlformats.org/drawingml/2006/main">
              <a:ext uri="{FF2B5EF4-FFF2-40B4-BE49-F238E27FC236}">
                <a16:creationId xmlns:a16="http://schemas.microsoft.com/office/drawing/2014/main" id="{15DBC89B-E0C0-4813-B226-972A1C163DA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46</a:t>
            </a:r>
          </a:p>
        </p:txBody>
      </p:sp>
      <p:sp>
        <p:nvSpPr>
          <p:cNvPr id="3" name="text-2">
            <a:extLst xmlns:a="http://schemas.openxmlformats.org/drawingml/2006/main">
              <a:ext uri="{FF2B5EF4-FFF2-40B4-BE49-F238E27FC236}">
                <a16:creationId xmlns:a16="http://schemas.microsoft.com/office/drawing/2014/main" id="{D9DFCEFD-1DEB-4052-9488-D738E8FB65E7}"/>
              </a:ext>
            </a:extLst>
          </p:cNvPr>
          <p:cNvSpPr>
            <a:spLocks xmlns:a="http://schemas.openxmlformats.org/drawingml/2006/main" noGrp="1"/>
          </p:cNvSpPr>
          <p:nvPr/>
        </p:nvSpPr>
        <p:spPr>
          <a:xfrm xmlns:a="http://schemas.openxmlformats.org/drawingml/2006/main">
            <a:off x="609600" y="19526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45891"/>
                </a:solidFill>
                <a:latin typeface="Helvetica Neue"/>
                <a:ea typeface="Helvetica Neue"/>
                <a:cs typeface="Helvetica Neue"/>
              </a:defRPr>
            </a:pPr>
            <a:r>
              <a:rPr sz="1800" b="0">
                <a:solidFill>
                  <a:srgbClr val="245891"/>
                </a:solidFill>
                <a:latin typeface="Helvetica Neue"/>
                <a:ea typeface="Helvetica Neue"/>
                <a:cs typeface="Helvetica Neue"/>
              </a:rPr>
              <a:t>EVIDENCE</a:t>
            </a:r>
          </a:p>
        </p:txBody>
      </p:sp>
      <p:sp>
        <p:nvSpPr>
          <p:cNvPr id="4" name="text-3">
            <a:extLst xmlns:a="http://schemas.openxmlformats.org/drawingml/2006/main">
              <a:ext uri="{FF2B5EF4-FFF2-40B4-BE49-F238E27FC236}">
                <a16:creationId xmlns:a16="http://schemas.microsoft.com/office/drawing/2014/main" id="{ADFE70F2-0B93-4717-B814-1C65446A354A}"/>
              </a:ext>
            </a:extLst>
          </p:cNvPr>
          <p:cNvSpPr>
            <a:spLocks xmlns:a="http://schemas.openxmlformats.org/drawingml/2006/main" noGrp="1"/>
          </p:cNvSpPr>
          <p:nvPr/>
        </p:nvSpPr>
        <p:spPr>
          <a:xfrm xmlns:a="http://schemas.openxmlformats.org/drawingml/2006/main">
            <a:off x="3000375" y="1924050"/>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Do values match the right metric, unit and window?</a:t>
            </a:r>
          </a:p>
        </p:txBody>
      </p:sp>
      <p:sp>
        <p:nvSpPr>
          <p:cNvPr id="5" name="text-4">
            <a:extLst xmlns:a="http://schemas.openxmlformats.org/drawingml/2006/main">
              <a:ext uri="{FF2B5EF4-FFF2-40B4-BE49-F238E27FC236}">
                <a16:creationId xmlns:a16="http://schemas.microsoft.com/office/drawing/2014/main" id="{A366BE51-E5B6-4D79-A054-DF09963E7968}"/>
              </a:ext>
            </a:extLst>
          </p:cNvPr>
          <p:cNvSpPr>
            <a:spLocks xmlns:a="http://schemas.openxmlformats.org/drawingml/2006/main" noGrp="1"/>
          </p:cNvSpPr>
          <p:nvPr/>
        </p:nvSpPr>
        <p:spPr>
          <a:xfrm xmlns:a="http://schemas.openxmlformats.org/drawingml/2006/main">
            <a:off x="609600" y="27813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45891"/>
                </a:solidFill>
                <a:latin typeface="Helvetica Neue"/>
                <a:ea typeface="Helvetica Neue"/>
                <a:cs typeface="Helvetica Neue"/>
              </a:defRPr>
            </a:pPr>
            <a:r>
              <a:rPr sz="1800" b="0">
                <a:solidFill>
                  <a:srgbClr val="245891"/>
                </a:solidFill>
                <a:latin typeface="Helvetica Neue"/>
                <a:ea typeface="Helvetica Neue"/>
                <a:cs typeface="Helvetica Neue"/>
              </a:rPr>
              <a:t>COVERAGE</a:t>
            </a:r>
          </a:p>
        </p:txBody>
      </p:sp>
      <p:sp>
        <p:nvSpPr>
          <p:cNvPr id="6" name="text-5">
            <a:extLst xmlns:a="http://schemas.openxmlformats.org/drawingml/2006/main">
              <a:ext uri="{FF2B5EF4-FFF2-40B4-BE49-F238E27FC236}">
                <a16:creationId xmlns:a16="http://schemas.microsoft.com/office/drawing/2014/main" id="{02EF2607-B8A2-401C-A5B0-28B32B7742CF}"/>
              </a:ext>
            </a:extLst>
          </p:cNvPr>
          <p:cNvSpPr>
            <a:spLocks xmlns:a="http://schemas.openxmlformats.org/drawingml/2006/main" noGrp="1"/>
          </p:cNvSpPr>
          <p:nvPr/>
        </p:nvSpPr>
        <p:spPr>
          <a:xfrm xmlns:a="http://schemas.openxmlformats.org/drawingml/2006/main">
            <a:off x="3000375" y="2752725"/>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Which relevant observations are missing?</a:t>
            </a:r>
          </a:p>
        </p:txBody>
      </p:sp>
      <p:sp>
        <p:nvSpPr>
          <p:cNvPr id="7" name="text-6">
            <a:extLst xmlns:a="http://schemas.openxmlformats.org/drawingml/2006/main">
              <a:ext uri="{FF2B5EF4-FFF2-40B4-BE49-F238E27FC236}">
                <a16:creationId xmlns:a16="http://schemas.microsoft.com/office/drawing/2014/main" id="{9153226C-AA8D-48C6-9E05-D5876FA730D2}"/>
              </a:ext>
            </a:extLst>
          </p:cNvPr>
          <p:cNvSpPr>
            <a:spLocks xmlns:a="http://schemas.openxmlformats.org/drawingml/2006/main" noGrp="1"/>
          </p:cNvSpPr>
          <p:nvPr/>
        </p:nvSpPr>
        <p:spPr>
          <a:xfrm xmlns:a="http://schemas.openxmlformats.org/drawingml/2006/main">
            <a:off x="609600" y="36099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45891"/>
                </a:solidFill>
                <a:latin typeface="Helvetica Neue"/>
                <a:ea typeface="Helvetica Neue"/>
                <a:cs typeface="Helvetica Neue"/>
              </a:defRPr>
            </a:pPr>
            <a:r>
              <a:rPr sz="1800" b="0">
                <a:solidFill>
                  <a:srgbClr val="245891"/>
                </a:solidFill>
                <a:latin typeface="Helvetica Neue"/>
                <a:ea typeface="Helvetica Neue"/>
                <a:cs typeface="Helvetica Neue"/>
              </a:rPr>
              <a:t>INTERPRETATION</a:t>
            </a:r>
          </a:p>
        </p:txBody>
      </p:sp>
      <p:sp>
        <p:nvSpPr>
          <p:cNvPr id="8" name="text-7">
            <a:extLst xmlns:a="http://schemas.openxmlformats.org/drawingml/2006/main">
              <a:ext uri="{FF2B5EF4-FFF2-40B4-BE49-F238E27FC236}">
                <a16:creationId xmlns:a16="http://schemas.microsoft.com/office/drawing/2014/main" id="{8340063E-6018-40E9-8AD0-C49C938D0D21}"/>
              </a:ext>
            </a:extLst>
          </p:cNvPr>
          <p:cNvSpPr>
            <a:spLocks xmlns:a="http://schemas.openxmlformats.org/drawingml/2006/main" noGrp="1"/>
          </p:cNvSpPr>
          <p:nvPr/>
        </p:nvSpPr>
        <p:spPr>
          <a:xfrm xmlns:a="http://schemas.openxmlformats.org/drawingml/2006/main">
            <a:off x="3000375" y="3581400"/>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Does the answer overstate an association?</a:t>
            </a:r>
          </a:p>
        </p:txBody>
      </p:sp>
      <p:sp>
        <p:nvSpPr>
          <p:cNvPr id="9" name="text-8">
            <a:extLst xmlns:a="http://schemas.openxmlformats.org/drawingml/2006/main">
              <a:ext uri="{FF2B5EF4-FFF2-40B4-BE49-F238E27FC236}">
                <a16:creationId xmlns:a16="http://schemas.microsoft.com/office/drawing/2014/main" id="{B0592636-40A6-4F46-A066-F68C4D1A554A}"/>
              </a:ext>
            </a:extLst>
          </p:cNvPr>
          <p:cNvSpPr>
            <a:spLocks xmlns:a="http://schemas.openxmlformats.org/drawingml/2006/main" noGrp="1"/>
          </p:cNvSpPr>
          <p:nvPr/>
        </p:nvSpPr>
        <p:spPr>
          <a:xfrm xmlns:a="http://schemas.openxmlformats.org/drawingml/2006/main">
            <a:off x="609600" y="44386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45891"/>
                </a:solidFill>
                <a:latin typeface="Helvetica Neue"/>
                <a:ea typeface="Helvetica Neue"/>
                <a:cs typeface="Helvetica Neue"/>
              </a:defRPr>
            </a:pPr>
            <a:r>
              <a:rPr sz="1800" b="0">
                <a:solidFill>
                  <a:srgbClr val="245891"/>
                </a:solidFill>
                <a:latin typeface="Helvetica Neue"/>
                <a:ea typeface="Helvetica Neue"/>
                <a:cs typeface="Helvetica Neue"/>
              </a:rPr>
              <a:t>USEFULNESS</a:t>
            </a:r>
          </a:p>
        </p:txBody>
      </p:sp>
      <p:sp>
        <p:nvSpPr>
          <p:cNvPr id="10" name="text-9">
            <a:extLst xmlns:a="http://schemas.openxmlformats.org/drawingml/2006/main">
              <a:ext uri="{FF2B5EF4-FFF2-40B4-BE49-F238E27FC236}">
                <a16:creationId xmlns:a16="http://schemas.microsoft.com/office/drawing/2014/main" id="{4357F81A-3D7B-430E-9759-4464874C642A}"/>
              </a:ext>
            </a:extLst>
          </p:cNvPr>
          <p:cNvSpPr>
            <a:spLocks xmlns:a="http://schemas.openxmlformats.org/drawingml/2006/main" noGrp="1"/>
          </p:cNvSpPr>
          <p:nvPr/>
        </p:nvSpPr>
        <p:spPr>
          <a:xfrm xmlns:a="http://schemas.openxmlformats.org/drawingml/2006/main">
            <a:off x="3000375" y="4410075"/>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Does it address the person’s actual question?</a:t>
            </a:r>
          </a:p>
        </p:txBody>
      </p:sp>
      <p:sp>
        <p:nvSpPr>
          <p:cNvPr id="11" name="text-10">
            <a:extLst xmlns:a="http://schemas.openxmlformats.org/drawingml/2006/main">
              <a:ext uri="{FF2B5EF4-FFF2-40B4-BE49-F238E27FC236}">
                <a16:creationId xmlns:a16="http://schemas.microsoft.com/office/drawing/2014/main" id="{AE34C6EC-A34A-4507-BF2E-5730BADA3F41}"/>
              </a:ext>
            </a:extLst>
          </p:cNvPr>
          <p:cNvSpPr>
            <a:spLocks xmlns:a="http://schemas.openxmlformats.org/drawingml/2006/main" noGrp="1"/>
          </p:cNvSpPr>
          <p:nvPr/>
        </p:nvSpPr>
        <p:spPr>
          <a:xfrm xmlns:a="http://schemas.openxmlformats.org/drawingml/2006/main">
            <a:off x="609600" y="52673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245891"/>
                </a:solidFill>
                <a:latin typeface="Helvetica Neue"/>
                <a:ea typeface="Helvetica Neue"/>
                <a:cs typeface="Helvetica Neue"/>
              </a:defRPr>
            </a:pPr>
            <a:r>
              <a:rPr sz="1800" b="0">
                <a:solidFill>
                  <a:srgbClr val="245891"/>
                </a:solidFill>
                <a:latin typeface="Helvetica Neue"/>
                <a:ea typeface="Helvetica Neue"/>
                <a:cs typeface="Helvetica Neue"/>
              </a:rPr>
              <a:t>SAFETY</a:t>
            </a:r>
          </a:p>
        </p:txBody>
      </p:sp>
      <p:sp>
        <p:nvSpPr>
          <p:cNvPr id="12" name="text-11">
            <a:extLst xmlns:a="http://schemas.openxmlformats.org/drawingml/2006/main">
              <a:ext uri="{FF2B5EF4-FFF2-40B4-BE49-F238E27FC236}">
                <a16:creationId xmlns:a16="http://schemas.microsoft.com/office/drawing/2014/main" id="{ECC1C68A-FE6E-4376-91B9-2DB9C44FD9EE}"/>
              </a:ext>
            </a:extLst>
          </p:cNvPr>
          <p:cNvSpPr>
            <a:spLocks xmlns:a="http://schemas.openxmlformats.org/drawingml/2006/main" noGrp="1"/>
          </p:cNvSpPr>
          <p:nvPr/>
        </p:nvSpPr>
        <p:spPr>
          <a:xfrm xmlns:a="http://schemas.openxmlformats.org/drawingml/2006/main">
            <a:off x="3000375" y="5238750"/>
            <a:ext cx="834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0252B"/>
                </a:solidFill>
                <a:latin typeface="Helvetica Neue"/>
                <a:ea typeface="Helvetica Neue"/>
                <a:cs typeface="Helvetica Neue"/>
              </a:defRPr>
            </a:pPr>
            <a:r>
              <a:rPr sz="2175" b="0">
                <a:solidFill>
                  <a:srgbClr val="20252B"/>
                </a:solidFill>
                <a:latin typeface="Helvetica Neue"/>
                <a:ea typeface="Helvetica Neue"/>
                <a:cs typeface="Helvetica Neue"/>
              </a:rPr>
              <a:t>Does the response stay within the intended scope?</a:t>
            </a:r>
          </a:p>
        </p:txBody>
      </p:sp>
    </p:spTree>
    <p:extLst>
      <p:ext uri="{BB962C8B-B14F-4D97-AF65-F5344CB8AC3E}">
        <p14:creationId xmlns:p14="http://schemas.microsoft.com/office/powerpoint/2010/main" val="67934316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522391A-107B-468B-BC34-956726CF0EBF}"/>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Panel discussion</a:t>
            </a:r>
          </a:p>
        </p:txBody>
      </p:sp>
      <p:sp>
        <p:nvSpPr>
          <p:cNvPr id="2" name="page-number">
            <a:extLst xmlns:a="http://schemas.openxmlformats.org/drawingml/2006/main">
              <a:ext uri="{FF2B5EF4-FFF2-40B4-BE49-F238E27FC236}">
                <a16:creationId xmlns:a16="http://schemas.microsoft.com/office/drawing/2014/main" id="{37BB0DC8-0426-4D0B-94A2-A19B301F5CAE}"/>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47</a:t>
            </a:r>
          </a:p>
        </p:txBody>
      </p:sp>
      <p:sp>
        <p:nvSpPr>
          <p:cNvPr id="3" name="text-2">
            <a:extLst xmlns:a="http://schemas.openxmlformats.org/drawingml/2006/main">
              <a:ext uri="{FF2B5EF4-FFF2-40B4-BE49-F238E27FC236}">
                <a16:creationId xmlns:a16="http://schemas.microsoft.com/office/drawing/2014/main" id="{A04BB495-2AC8-4A9D-80D3-86D24D85E720}"/>
              </a:ext>
            </a:extLst>
          </p:cNvPr>
          <p:cNvSpPr>
            <a:spLocks xmlns:a="http://schemas.openxmlformats.org/drawingml/2006/main" noGrp="1"/>
          </p:cNvSpPr>
          <p:nvPr/>
        </p:nvSpPr>
        <p:spPr>
          <a:xfrm xmlns:a="http://schemas.openxmlformats.org/drawingml/2006/main">
            <a:off x="609600" y="21907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0">
                <a:solidFill>
                  <a:srgbClr val="20252B"/>
                </a:solidFill>
                <a:latin typeface="Helvetica Neue"/>
                <a:ea typeface="Helvetica Neue"/>
                <a:cs typeface="Helvetica Neue"/>
              </a:defRPr>
            </a:pPr>
            <a:r>
              <a:rPr sz="2850" b="0">
                <a:solidFill>
                  <a:srgbClr val="20252B"/>
                </a:solidFill>
                <a:latin typeface="Helvetica Neue"/>
                <a:ea typeface="Helvetica Neue"/>
                <a:cs typeface="Helvetica Neue"/>
              </a:rPr>
              <a:t>What would make you distrust an answer that looks grounded?</a:t>
            </a:r>
          </a:p>
        </p:txBody>
      </p:sp>
      <p:sp>
        <p:nvSpPr>
          <p:cNvPr id="4" name="text-3">
            <a:extLst xmlns:a="http://schemas.openxmlformats.org/drawingml/2006/main">
              <a:ext uri="{FF2B5EF4-FFF2-40B4-BE49-F238E27FC236}">
                <a16:creationId xmlns:a16="http://schemas.microsoft.com/office/drawing/2014/main" id="{0F258CBE-5820-490A-A60D-FD0D8FD7EE4C}"/>
              </a:ext>
            </a:extLst>
          </p:cNvPr>
          <p:cNvSpPr>
            <a:spLocks xmlns:a="http://schemas.openxmlformats.org/drawingml/2006/main" noGrp="1"/>
          </p:cNvSpPr>
          <p:nvPr/>
        </p:nvSpPr>
        <p:spPr>
          <a:xfrm xmlns:a="http://schemas.openxmlformats.org/drawingml/2006/main">
            <a:off x="609600" y="342900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0">
                <a:solidFill>
                  <a:srgbClr val="20252B"/>
                </a:solidFill>
                <a:latin typeface="Helvetica Neue"/>
                <a:ea typeface="Helvetica Neue"/>
                <a:cs typeface="Helvetica Neue"/>
              </a:defRPr>
            </a:pPr>
            <a:r>
              <a:rPr sz="2850" b="0">
                <a:solidFill>
                  <a:srgbClr val="20252B"/>
                </a:solidFill>
                <a:latin typeface="Helvetica Neue"/>
                <a:ea typeface="Helvetica Neue"/>
                <a:cs typeface="Helvetica Neue"/>
              </a:rPr>
              <a:t>Which failure would the current probe set miss?</a:t>
            </a:r>
          </a:p>
        </p:txBody>
      </p:sp>
      <p:sp>
        <p:nvSpPr>
          <p:cNvPr id="5" name="text-4">
            <a:extLst xmlns:a="http://schemas.openxmlformats.org/drawingml/2006/main">
              <a:ext uri="{FF2B5EF4-FFF2-40B4-BE49-F238E27FC236}">
                <a16:creationId xmlns:a16="http://schemas.microsoft.com/office/drawing/2014/main" id="{71B19964-5881-474F-8735-08B6ECF28272}"/>
              </a:ext>
            </a:extLst>
          </p:cNvPr>
          <p:cNvSpPr>
            <a:spLocks xmlns:a="http://schemas.openxmlformats.org/drawingml/2006/main" noGrp="1"/>
          </p:cNvSpPr>
          <p:nvPr/>
        </p:nvSpPr>
        <p:spPr>
          <a:xfrm xmlns:a="http://schemas.openxmlformats.org/drawingml/2006/main">
            <a:off x="609600" y="46672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0">
                <a:solidFill>
                  <a:srgbClr val="20252B"/>
                </a:solidFill>
                <a:latin typeface="Helvetica Neue"/>
                <a:ea typeface="Helvetica Neue"/>
                <a:cs typeface="Helvetica Neue"/>
              </a:defRPr>
            </a:pPr>
            <a:r>
              <a:rPr sz="2850" b="0">
                <a:solidFill>
                  <a:srgbClr val="20252B"/>
                </a:solidFill>
                <a:latin typeface="Helvetica Neue"/>
                <a:ea typeface="Helvetica Neue"/>
                <a:cs typeface="Helvetica Neue"/>
              </a:rPr>
              <a:t>What evidence would you require before a real study?</a:t>
            </a:r>
          </a:p>
        </p:txBody>
      </p:sp>
    </p:spTree>
    <p:extLst>
      <p:ext uri="{BB962C8B-B14F-4D97-AF65-F5344CB8AC3E}">
        <p14:creationId xmlns:p14="http://schemas.microsoft.com/office/powerpoint/2010/main" val="42372910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98792BE-09A3-43E7-B4C7-817B3A9B8EBD}"/>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Preparing a new study</a:t>
            </a:r>
          </a:p>
        </p:txBody>
      </p:sp>
      <p:sp>
        <p:nvSpPr>
          <p:cNvPr id="2" name="page-number">
            <a:extLst xmlns:a="http://schemas.openxmlformats.org/drawingml/2006/main">
              <a:ext uri="{FF2B5EF4-FFF2-40B4-BE49-F238E27FC236}">
                <a16:creationId xmlns:a16="http://schemas.microsoft.com/office/drawing/2014/main" id="{D319FBFD-9DEA-47BF-8251-46F6E503CDAC}"/>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48</a:t>
            </a:r>
          </a:p>
        </p:txBody>
      </p:sp>
      <p:sp>
        <p:nvSpPr>
          <p:cNvPr id="3" name="text-2">
            <a:extLst xmlns:a="http://schemas.openxmlformats.org/drawingml/2006/main">
              <a:ext uri="{FF2B5EF4-FFF2-40B4-BE49-F238E27FC236}">
                <a16:creationId xmlns:a16="http://schemas.microsoft.com/office/drawing/2014/main" id="{C0C48BEB-A1EC-4BC2-9756-6F1F924ED060}"/>
              </a:ext>
            </a:extLst>
          </p:cNvPr>
          <p:cNvSpPr>
            <a:spLocks xmlns:a="http://schemas.openxmlformats.org/drawingml/2006/main" noGrp="1"/>
          </p:cNvSpPr>
          <p:nvPr/>
        </p:nvSpPr>
        <p:spPr>
          <a:xfrm xmlns:a="http://schemas.openxmlformats.org/drawingml/2006/main">
            <a:off x="609600" y="25050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Helvetica Neue"/>
                <a:ea typeface="Helvetica Neue"/>
                <a:cs typeface="Helvetica Neue"/>
              </a:defRPr>
            </a:pPr>
            <a:r>
              <a:rPr sz="2325" b="0">
                <a:solidFill>
                  <a:srgbClr val="20252B"/>
                </a:solidFill>
                <a:latin typeface="Helvetica Neue"/>
                <a:ea typeface="Helvetica Neue"/>
                <a:cs typeface="Helvetica Neue"/>
              </a:rPr>
              <a:t>Document the source, license and transformations</a:t>
            </a:r>
          </a:p>
        </p:txBody>
      </p:sp>
      <p:sp>
        <p:nvSpPr>
          <p:cNvPr id="4" name="text-3">
            <a:extLst xmlns:a="http://schemas.openxmlformats.org/drawingml/2006/main">
              <a:ext uri="{FF2B5EF4-FFF2-40B4-BE49-F238E27FC236}">
                <a16:creationId xmlns:a16="http://schemas.microsoft.com/office/drawing/2014/main" id="{6612C2EC-A7E7-404F-BFEE-8D5B4EE55CB5}"/>
              </a:ext>
            </a:extLst>
          </p:cNvPr>
          <p:cNvSpPr>
            <a:spLocks xmlns:a="http://schemas.openxmlformats.org/drawingml/2006/main" noGrp="1"/>
          </p:cNvSpPr>
          <p:nvPr/>
        </p:nvSpPr>
        <p:spPr>
          <a:xfrm xmlns:a="http://schemas.openxmlformats.org/drawingml/2006/main">
            <a:off x="609600" y="33623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Helvetica Neue"/>
                <a:ea typeface="Helvetica Neue"/>
                <a:cs typeface="Helvetica Neue"/>
              </a:defRPr>
            </a:pPr>
            <a:r>
              <a:rPr sz="2325" b="0">
                <a:solidFill>
                  <a:srgbClr val="20252B"/>
                </a:solidFill>
                <a:latin typeface="Helvetica Neue"/>
                <a:ea typeface="Helvetica Neue"/>
                <a:cs typeface="Helvetica Neue"/>
              </a:rPr>
              <a:t>Decide which values the model can receive</a:t>
            </a:r>
          </a:p>
        </p:txBody>
      </p:sp>
      <p:sp>
        <p:nvSpPr>
          <p:cNvPr id="5" name="text-4">
            <a:extLst xmlns:a="http://schemas.openxmlformats.org/drawingml/2006/main">
              <a:ext uri="{FF2B5EF4-FFF2-40B4-BE49-F238E27FC236}">
                <a16:creationId xmlns:a16="http://schemas.microsoft.com/office/drawing/2014/main" id="{7D432ECE-55B7-4138-8DE6-222677E0A1D0}"/>
              </a:ext>
            </a:extLst>
          </p:cNvPr>
          <p:cNvSpPr>
            <a:spLocks xmlns:a="http://schemas.openxmlformats.org/drawingml/2006/main" noGrp="1"/>
          </p:cNvSpPr>
          <p:nvPr/>
        </p:nvSpPr>
        <p:spPr>
          <a:xfrm xmlns:a="http://schemas.openxmlformats.org/drawingml/2006/main">
            <a:off x="609600" y="42195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Helvetica Neue"/>
                <a:ea typeface="Helvetica Neue"/>
                <a:cs typeface="Helvetica Neue"/>
              </a:defRPr>
            </a:pPr>
            <a:r>
              <a:rPr sz="2325" b="0">
                <a:solidFill>
                  <a:srgbClr val="20252B"/>
                </a:solidFill>
                <a:latin typeface="Helvetica Neue"/>
                <a:ea typeface="Helvetica Neue"/>
                <a:cs typeface="Helvetica Neue"/>
              </a:rPr>
              <a:t>Set consent, retention and access rules</a:t>
            </a:r>
          </a:p>
        </p:txBody>
      </p:sp>
      <p:sp>
        <p:nvSpPr>
          <p:cNvPr id="6" name="text-5">
            <a:extLst xmlns:a="http://schemas.openxmlformats.org/drawingml/2006/main">
              <a:ext uri="{FF2B5EF4-FFF2-40B4-BE49-F238E27FC236}">
                <a16:creationId xmlns:a16="http://schemas.microsoft.com/office/drawing/2014/main" id="{814AF496-A861-4444-838D-1F6884134E9E}"/>
              </a:ext>
            </a:extLst>
          </p:cNvPr>
          <p:cNvSpPr>
            <a:spLocks xmlns:a="http://schemas.openxmlformats.org/drawingml/2006/main" noGrp="1"/>
          </p:cNvSpPr>
          <p:nvPr/>
        </p:nvSpPr>
        <p:spPr>
          <a:xfrm xmlns:a="http://schemas.openxmlformats.org/drawingml/2006/main">
            <a:off x="609600" y="50768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20252B"/>
                </a:solidFill>
                <a:latin typeface="Helvetica Neue"/>
                <a:ea typeface="Helvetica Neue"/>
                <a:cs typeface="Helvetica Neue"/>
              </a:defRPr>
            </a:pPr>
            <a:r>
              <a:rPr sz="2325" b="0">
                <a:solidFill>
                  <a:srgbClr val="20252B"/>
                </a:solidFill>
                <a:latin typeface="Helvetica Neue"/>
                <a:ea typeface="Helvetica Neue"/>
                <a:cs typeface="Helvetica Neue"/>
              </a:rPr>
              <a:t>Test the intended claims and check institutional review requirements</a:t>
            </a:r>
          </a:p>
        </p:txBody>
      </p:sp>
    </p:spTree>
    <p:extLst>
      <p:ext uri="{BB962C8B-B14F-4D97-AF65-F5344CB8AC3E}">
        <p14:creationId xmlns:p14="http://schemas.microsoft.com/office/powerpoint/2010/main" val="66159210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88A7893-8660-4111-97C1-F0C678575195}"/>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Evaluation notes</a:t>
            </a:r>
          </a:p>
        </p:txBody>
      </p:sp>
      <p:sp>
        <p:nvSpPr>
          <p:cNvPr id="2" name="page-number">
            <a:extLst xmlns:a="http://schemas.openxmlformats.org/drawingml/2006/main">
              <a:ext uri="{FF2B5EF4-FFF2-40B4-BE49-F238E27FC236}">
                <a16:creationId xmlns:a16="http://schemas.microsoft.com/office/drawing/2014/main" id="{2CCCE0F8-AF03-4F43-83F0-C2B6B974EC15}"/>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49</a:t>
            </a:r>
          </a:p>
        </p:txBody>
      </p:sp>
      <p:sp>
        <p:nvSpPr>
          <p:cNvPr id="3" name="text-2">
            <a:extLst xmlns:a="http://schemas.openxmlformats.org/drawingml/2006/main">
              <a:ext uri="{FF2B5EF4-FFF2-40B4-BE49-F238E27FC236}">
                <a16:creationId xmlns:a16="http://schemas.microsoft.com/office/drawing/2014/main" id="{90425875-C206-4129-A76B-641077EE3496}"/>
              </a:ext>
            </a:extLst>
          </p:cNvPr>
          <p:cNvSpPr>
            <a:spLocks xmlns:a="http://schemas.openxmlformats.org/drawingml/2006/main" noGrp="1"/>
          </p:cNvSpPr>
          <p:nvPr/>
        </p:nvSpPr>
        <p:spPr>
          <a:xfrm xmlns:a="http://schemas.openxmlformats.org/drawingml/2006/main">
            <a:off x="609600" y="17907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a:solidFill>
                  <a:srgbClr val="646B73"/>
                </a:solidFill>
                <a:latin typeface="Helvetica Neue"/>
                <a:ea typeface="Helvetica Neue"/>
                <a:cs typeface="Helvetica Neue"/>
              </a:defRPr>
            </a:pPr>
            <a:r>
              <a:rPr sz="2025" b="0">
                <a:solidFill>
                  <a:srgbClr val="646B73"/>
                </a:solidFill>
                <a:latin typeface="Helvetica Neue"/>
                <a:ea typeface="Helvetica Neue"/>
                <a:cs typeface="Helvetica Neue"/>
              </a:rPr>
              <a:t>Example from the model rehearsal</a:t>
            </a:r>
          </a:p>
        </p:txBody>
      </p:sp>
      <p:sp>
        <p:nvSpPr>
          <p:cNvPr id="4" name="text-3">
            <a:extLst xmlns:a="http://schemas.openxmlformats.org/drawingml/2006/main">
              <a:ext uri="{FF2B5EF4-FFF2-40B4-BE49-F238E27FC236}">
                <a16:creationId xmlns:a16="http://schemas.microsoft.com/office/drawing/2014/main" id="{7C1B9323-3B49-4356-A428-76FBE7EEB5D7}"/>
              </a:ext>
            </a:extLst>
          </p:cNvPr>
          <p:cNvSpPr>
            <a:spLocks xmlns:a="http://schemas.openxmlformats.org/drawingml/2006/main" noGrp="1"/>
          </p:cNvSpPr>
          <p:nvPr/>
        </p:nvSpPr>
        <p:spPr>
          <a:xfrm xmlns:a="http://schemas.openxmlformats.org/drawingml/2006/main">
            <a:off x="609600" y="2695575"/>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45891"/>
                </a:solidFill>
                <a:latin typeface="Helvetica Neue"/>
                <a:ea typeface="Helvetica Neue"/>
                <a:cs typeface="Helvetica Neue"/>
              </a:defRPr>
            </a:pPr>
            <a:r>
              <a:rPr sz="2175" b="0">
                <a:solidFill>
                  <a:srgbClr val="245891"/>
                </a:solidFill>
                <a:latin typeface="Helvetica Neue"/>
                <a:ea typeface="Helvetica Neue"/>
                <a:cs typeface="Helvetica Neue"/>
              </a:rPr>
              <a:t>What failed?</a:t>
            </a:r>
          </a:p>
        </p:txBody>
      </p:sp>
      <p:sp>
        <p:nvSpPr>
          <p:cNvPr id="5" name="text-4">
            <a:extLst xmlns:a="http://schemas.openxmlformats.org/drawingml/2006/main">
              <a:ext uri="{FF2B5EF4-FFF2-40B4-BE49-F238E27FC236}">
                <a16:creationId xmlns:a16="http://schemas.microsoft.com/office/drawing/2014/main" id="{91450466-B67F-40E4-A9CE-6DAAB02EA064}"/>
              </a:ext>
            </a:extLst>
          </p:cNvPr>
          <p:cNvSpPr>
            <a:spLocks xmlns:a="http://schemas.openxmlformats.org/drawingml/2006/main" noGrp="1"/>
          </p:cNvSpPr>
          <p:nvPr/>
        </p:nvSpPr>
        <p:spPr>
          <a:xfrm xmlns:a="http://schemas.openxmlformats.org/drawingml/2006/main">
            <a:off x="3429000" y="266700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The synthetic answer claimed strong correlation without a calculation.</a:t>
            </a:r>
          </a:p>
        </p:txBody>
      </p:sp>
      <p:sp>
        <p:nvSpPr>
          <p:cNvPr id="6" name="text-5">
            <a:extLst xmlns:a="http://schemas.openxmlformats.org/drawingml/2006/main">
              <a:ext uri="{FF2B5EF4-FFF2-40B4-BE49-F238E27FC236}">
                <a16:creationId xmlns:a16="http://schemas.microsoft.com/office/drawing/2014/main" id="{6DE86E0C-BB86-4527-97B6-077BFC425591}"/>
              </a:ext>
            </a:extLst>
          </p:cNvPr>
          <p:cNvSpPr>
            <a:spLocks xmlns:a="http://schemas.openxmlformats.org/drawingml/2006/main" noGrp="1"/>
          </p:cNvSpPr>
          <p:nvPr/>
        </p:nvSpPr>
        <p:spPr>
          <a:xfrm xmlns:a="http://schemas.openxmlformats.org/drawingml/2006/main">
            <a:off x="609600" y="3648075"/>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45891"/>
                </a:solidFill>
                <a:latin typeface="Helvetica Neue"/>
                <a:ea typeface="Helvetica Neue"/>
                <a:cs typeface="Helvetica Neue"/>
              </a:defRPr>
            </a:pPr>
            <a:r>
              <a:rPr sz="2175" b="0">
                <a:solidFill>
                  <a:srgbClr val="245891"/>
                </a:solidFill>
                <a:latin typeface="Helvetica Neue"/>
                <a:ea typeface="Helvetica Neue"/>
                <a:cs typeface="Helvetica Neue"/>
              </a:rPr>
              <a:t>Check to add</a:t>
            </a:r>
          </a:p>
        </p:txBody>
      </p:sp>
      <p:sp>
        <p:nvSpPr>
          <p:cNvPr id="7" name="text-6">
            <a:extLst xmlns:a="http://schemas.openxmlformats.org/drawingml/2006/main">
              <a:ext uri="{FF2B5EF4-FFF2-40B4-BE49-F238E27FC236}">
                <a16:creationId xmlns:a16="http://schemas.microsoft.com/office/drawing/2014/main" id="{F8AB0B50-C62B-4D7D-A233-461EF4E3B263}"/>
              </a:ext>
            </a:extLst>
          </p:cNvPr>
          <p:cNvSpPr>
            <a:spLocks xmlns:a="http://schemas.openxmlformats.org/drawingml/2006/main" noGrp="1"/>
          </p:cNvSpPr>
          <p:nvPr/>
        </p:nvSpPr>
        <p:spPr>
          <a:xfrm xmlns:a="http://schemas.openxmlformats.org/drawingml/2006/main">
            <a:off x="3429000" y="361950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Require a correlation result before accepting that claim.</a:t>
            </a:r>
          </a:p>
        </p:txBody>
      </p:sp>
      <p:sp>
        <p:nvSpPr>
          <p:cNvPr id="8" name="text-7">
            <a:extLst xmlns:a="http://schemas.openxmlformats.org/drawingml/2006/main">
              <a:ext uri="{FF2B5EF4-FFF2-40B4-BE49-F238E27FC236}">
                <a16:creationId xmlns:a16="http://schemas.microsoft.com/office/drawing/2014/main" id="{130CB5E2-04A2-4107-A918-CA6AAC38CB08}"/>
              </a:ext>
            </a:extLst>
          </p:cNvPr>
          <p:cNvSpPr>
            <a:spLocks xmlns:a="http://schemas.openxmlformats.org/drawingml/2006/main" noGrp="1"/>
          </p:cNvSpPr>
          <p:nvPr/>
        </p:nvSpPr>
        <p:spPr>
          <a:xfrm xmlns:a="http://schemas.openxmlformats.org/drawingml/2006/main">
            <a:off x="609600" y="4600575"/>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245891"/>
                </a:solidFill>
                <a:latin typeface="Helvetica Neue"/>
                <a:ea typeface="Helvetica Neue"/>
                <a:cs typeface="Helvetica Neue"/>
              </a:defRPr>
            </a:pPr>
            <a:r>
              <a:rPr sz="2175" b="0">
                <a:solidFill>
                  <a:srgbClr val="245891"/>
                </a:solidFill>
                <a:latin typeface="Helvetica Neue"/>
                <a:ea typeface="Helvetica Neue"/>
                <a:cs typeface="Helvetica Neue"/>
              </a:rPr>
              <a:t>Next test</a:t>
            </a:r>
          </a:p>
        </p:txBody>
      </p:sp>
      <p:sp>
        <p:nvSpPr>
          <p:cNvPr id="9" name="text-8">
            <a:extLst xmlns:a="http://schemas.openxmlformats.org/drawingml/2006/main">
              <a:ext uri="{FF2B5EF4-FFF2-40B4-BE49-F238E27FC236}">
                <a16:creationId xmlns:a16="http://schemas.microsoft.com/office/drawing/2014/main" id="{E1DF2872-C158-4D1C-964E-C723FF6D22A5}"/>
              </a:ext>
            </a:extLst>
          </p:cNvPr>
          <p:cNvSpPr>
            <a:spLocks xmlns:a="http://schemas.openxmlformats.org/drawingml/2006/main" noGrp="1"/>
          </p:cNvSpPr>
          <p:nvPr/>
        </p:nvSpPr>
        <p:spPr>
          <a:xfrm xmlns:a="http://schemas.openxmlformats.org/drawingml/2006/main">
            <a:off x="3429000" y="457200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0">
                <a:solidFill>
                  <a:srgbClr val="20252B"/>
                </a:solidFill>
                <a:latin typeface="Helvetica Neue"/>
                <a:ea typeface="Helvetica Neue"/>
                <a:cs typeface="Helvetica Neue"/>
              </a:defRPr>
            </a:pPr>
            <a:r>
              <a:rPr sz="2250" b="0">
                <a:solidFill>
                  <a:srgbClr val="20252B"/>
                </a:solidFill>
                <a:latin typeface="Helvetica Neue"/>
                <a:ea typeface="Helvetica Neue"/>
                <a:cs typeface="Helvetica Neue"/>
              </a:rPr>
              <a:t>Run a new question and inspect the tool trace.</a:t>
            </a:r>
          </a:p>
        </p:txBody>
      </p:sp>
      <p:sp>
        <p:nvSpPr>
          <p:cNvPr id="10" name="text-9">
            <a:extLst xmlns:a="http://schemas.openxmlformats.org/drawingml/2006/main">
              <a:ext uri="{FF2B5EF4-FFF2-40B4-BE49-F238E27FC236}">
                <a16:creationId xmlns:a16="http://schemas.microsoft.com/office/drawing/2014/main" id="{B0BBA027-3AC0-4A43-9AF9-71C5915DDB3F}"/>
              </a:ext>
            </a:extLst>
          </p:cNvPr>
          <p:cNvSpPr>
            <a:spLocks xmlns:a="http://schemas.openxmlformats.org/drawingml/2006/main" noGrp="1"/>
          </p:cNvSpPr>
          <p:nvPr/>
        </p:nvSpPr>
        <p:spPr>
          <a:xfrm xmlns:a="http://schemas.openxmlformats.org/drawingml/2006/main">
            <a:off x="609600" y="59245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0">
                <a:solidFill>
                  <a:srgbClr val="646B73"/>
                </a:solidFill>
                <a:latin typeface="Menlo"/>
                <a:ea typeface="Menlo"/>
                <a:cs typeface="Menlo"/>
              </a:defRPr>
            </a:pPr>
            <a:r>
              <a:rPr sz="1950" b="0">
                <a:solidFill>
                  <a:srgbClr val="646B73"/>
                </a:solidFill>
                <a:latin typeface="Menlo"/>
                <a:ea typeface="Menlo"/>
                <a:cs typeface="Menlo"/>
              </a:rPr>
              <a:t>Your record: templates/eval_safety_checklist.md</a:t>
            </a:r>
          </a:p>
        </p:txBody>
      </p:sp>
    </p:spTree>
    <p:extLst>
      <p:ext uri="{BB962C8B-B14F-4D97-AF65-F5344CB8AC3E}">
        <p14:creationId xmlns:p14="http://schemas.microsoft.com/office/powerpoint/2010/main" val="114288587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199258EC-354E-4B8F-BC7A-E822903E4F38}"/>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50</a:t>
            </a:r>
          </a:p>
        </p:txBody>
      </p:sp>
      <p:sp>
        <p:nvSpPr>
          <p:cNvPr id="2" name="text-1">
            <a:extLst xmlns:a="http://schemas.openxmlformats.org/drawingml/2006/main">
              <a:ext uri="{FF2B5EF4-FFF2-40B4-BE49-F238E27FC236}">
                <a16:creationId xmlns:a16="http://schemas.microsoft.com/office/drawing/2014/main" id="{486E977E-671F-4C79-B394-A0EB0A9E8A13}"/>
              </a:ext>
            </a:extLst>
          </p:cNvPr>
          <p:cNvSpPr>
            <a:spLocks xmlns:a="http://schemas.openxmlformats.org/drawingml/2006/main" noGrp="1"/>
          </p:cNvSpPr>
          <p:nvPr/>
        </p:nvSpPr>
        <p:spPr>
          <a:xfrm xmlns:a="http://schemas.openxmlformats.org/drawingml/2006/main">
            <a:off x="609600" y="876300"/>
            <a:ext cx="609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Module 6</a:t>
            </a:r>
          </a:p>
        </p:txBody>
      </p:sp>
      <p:sp>
        <p:nvSpPr>
          <p:cNvPr id="3" name="text-2">
            <a:extLst xmlns:a="http://schemas.openxmlformats.org/drawingml/2006/main">
              <a:ext uri="{FF2B5EF4-FFF2-40B4-BE49-F238E27FC236}">
                <a16:creationId xmlns:a16="http://schemas.microsoft.com/office/drawing/2014/main" id="{DFBCD61B-C97D-41EF-8086-803B1D18CBBC}"/>
              </a:ext>
            </a:extLst>
          </p:cNvPr>
          <p:cNvSpPr>
            <a:spLocks xmlns:a="http://schemas.openxmlformats.org/drawingml/2006/main" noGrp="1"/>
          </p:cNvSpPr>
          <p:nvPr/>
        </p:nvSpPr>
        <p:spPr>
          <a:xfrm xmlns:a="http://schemas.openxmlformats.org/drawingml/2006/main">
            <a:off x="609600" y="19431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550" b="0">
                <a:solidFill>
                  <a:srgbClr val="20252B"/>
                </a:solidFill>
                <a:latin typeface="Helvetica Neue"/>
                <a:ea typeface="Helvetica Neue"/>
                <a:cs typeface="Helvetica Neue"/>
              </a:defRPr>
            </a:pPr>
            <a:r>
              <a:rPr sz="5550" b="0">
                <a:solidFill>
                  <a:srgbClr val="20252B"/>
                </a:solidFill>
                <a:latin typeface="Helvetica Neue"/>
                <a:ea typeface="Helvetica Neue"/>
                <a:cs typeface="Helvetica Neue"/>
              </a:rPr>
              <a:t>Wrap-up</a:t>
            </a:r>
          </a:p>
        </p:txBody>
      </p:sp>
      <p:sp>
        <p:nvSpPr>
          <p:cNvPr id="4" name="text-3">
            <a:extLst xmlns:a="http://schemas.openxmlformats.org/drawingml/2006/main">
              <a:ext uri="{FF2B5EF4-FFF2-40B4-BE49-F238E27FC236}">
                <a16:creationId xmlns:a16="http://schemas.microsoft.com/office/drawing/2014/main" id="{2F65AFCB-E827-4471-8D62-635D2D9BC50D}"/>
              </a:ext>
            </a:extLst>
          </p:cNvPr>
          <p:cNvSpPr>
            <a:spLocks xmlns:a="http://schemas.openxmlformats.org/drawingml/2006/main" noGrp="1"/>
          </p:cNvSpPr>
          <p:nvPr/>
        </p:nvSpPr>
        <p:spPr>
          <a:xfrm xmlns:a="http://schemas.openxmlformats.org/drawingml/2006/main">
            <a:off x="647700" y="3800475"/>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646B73"/>
                </a:solidFill>
                <a:latin typeface="Helvetica Neue"/>
                <a:ea typeface="Helvetica Neue"/>
                <a:cs typeface="Helvetica Neue"/>
              </a:defRPr>
            </a:pPr>
            <a:r>
              <a:rPr sz="2550" b="0">
                <a:solidFill>
                  <a:srgbClr val="646B73"/>
                </a:solidFill>
                <a:latin typeface="Helvetica Neue"/>
                <a:ea typeface="Helvetica Neue"/>
                <a:cs typeface="Helvetica Neue"/>
              </a:rPr>
              <a:t>Your GLOBEM agent with retrieval, comparison and plotting</a:t>
            </a:r>
          </a:p>
        </p:txBody>
      </p:sp>
      <p:sp>
        <p:nvSpPr>
          <p:cNvPr id="5" name="text-4">
            <a:extLst xmlns:a="http://schemas.openxmlformats.org/drawingml/2006/main">
              <a:ext uri="{FF2B5EF4-FFF2-40B4-BE49-F238E27FC236}">
                <a16:creationId xmlns:a16="http://schemas.microsoft.com/office/drawing/2014/main" id="{AC7DE652-91E6-47B4-B161-3F044299538B}"/>
              </a:ext>
            </a:extLst>
          </p:cNvPr>
          <p:cNvSpPr>
            <a:spLocks xmlns:a="http://schemas.openxmlformats.org/drawingml/2006/main" noGrp="1"/>
          </p:cNvSpPr>
          <p:nvPr/>
        </p:nvSpPr>
        <p:spPr>
          <a:xfrm xmlns:a="http://schemas.openxmlformats.org/drawingml/2006/main">
            <a:off x="647700" y="5791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646B73"/>
                </a:solidFill>
                <a:latin typeface="Helvetica Neue"/>
                <a:ea typeface="Helvetica Neue"/>
                <a:cs typeface="Helvetica Neue"/>
              </a:defRPr>
            </a:pPr>
            <a:r>
              <a:rPr sz="2100" b="0">
                <a:solidFill>
                  <a:srgbClr val="646B73"/>
                </a:solidFill>
                <a:latin typeface="Helvetica Neue"/>
                <a:ea typeface="Helvetica Neue"/>
                <a:cs typeface="Helvetica Neue"/>
              </a:rPr>
              <a:t>10 minutes</a:t>
            </a:r>
          </a:p>
        </p:txBody>
      </p:sp>
    </p:spTree>
    <p:extLst>
      <p:ext uri="{BB962C8B-B14F-4D97-AF65-F5344CB8AC3E}">
        <p14:creationId xmlns:p14="http://schemas.microsoft.com/office/powerpoint/2010/main" val="65820455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958DFCE-DDAD-4729-A5C1-BEF6969164AC}"/>
              </a:ext>
            </a:extLst>
          </p:cNvPr>
          <p:cNvSpPr>
            <a:spLocks xmlns:a="http://schemas.openxmlformats.org/drawingml/2006/main" noGrp="1"/>
          </p:cNvSpPr>
          <p:nvPr/>
        </p:nvSpPr>
        <p:spPr>
          <a:xfrm xmlns:a="http://schemas.openxmlformats.org/drawingml/2006/main">
            <a:off x="609600" y="4572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0">
                <a:solidFill>
                  <a:srgbClr val="20252B"/>
                </a:solidFill>
                <a:latin typeface="Helvetica Neue"/>
                <a:ea typeface="Helvetica Neue"/>
                <a:cs typeface="Helvetica Neue"/>
              </a:defRPr>
            </a:pPr>
            <a:r>
              <a:rPr sz="3750" b="0">
                <a:solidFill>
                  <a:srgbClr val="20252B"/>
                </a:solidFill>
                <a:latin typeface="Helvetica Neue"/>
                <a:ea typeface="Helvetica Neue"/>
                <a:cs typeface="Helvetica Neue"/>
              </a:rPr>
              <a:t>Extension ideas</a:t>
            </a:r>
          </a:p>
        </p:txBody>
      </p:sp>
      <p:sp>
        <p:nvSpPr>
          <p:cNvPr id="2" name="page-number">
            <a:extLst xmlns:a="http://schemas.openxmlformats.org/drawingml/2006/main">
              <a:ext uri="{FF2B5EF4-FFF2-40B4-BE49-F238E27FC236}">
                <a16:creationId xmlns:a16="http://schemas.microsoft.com/office/drawing/2014/main" id="{EF10C5FB-2423-4020-A048-3A1B97EB4DEC}"/>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51</a:t>
            </a:r>
          </a:p>
        </p:txBody>
      </p:sp>
      <p:graphicFrame>
        <p:nvGraphicFramePr>
          <p:cNvPr id="6" name=""/>
          <p:cNvGraphicFramePr/>
          <p:nvPr/>
        </p:nvGraphicFramePr>
        <p:xfrm>
          <a:off xmlns:a="http://schemas.openxmlformats.org/drawingml/2006/main" x="609600" y="2019300"/>
          <a:ext xmlns:a="http://schemas.openxmlformats.org/drawingml/2006/main" cx="10972800" cy="3543300"/>
        </p:xfrm>
        <a:graphic xmlns:a="http://schemas.openxmlformats.org/drawingml/2006/main">
          <a:graphicData uri="http://schemas.openxmlformats.org/drawingml/2006/table">
            <a:tbl>
              <a:tblPr/>
              <a:tblGrid>
                <a:gridCol w="3505200"/>
                <a:gridCol w="7467600"/>
              </a:tblGrid>
              <a:tr h="708660">
                <a:tc>
                  <a:txBody>
                    <a:bodyPr/>
                    <a:lstStyle/>
                    <a:p>
                      <a:r>
                        <a:rPr sz="1950" b="1">
                          <a:solidFill>
                            <a:srgbClr val="245891"/>
                          </a:solidFill>
                          <a:latin typeface="Helvetica Neue"/>
                          <a:ea typeface="Helvetica Neue"/>
                          <a:cs typeface="Helvetica Neue"/>
                        </a:rPr>
                        <a:t>Extension</a:t>
                      </a:r>
                    </a:p>
                  </a:txBody>
                  <a:tcPr marL="91440" marR="91440" marT="45720" marB="45720">
                    <a:lnL w="9525">
                      <a:solidFill>
                        <a:srgbClr val="FFFFFF"/>
                      </a:solidFill>
                    </a:lnL>
                    <a:lnR w="9525">
                      <a:solidFill>
                        <a:srgbClr val="FFFFFF"/>
                      </a:solidFill>
                    </a:lnR>
                    <a:lnT w="9525">
                      <a:solidFill>
                        <a:srgbClr val="FFFFFF"/>
                      </a:solidFill>
                    </a:lnT>
                    <a:lnB w="6668">
                      <a:solidFill>
                        <a:srgbClr val="DCE1E6"/>
                      </a:solidFill>
                    </a:lnB>
                    <a:solidFill>
                      <a:srgbClr val="FFFFFF"/>
                    </a:solidFill>
                  </a:tcPr>
                </a:tc>
                <a:tc>
                  <a:txBody>
                    <a:bodyPr/>
                    <a:lstStyle/>
                    <a:p>
                      <a:r>
                        <a:rPr sz="1950" b="1">
                          <a:solidFill>
                            <a:srgbClr val="245891"/>
                          </a:solidFill>
                          <a:latin typeface="Helvetica Neue"/>
                          <a:ea typeface="Helvetica Neue"/>
                          <a:cs typeface="Helvetica Neue"/>
                        </a:rPr>
                        <a:t>What to test</a:t>
                      </a:r>
                    </a:p>
                  </a:txBody>
                  <a:tcPr marL="91440" marR="91440" marT="45720" marB="45720">
                    <a:lnR w="9525">
                      <a:solidFill>
                        <a:srgbClr val="FFFFFF"/>
                      </a:solidFill>
                    </a:lnR>
                    <a:lnT w="9525">
                      <a:solidFill>
                        <a:srgbClr val="FFFFFF"/>
                      </a:solidFill>
                    </a:lnT>
                    <a:lnB w="6668">
                      <a:solidFill>
                        <a:srgbClr val="DCE1E6"/>
                      </a:solidFill>
                    </a:lnB>
                    <a:solidFill>
                      <a:srgbClr val="FFFFFF"/>
                    </a:solidFill>
                  </a:tcPr>
                </a:tc>
              </a:tr>
              <a:tr h="708660">
                <a:tc>
                  <a:txBody>
                    <a:bodyPr/>
                    <a:lstStyle/>
                    <a:p>
                      <a:r>
                        <a:rPr sz="1950" b="0">
                          <a:solidFill>
                            <a:srgbClr val="20252B"/>
                          </a:solidFill>
                          <a:latin typeface="Helvetica Neue"/>
                          <a:ea typeface="Helvetica Neue"/>
                          <a:cs typeface="Helvetica Neue"/>
                        </a:rPr>
                        <a:t>A new modality</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950" b="0">
                          <a:solidFill>
                            <a:srgbClr val="20252B"/>
                          </a:solidFill>
                          <a:latin typeface="Helvetica Neue"/>
                          <a:ea typeface="Helvetica Neue"/>
                          <a:cs typeface="Helvetica Neue"/>
                        </a:rPr>
                        <a:t>A documented adapter and a tested retrieval tool</a:t>
                      </a:r>
                    </a:p>
                  </a:txBody>
                  <a:tcPr marL="91440" marR="91440" marT="45720" marB="45720">
                    <a:lnR w="9525">
                      <a:solidFill>
                        <a:srgbClr val="FFFFFF"/>
                      </a:solidFill>
                    </a:lnR>
                    <a:lnB w="6668">
                      <a:solidFill>
                        <a:srgbClr val="DCE1E6"/>
                      </a:solidFill>
                    </a:lnB>
                    <a:solidFill>
                      <a:srgbClr val="F3F5F7"/>
                    </a:solidFill>
                  </a:tcPr>
                </a:tc>
              </a:tr>
              <a:tr h="708660">
                <a:tc>
                  <a:txBody>
                    <a:bodyPr/>
                    <a:lstStyle/>
                    <a:p>
                      <a:r>
                        <a:rPr sz="1950" b="0">
                          <a:solidFill>
                            <a:srgbClr val="20252B"/>
                          </a:solidFill>
                          <a:latin typeface="Helvetica Neue"/>
                          <a:ea typeface="Helvetica Neue"/>
                          <a:cs typeface="Helvetica Neue"/>
                        </a:rPr>
                        <a:t>Better grounding</a:t>
                      </a:r>
                    </a:p>
                  </a:txBody>
                  <a:tcPr marL="91440" marR="91440" marT="45720" marB="45720">
                    <a:lnL w="9525">
                      <a:solidFill>
                        <a:srgbClr val="FFFFFF"/>
                      </a:solidFill>
                    </a:lnL>
                    <a:lnR w="9525">
                      <a:solidFill>
                        <a:srgbClr val="FFFFFF"/>
                      </a:solidFill>
                    </a:lnR>
                    <a:lnB w="6668">
                      <a:solidFill>
                        <a:srgbClr val="DCE1E6"/>
                      </a:solidFill>
                    </a:lnB>
                    <a:solidFill>
                      <a:srgbClr val="FFFFFF"/>
                    </a:solidFill>
                  </a:tcPr>
                </a:tc>
                <a:tc>
                  <a:txBody>
                    <a:bodyPr/>
                    <a:lstStyle/>
                    <a:p>
                      <a:r>
                        <a:rPr sz="1950" b="0">
                          <a:solidFill>
                            <a:srgbClr val="20252B"/>
                          </a:solidFill>
                          <a:latin typeface="Helvetica Neue"/>
                          <a:ea typeface="Helvetica Neue"/>
                          <a:cs typeface="Helvetica Neue"/>
                        </a:rPr>
                        <a:t>A test that catches unsupported or misattributed claims</a:t>
                      </a:r>
                    </a:p>
                  </a:txBody>
                  <a:tcPr marL="91440" marR="91440" marT="45720" marB="45720">
                    <a:lnR w="9525">
                      <a:solidFill>
                        <a:srgbClr val="FFFFFF"/>
                      </a:solidFill>
                    </a:lnR>
                    <a:lnB w="6668">
                      <a:solidFill>
                        <a:srgbClr val="DCE1E6"/>
                      </a:solidFill>
                    </a:lnB>
                    <a:solidFill>
                      <a:srgbClr val="FFFFFF"/>
                    </a:solidFill>
                  </a:tcPr>
                </a:tc>
              </a:tr>
              <a:tr h="708660">
                <a:tc>
                  <a:txBody>
                    <a:bodyPr/>
                    <a:lstStyle/>
                    <a:p>
                      <a:r>
                        <a:rPr sz="1950" b="0">
                          <a:solidFill>
                            <a:srgbClr val="20252B"/>
                          </a:solidFill>
                          <a:latin typeface="Helvetica Neue"/>
                          <a:ea typeface="Helvetica Neue"/>
                          <a:cs typeface="Helvetica Neue"/>
                        </a:rPr>
                        <a:t>Longitudinal reasoning</a:t>
                      </a:r>
                    </a:p>
                  </a:txBody>
                  <a:tcPr marL="91440" marR="91440" marT="45720" marB="45720">
                    <a:lnL w="9525">
                      <a:solidFill>
                        <a:srgbClr val="FFFFFF"/>
                      </a:solidFill>
                    </a:lnL>
                    <a:lnR w="9525">
                      <a:solidFill>
                        <a:srgbClr val="FFFFFF"/>
                      </a:solidFill>
                    </a:lnR>
                    <a:lnB w="6668">
                      <a:solidFill>
                        <a:srgbClr val="DCE1E6"/>
                      </a:solidFill>
                    </a:lnB>
                    <a:solidFill>
                      <a:srgbClr val="F3F5F7"/>
                    </a:solidFill>
                  </a:tcPr>
                </a:tc>
                <a:tc>
                  <a:txBody>
                    <a:bodyPr/>
                    <a:lstStyle/>
                    <a:p>
                      <a:r>
                        <a:rPr sz="1950" b="0">
                          <a:solidFill>
                            <a:srgbClr val="20252B"/>
                          </a:solidFill>
                          <a:latin typeface="Helvetica Neue"/>
                          <a:ea typeface="Helvetica Neue"/>
                          <a:cs typeface="Helvetica Neue"/>
                        </a:rPr>
                        <a:t>An analysis of windows, missingness and drift</a:t>
                      </a:r>
                    </a:p>
                  </a:txBody>
                  <a:tcPr marL="91440" marR="91440" marT="45720" marB="45720">
                    <a:lnR w="9525">
                      <a:solidFill>
                        <a:srgbClr val="FFFFFF"/>
                      </a:solidFill>
                    </a:lnR>
                    <a:lnB w="6668">
                      <a:solidFill>
                        <a:srgbClr val="DCE1E6"/>
                      </a:solidFill>
                    </a:lnB>
                    <a:solidFill>
                      <a:srgbClr val="F3F5F7"/>
                    </a:solidFill>
                  </a:tcPr>
                </a:tc>
              </a:tr>
              <a:tr h="708660">
                <a:tc>
                  <a:txBody>
                    <a:bodyPr/>
                    <a:lstStyle/>
                    <a:p>
                      <a:r>
                        <a:rPr sz="1950" b="0">
                          <a:solidFill>
                            <a:srgbClr val="20252B"/>
                          </a:solidFill>
                          <a:latin typeface="Helvetica Neue"/>
                          <a:ea typeface="Helvetica Neue"/>
                          <a:cs typeface="Helvetica Neue"/>
                        </a:rPr>
                        <a:t>Multiple agents</a:t>
                      </a:r>
                    </a:p>
                  </a:txBody>
                  <a:tcPr marL="91440" marR="91440" marT="45720" marB="45720">
                    <a:lnL w="9525">
                      <a:solidFill>
                        <a:srgbClr val="FFFFFF"/>
                      </a:solidFill>
                    </a:lnL>
                    <a:lnR w="9525">
                      <a:solidFill>
                        <a:srgbClr val="FFFFFF"/>
                      </a:solidFill>
                    </a:lnR>
                    <a:lnB w="9525">
                      <a:solidFill>
                        <a:srgbClr val="FFFFFF"/>
                      </a:solidFill>
                    </a:lnB>
                    <a:solidFill>
                      <a:srgbClr val="FFFFFF"/>
                    </a:solidFill>
                  </a:tcPr>
                </a:tc>
                <a:tc>
                  <a:txBody>
                    <a:bodyPr/>
                    <a:lstStyle/>
                    <a:p>
                      <a:r>
                        <a:rPr sz="1950" b="0">
                          <a:solidFill>
                            <a:srgbClr val="20252B"/>
                          </a:solidFill>
                          <a:latin typeface="Helvetica Neue"/>
                          <a:ea typeface="Helvetica Neue"/>
                          <a:cs typeface="Helvetica Neue"/>
                        </a:rPr>
                        <a:t>A measured benefit against the single-agent baseline</a:t>
                      </a:r>
                    </a:p>
                  </a:txBody>
                  <a:tcPr marL="91440" marR="91440" marT="45720" marB="45720">
                    <a:lnR w="9525">
                      <a:solidFill>
                        <a:srgbClr val="FFFFFF"/>
                      </a:solidFill>
                    </a:lnR>
                    <a:lnB w="9525">
                      <a:solidFill>
                        <a:srgbClr val="FFFFFF"/>
                      </a:solidFill>
                    </a:lnB>
                    <a:solidFill>
                      <a:srgbClr val="FFFFFF"/>
                    </a:solidFill>
                  </a:tcPr>
                </a:tc>
              </a:tr>
            </a:tbl>
          </a:graphicData>
        </a:graphic>
      </p:graphicFrame>
    </p:spTree>
    <p:extLst>
      <p:ext uri="{BB962C8B-B14F-4D97-AF65-F5344CB8AC3E}">
        <p14:creationId xmlns:p14="http://schemas.microsoft.com/office/powerpoint/2010/main" val="214017234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age-number">
            <a:extLst xmlns:a="http://schemas.openxmlformats.org/drawingml/2006/main">
              <a:ext uri="{FF2B5EF4-FFF2-40B4-BE49-F238E27FC236}">
                <a16:creationId xmlns:a16="http://schemas.microsoft.com/office/drawing/2014/main" id="{AC0440DB-3E5F-4DB4-B9FC-A342468BC54B}"/>
              </a:ext>
            </a:extLst>
          </p:cNvPr>
          <p:cNvSpPr>
            <a:spLocks xmlns:a="http://schemas.openxmlformats.org/drawingml/2006/main" noGrp="1"/>
          </p:cNvSpPr>
          <p:nvPr/>
        </p:nvSpPr>
        <p:spPr>
          <a:xfrm xmlns:a="http://schemas.openxmlformats.org/drawingml/2006/main">
            <a:off x="11182350" y="64389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0">
                <a:solidFill>
                  <a:srgbClr val="646B73"/>
                </a:solidFill>
                <a:latin typeface="Helvetica Neue"/>
                <a:ea typeface="Helvetica Neue"/>
                <a:cs typeface="Helvetica Neue"/>
              </a:defRPr>
            </a:pPr>
            <a:r>
              <a:rPr sz="1125" b="0">
                <a:solidFill>
                  <a:srgbClr val="646B73"/>
                </a:solidFill>
                <a:latin typeface="Helvetica Neue"/>
                <a:ea typeface="Helvetica Neue"/>
                <a:cs typeface="Helvetica Neue"/>
              </a:rPr>
              <a:t>52</a:t>
            </a:r>
          </a:p>
        </p:txBody>
      </p:sp>
      <p:sp>
        <p:nvSpPr>
          <p:cNvPr id="2" name="text-1">
            <a:extLst xmlns:a="http://schemas.openxmlformats.org/drawingml/2006/main">
              <a:ext uri="{FF2B5EF4-FFF2-40B4-BE49-F238E27FC236}">
                <a16:creationId xmlns:a16="http://schemas.microsoft.com/office/drawing/2014/main" id="{088D1A3F-EEBB-4E2B-8789-2B7319CD9351}"/>
              </a:ext>
            </a:extLst>
          </p:cNvPr>
          <p:cNvSpPr>
            <a:spLocks xmlns:a="http://schemas.openxmlformats.org/drawingml/2006/main" noGrp="1"/>
          </p:cNvSpPr>
          <p:nvPr/>
        </p:nvSpPr>
        <p:spPr>
          <a:xfrm xmlns:a="http://schemas.openxmlformats.org/drawingml/2006/main">
            <a:off x="609600" y="1238250"/>
            <a:ext cx="1066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25" b="0">
                <a:solidFill>
                  <a:srgbClr val="20252B"/>
                </a:solidFill>
                <a:latin typeface="Helvetica Neue"/>
                <a:ea typeface="Helvetica Neue"/>
                <a:cs typeface="Helvetica Neue"/>
              </a:defRPr>
            </a:pPr>
            <a:r>
              <a:rPr sz="5025" b="0">
                <a:solidFill>
                  <a:srgbClr val="20252B"/>
                </a:solidFill>
                <a:latin typeface="Helvetica Neue"/>
                <a:ea typeface="Helvetica Neue"/>
                <a:cs typeface="Helvetica Neue"/>
              </a:rPr>
              <a:t>Questions and materials</a:t>
            </a:r>
          </a:p>
        </p:txBody>
      </p:sp>
      <p:sp>
        <p:nvSpPr>
          <p:cNvPr id="3" name="text-2">
            <a:extLst xmlns:a="http://schemas.openxmlformats.org/drawingml/2006/main">
              <a:ext uri="{FF2B5EF4-FFF2-40B4-BE49-F238E27FC236}">
                <a16:creationId xmlns:a16="http://schemas.microsoft.com/office/drawing/2014/main" id="{5937B43B-3D0A-4DF8-9D31-039C878C5691}"/>
              </a:ext>
            </a:extLst>
          </p:cNvPr>
          <p:cNvSpPr>
            <a:spLocks xmlns:a="http://schemas.openxmlformats.org/drawingml/2006/main" noGrp="1"/>
          </p:cNvSpPr>
          <p:nvPr/>
        </p:nvSpPr>
        <p:spPr>
          <a:xfrm xmlns:a="http://schemas.openxmlformats.org/drawingml/2006/main">
            <a:off x="647700" y="3162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Tutorial website</a:t>
            </a:r>
          </a:p>
        </p:txBody>
      </p:sp>
      <p:sp>
        <p:nvSpPr>
          <p:cNvPr id="4" name="text-3">
            <a:extLst xmlns:a="http://schemas.openxmlformats.org/drawingml/2006/main">
              <a:ext uri="{FF2B5EF4-FFF2-40B4-BE49-F238E27FC236}">
                <a16:creationId xmlns:a16="http://schemas.microsoft.com/office/drawing/2014/main" id="{C357DB2E-D65F-400B-9D78-509842F2E49D}"/>
              </a:ext>
            </a:extLst>
          </p:cNvPr>
          <p:cNvSpPr>
            <a:spLocks xmlns:a="http://schemas.openxmlformats.org/drawingml/2006/main" noGrp="1"/>
          </p:cNvSpPr>
          <p:nvPr/>
        </p:nvSpPr>
        <p:spPr>
          <a:xfrm xmlns:a="http://schemas.openxmlformats.org/drawingml/2006/main">
            <a:off x="647700" y="36766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925" b="0">
                <a:solidFill>
                  <a:srgbClr val="245891"/>
                </a:solidFill>
                <a:latin typeface="Helvetica Neue"/>
                <a:ea typeface="Helvetica Neue"/>
                <a:cs typeface="Helvetica Neue"/>
              </a:defRPr>
            </a:pPr>
            <a:r>
              <a:rPr sz="2925" b="0">
                <a:solidFill>
                  <a:srgbClr val="245891"/>
                </a:solidFill>
                <a:latin typeface="Helvetica Neue"/>
                <a:ea typeface="Helvetica Neue"/>
                <a:cs typeface="Helvetica Neue"/>
              </a:rPr>
              <a:t>llm-health-agent-tutorial.github.io</a:t>
            </a:r>
          </a:p>
        </p:txBody>
      </p:sp>
      <p:sp>
        <p:nvSpPr>
          <p:cNvPr id="5" name="text-4">
            <a:extLst xmlns:a="http://schemas.openxmlformats.org/drawingml/2006/main">
              <a:ext uri="{FF2B5EF4-FFF2-40B4-BE49-F238E27FC236}">
                <a16:creationId xmlns:a16="http://schemas.microsoft.com/office/drawing/2014/main" id="{5F94C264-4BED-4DA8-B77A-AF1CAE923ABD}"/>
              </a:ext>
            </a:extLst>
          </p:cNvPr>
          <p:cNvSpPr>
            <a:spLocks xmlns:a="http://schemas.openxmlformats.org/drawingml/2006/main" noGrp="1"/>
          </p:cNvSpPr>
          <p:nvPr/>
        </p:nvSpPr>
        <p:spPr>
          <a:xfrm xmlns:a="http://schemas.openxmlformats.org/drawingml/2006/main">
            <a:off x="647700" y="48006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46B73"/>
                </a:solidFill>
                <a:latin typeface="Helvetica Neue"/>
                <a:ea typeface="Helvetica Neue"/>
                <a:cs typeface="Helvetica Neue"/>
              </a:defRPr>
            </a:pPr>
            <a:r>
              <a:rPr sz="1875" b="0">
                <a:solidFill>
                  <a:srgbClr val="646B73"/>
                </a:solidFill>
                <a:latin typeface="Helvetica Neue"/>
                <a:ea typeface="Helvetica Neue"/>
                <a:cs typeface="Helvetica Neue"/>
              </a:rPr>
              <a:t>Code, notebooks and data</a:t>
            </a:r>
          </a:p>
        </p:txBody>
      </p:sp>
      <p:sp>
        <p:nvSpPr>
          <p:cNvPr id="6" name="text-5">
            <a:extLst xmlns:a="http://schemas.openxmlformats.org/drawingml/2006/main">
              <a:ext uri="{FF2B5EF4-FFF2-40B4-BE49-F238E27FC236}">
                <a16:creationId xmlns:a16="http://schemas.microsoft.com/office/drawing/2014/main" id="{1E0145D6-4C02-4566-85CD-CC62D9D4B9BB}"/>
              </a:ext>
            </a:extLst>
          </p:cNvPr>
          <p:cNvSpPr>
            <a:spLocks xmlns:a="http://schemas.openxmlformats.org/drawingml/2006/main" noGrp="1"/>
          </p:cNvSpPr>
          <p:nvPr/>
        </p:nvSpPr>
        <p:spPr>
          <a:xfrm xmlns:a="http://schemas.openxmlformats.org/drawingml/2006/main">
            <a:off x="647700" y="53149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245891"/>
                </a:solidFill>
                <a:latin typeface="Helvetica Neue"/>
                <a:ea typeface="Helvetica Neue"/>
                <a:cs typeface="Helvetica Neue"/>
              </a:defRPr>
            </a:pPr>
            <a:r>
              <a:rPr sz="2100" b="0">
                <a:solidFill>
                  <a:srgbClr val="245891"/>
                </a:solidFill>
                <a:latin typeface="Helvetica Neue"/>
                <a:ea typeface="Helvetica Neue"/>
                <a:cs typeface="Helvetica Neue"/>
              </a:rPr>
              <a:t>github.com/llm-health-agent-tutorial/llm-health-agent-starter</a:t>
            </a:r>
          </a:p>
        </p:txBody>
      </p:sp>
    </p:spTree>
    <p:extLst>
      <p:ext uri="{BB962C8B-B14F-4D97-AF65-F5344CB8AC3E}">
        <p14:creationId xmlns:p14="http://schemas.microsoft.com/office/powerpoint/2010/main" val="1166287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2026-09-14T17:34:51.0500000Z</dcterms:created>
  <dcterms:modified xsi:type="dcterms:W3CDTF">2026-09-14T17:34:51.0500000Z</dcterms:modified>
</coreProperties>
</file>